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theme/themeOverride12.xml" ContentType="application/vnd.openxmlformats-officedocument.themeOverride+xml"/>
  <Override PartName="/ppt/slides/slide36.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theme/themeOverride39.xml" ContentType="application/vnd.openxmlformats-officedocument.themeOverride+xml"/>
  <Override PartName="/ppt/notesSlides/notesSlide41.xml" ContentType="application/vnd.openxmlformats-officedocument.presentationml.notesSlide+xml"/>
  <Override PartName="/ppt/theme/themeOverride57.xml" ContentType="application/vnd.openxmlformats-officedocument.themeOverr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theme/themeOverride17.xml" ContentType="application/vnd.openxmlformats-officedocument.themeOverride+xml"/>
  <Override PartName="/ppt/theme/themeOverride28.xml" ContentType="application/vnd.openxmlformats-officedocument.themeOverride+xml"/>
  <Override PartName="/ppt/notesSlides/notesSlide30.xml" ContentType="application/vnd.openxmlformats-officedocument.presentationml.notesSlide+xml"/>
  <Override PartName="/ppt/theme/themeOverride46.xml" ContentType="application/vnd.openxmlformats-officedocument.themeOverride+xml"/>
  <Override PartName="/ppt/theme/themeOverride64.xml" ContentType="application/vnd.openxmlformats-officedocument.themeOverride+xml"/>
  <Override PartName="/ppt/notesSlides/notesSlide7.xml" ContentType="application/vnd.openxmlformats-officedocument.presentationml.notesSlide+xml"/>
  <Override PartName="/ppt/theme/themeOverride24.xml" ContentType="application/vnd.openxmlformats-officedocument.themeOverride+xml"/>
  <Override PartName="/ppt/theme/themeOverride35.xml" ContentType="application/vnd.openxmlformats-officedocument.themeOverride+xml"/>
  <Override PartName="/ppt/theme/themeOverride53.xml" ContentType="application/vnd.openxmlformats-officedocument.themeOverr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theme/themeOverride13.xml" ContentType="application/vnd.openxmlformats-officedocument.themeOverride+xml"/>
  <Override PartName="/ppt/theme/themeOverride42.xml" ContentType="application/vnd.openxmlformats-officedocument.themeOverride+xml"/>
  <Override PartName="/ppt/theme/themeOverride60.xml" ContentType="application/vnd.openxmlformats-officedocument.themeOverride+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Override PartName="/ppt/theme/themeOverride20.xml" ContentType="application/vnd.openxmlformats-officedocument.themeOverride+xml"/>
  <Override PartName="/ppt/theme/themeOverride31.xml" ContentType="application/vnd.openxmlformats-officedocument.themeOverr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theme/themeOverride6.xml" ContentType="application/vnd.openxmlformats-officedocument.themeOverrid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heme/themeOverride2.xml" ContentType="application/vnd.openxmlformats-officedocument.themeOverr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theme/themeOverride29.xml" ContentType="application/vnd.openxmlformats-officedocument.themeOverride+xml"/>
  <Override PartName="/ppt/theme/themeOverride47.xml" ContentType="application/vnd.openxmlformats-officedocument.themeOverride+xml"/>
  <Override PartName="/ppt/notesSlides/notesSlide42.xml" ContentType="application/vnd.openxmlformats-officedocument.presentationml.notesSlide+xml"/>
  <Override PartName="/ppt/theme/themeOverride58.xml" ContentType="application/vnd.openxmlformats-officedocument.themeOverr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theme/themeOverride18.xml" ContentType="application/vnd.openxmlformats-officedocument.themeOverride+xml"/>
  <Override PartName="/ppt/notesSlides/notesSlide20.xml" ContentType="application/vnd.openxmlformats-officedocument.presentationml.notesSlide+xml"/>
  <Override PartName="/ppt/theme/themeOverride36.xml" ContentType="application/vnd.openxmlformats-officedocument.themeOverride+xml"/>
  <Override PartName="/ppt/notesSlides/notesSlide31.xml" ContentType="application/vnd.openxmlformats-officedocument.presentationml.notesSlide+xml"/>
  <Override PartName="/ppt/theme/themeOverride65.xml" ContentType="application/vnd.openxmlformats-officedocument.themeOverride+xml"/>
  <Override PartName="/ppt/theme/themeOverride25.xml" ContentType="application/vnd.openxmlformats-officedocument.themeOverride+xml"/>
  <Override PartName="/ppt/theme/themeOverride43.xml" ContentType="application/vnd.openxmlformats-officedocument.themeOverride+xml"/>
  <Override PartName="/ppt/theme/themeOverride54.xml" ContentType="application/vnd.openxmlformats-officedocument.themeOverride+xml"/>
  <Override PartName="/ppt/slides/slide49.xml" ContentType="application/vnd.openxmlformats-officedocument.presentationml.slide+xml"/>
  <Override PartName="/ppt/notesSlides/notesSlide4.xml" ContentType="application/vnd.openxmlformats-officedocument.presentationml.notesSlide+xml"/>
  <Override PartName="/ppt/theme/themeOverride14.xml" ContentType="application/vnd.openxmlformats-officedocument.themeOverride+xml"/>
  <Override PartName="/ppt/theme/themeOverride32.xml" ContentType="application/vnd.openxmlformats-officedocument.themeOverride+xml"/>
  <Override PartName="/ppt/theme/themeOverride61.xml" ContentType="application/vnd.openxmlformats-officedocument.themeOverr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theme/themeOverride7.xml" ContentType="application/vnd.openxmlformats-officedocument.themeOverride+xml"/>
  <Override PartName="/ppt/theme/themeOverride21.xml" ContentType="application/vnd.openxmlformats-officedocument.themeOverride+xml"/>
  <Override PartName="/ppt/theme/themeOverride50.xml" ContentType="application/vnd.openxmlformats-officedocument.themeOverr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Override10.xml" ContentType="application/vnd.openxmlformats-officedocument.themeOverr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Override3.xml" ContentType="application/vnd.openxmlformats-officedocument.themeOverr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theme/themeOverride59.xml" ContentType="application/vnd.openxmlformats-officedocument.themeOverr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theme/themeOverride19.xml" ContentType="application/vnd.openxmlformats-officedocument.themeOverride+xml"/>
  <Override PartName="/ppt/notesSlides/notesSlide32.xml" ContentType="application/vnd.openxmlformats-officedocument.presentationml.notesSlide+xml"/>
  <Override PartName="/ppt/theme/themeOverride48.xml" ContentType="application/vnd.openxmlformats-officedocument.themeOverride+xml"/>
  <Override PartName="/ppt/theme/themeOverride66.xml" ContentType="application/vnd.openxmlformats-officedocument.themeOverr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heme/themeOverride37.xml" ContentType="application/vnd.openxmlformats-officedocument.themeOverride+xml"/>
  <Override PartName="/ppt/theme/themeOverride55.xml" ContentType="application/vnd.openxmlformats-officedocument.themeOverr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theme/themeOverride15.xml" ContentType="application/vnd.openxmlformats-officedocument.themeOverride+xml"/>
  <Override PartName="/ppt/theme/themeOverride26.xml" ContentType="application/vnd.openxmlformats-officedocument.themeOverride+xml"/>
  <Override PartName="/ppt/theme/themeOverride44.xml" ContentType="application/vnd.openxmlformats-officedocument.themeOverride+xml"/>
  <Override PartName="/ppt/theme/themeOverride62.xml" ContentType="application/vnd.openxmlformats-officedocument.themeOverr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theme/themeOverride22.xml" ContentType="application/vnd.openxmlformats-officedocument.themeOverride+xml"/>
  <Override PartName="/ppt/theme/themeOverride33.xml" ContentType="application/vnd.openxmlformats-officedocument.themeOverride+xml"/>
  <Override PartName="/ppt/theme/themeOverride51.xml" ContentType="application/vnd.openxmlformats-officedocument.themeOverr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theme/themeOverride8.xml" ContentType="application/vnd.openxmlformats-officedocument.themeOverride+xml"/>
  <Override PartName="/ppt/theme/themeOverride11.xml" ContentType="application/vnd.openxmlformats-officedocument.themeOverride+xml"/>
  <Override PartName="/ppt/theme/themeOverride40.xml" ContentType="application/vnd.openxmlformats-officedocument.themeOverr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Default Extension="jpeg" ContentType="image/jpeg"/>
  <Override PartName="/ppt/theme/themeOverride4.xml" ContentType="application/vnd.openxmlformats-officedocument.themeOverride+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theme/themeOverride38.xml" ContentType="application/vnd.openxmlformats-officedocument.themeOverride+xml"/>
  <Override PartName="/ppt/notesSlides/notesSlide33.xml" ContentType="application/vnd.openxmlformats-officedocument.presentationml.notesSlide+xml"/>
  <Override PartName="/ppt/theme/themeOverride49.xml" ContentType="application/vnd.openxmlformats-officedocument.themeOverride+xml"/>
  <Override PartName="/ppt/notesSlides/notesSlide51.xml" ContentType="application/vnd.openxmlformats-officedocument.presentationml.notesSlide+xml"/>
  <Override PartName="/ppt/theme/themeOverride67.xml" ContentType="application/vnd.openxmlformats-officedocument.themeOverride+xml"/>
  <Override PartName="/ppt/notesSlides/notesSlide11.xml" ContentType="application/vnd.openxmlformats-officedocument.presentationml.notesSlide+xml"/>
  <Override PartName="/ppt/theme/themeOverride27.xml" ContentType="application/vnd.openxmlformats-officedocument.themeOverride+xml"/>
  <Override PartName="/ppt/theme/themeOverride45.xml" ContentType="application/vnd.openxmlformats-officedocument.themeOverride+xml"/>
  <Override PartName="/ppt/notesSlides/notesSlide40.xml" ContentType="application/vnd.openxmlformats-officedocument.presentationml.notesSlide+xml"/>
  <Override PartName="/ppt/theme/themeOverride56.xml" ContentType="application/vnd.openxmlformats-officedocument.themeOverride+xml"/>
  <Override PartName="/ppt/notesSlides/notesSlide6.xml" ContentType="application/vnd.openxmlformats-officedocument.presentationml.notesSlide+xml"/>
  <Override PartName="/ppt/theme/themeOverride16.xml" ContentType="application/vnd.openxmlformats-officedocument.themeOverride+xml"/>
  <Override PartName="/ppt/theme/themeOverride34.xml" ContentType="application/vnd.openxmlformats-officedocument.themeOverride+xml"/>
  <Override PartName="/ppt/theme/themeOverride63.xml" ContentType="application/vnd.openxmlformats-officedocument.themeOverride+xml"/>
  <Override PartName="/ppt/slides/slide8.xml" ContentType="application/vnd.openxmlformats-officedocument.presentationml.slide+xml"/>
  <Override PartName="/ppt/theme/themeOverride9.xml" ContentType="application/vnd.openxmlformats-officedocument.themeOverride+xml"/>
  <Override PartName="/ppt/theme/themeOverride23.xml" ContentType="application/vnd.openxmlformats-officedocument.themeOverride+xml"/>
  <Override PartName="/ppt/theme/themeOverride41.xml" ContentType="application/vnd.openxmlformats-officedocument.themeOverride+xml"/>
  <Override PartName="/ppt/theme/themeOverride52.xml" ContentType="application/vnd.openxmlformats-officedocument.themeOverride+xml"/>
  <Override PartName="/ppt/slides/slide29.xml" ContentType="application/vnd.openxmlformats-officedocument.presentationml.slide+xml"/>
  <Override PartName="/ppt/theme/themeOverride30.xml" ContentType="application/vnd.openxmlformats-officedocument.themeOverr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theme/themeOverride5.xml" ContentType="application/vnd.openxmlformats-officedocument.themeOverride+xml"/>
  <Override PartName="/ppt/slides/slide43.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7" r:id="rId2"/>
    <p:sldId id="320" r:id="rId3"/>
    <p:sldId id="321" r:id="rId4"/>
    <p:sldId id="322" r:id="rId5"/>
    <p:sldId id="372" r:id="rId6"/>
    <p:sldId id="373" r:id="rId7"/>
    <p:sldId id="385" r:id="rId8"/>
    <p:sldId id="323" r:id="rId9"/>
    <p:sldId id="324" r:id="rId10"/>
    <p:sldId id="325" r:id="rId11"/>
    <p:sldId id="326" r:id="rId12"/>
    <p:sldId id="376" r:id="rId13"/>
    <p:sldId id="386" r:id="rId14"/>
    <p:sldId id="327" r:id="rId15"/>
    <p:sldId id="374" r:id="rId16"/>
    <p:sldId id="387" r:id="rId17"/>
    <p:sldId id="328" r:id="rId18"/>
    <p:sldId id="330" r:id="rId19"/>
    <p:sldId id="331" r:id="rId20"/>
    <p:sldId id="332" r:id="rId21"/>
    <p:sldId id="389" r:id="rId22"/>
    <p:sldId id="388" r:id="rId23"/>
    <p:sldId id="333" r:id="rId24"/>
    <p:sldId id="334" r:id="rId25"/>
    <p:sldId id="377" r:id="rId26"/>
    <p:sldId id="378" r:id="rId27"/>
    <p:sldId id="379" r:id="rId28"/>
    <p:sldId id="338" r:id="rId29"/>
    <p:sldId id="337" r:id="rId30"/>
    <p:sldId id="339" r:id="rId31"/>
    <p:sldId id="341" r:id="rId32"/>
    <p:sldId id="390" r:id="rId33"/>
    <p:sldId id="342" r:id="rId34"/>
    <p:sldId id="343" r:id="rId35"/>
    <p:sldId id="344" r:id="rId36"/>
    <p:sldId id="345" r:id="rId37"/>
    <p:sldId id="391" r:id="rId38"/>
    <p:sldId id="346" r:id="rId39"/>
    <p:sldId id="347" r:id="rId40"/>
    <p:sldId id="348" r:id="rId41"/>
    <p:sldId id="349" r:id="rId42"/>
    <p:sldId id="382" r:id="rId43"/>
    <p:sldId id="392" r:id="rId44"/>
    <p:sldId id="383" r:id="rId45"/>
    <p:sldId id="350" r:id="rId46"/>
    <p:sldId id="393" r:id="rId47"/>
    <p:sldId id="351" r:id="rId48"/>
    <p:sldId id="384" r:id="rId49"/>
    <p:sldId id="352" r:id="rId50"/>
    <p:sldId id="353" r:id="rId51"/>
    <p:sldId id="354" r:id="rId52"/>
    <p:sldId id="356" r:id="rId53"/>
    <p:sldId id="357" r:id="rId54"/>
    <p:sldId id="358" r:id="rId55"/>
    <p:sldId id="359" r:id="rId56"/>
    <p:sldId id="360" r:id="rId57"/>
    <p:sldId id="361" r:id="rId58"/>
    <p:sldId id="362" r:id="rId59"/>
    <p:sldId id="363" r:id="rId60"/>
    <p:sldId id="375" r:id="rId61"/>
    <p:sldId id="365" r:id="rId62"/>
    <p:sldId id="364" r:id="rId63"/>
    <p:sldId id="367" r:id="rId64"/>
    <p:sldId id="368" r:id="rId65"/>
    <p:sldId id="369" r:id="rId66"/>
    <p:sldId id="370" r:id="rId67"/>
    <p:sldId id="371"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95" autoAdjust="0"/>
    <p:restoredTop sz="94660"/>
  </p:normalViewPr>
  <p:slideViewPr>
    <p:cSldViewPr snapToGrid="0">
      <p:cViewPr varScale="1">
        <p:scale>
          <a:sx n="88" d="100"/>
          <a:sy n="88" d="100"/>
        </p:scale>
        <p:origin x="-466" y="-77"/>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3154" y="67"/>
      </p:cViewPr>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125D1B-C841-41C4-9F35-C4C84C8CF52A}" type="datetimeFigureOut">
              <a:rPr lang="es-ES" smtClean="0"/>
              <a:pPr/>
              <a:t>22/01/2026</a:t>
            </a:fld>
            <a:endParaRPr lang="es-E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952207-6142-4B1D-9E57-31F8F51A0B7C}" type="slidenum">
              <a:rPr lang="es-ES" smtClean="0"/>
              <a:pPr/>
              <a:t>‹#›</a:t>
            </a:fld>
            <a:endParaRPr lang="es-ES"/>
          </a:p>
        </p:txBody>
      </p:sp>
    </p:spTree>
    <p:extLst>
      <p:ext uri="{BB962C8B-B14F-4D97-AF65-F5344CB8AC3E}">
        <p14:creationId xmlns="" xmlns:p14="http://schemas.microsoft.com/office/powerpoint/2010/main" val="272262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 xmlns:a16="http://schemas.microsoft.com/office/drawing/2014/main" id="{88B27F5B-1A8F-5D74-05E3-DC23B990EEE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D787CE-49A0-4541-8544-1BF05F81BA27}" type="slidenum">
              <a:rPr lang="en-US" altLang="en-US">
                <a:latin typeface="Times New Roman" panose="02020603050405020304" pitchFamily="18" charset="0"/>
              </a:rPr>
              <a:pPr eaLnBrk="1" hangingPunct="1"/>
              <a:t>2</a:t>
            </a:fld>
            <a:endParaRPr lang="en-US" altLang="en-US">
              <a:latin typeface="Times New Roman" panose="02020603050405020304" pitchFamily="18" charset="0"/>
            </a:endParaRPr>
          </a:p>
        </p:txBody>
      </p:sp>
      <p:sp>
        <p:nvSpPr>
          <p:cNvPr id="14339" name="Rectangle 2">
            <a:extLst>
              <a:ext uri="{FF2B5EF4-FFF2-40B4-BE49-F238E27FC236}">
                <a16:creationId xmlns="" xmlns:a16="http://schemas.microsoft.com/office/drawing/2014/main" id="{67985150-E7D6-6C73-081D-5E4740719082}"/>
              </a:ext>
            </a:extLst>
          </p:cNvPr>
          <p:cNvSpPr>
            <a:spLocks noGrp="1" noRot="1" noChangeAspect="1" noChangeArrowheads="1" noTextEdit="1"/>
          </p:cNvSpPr>
          <p:nvPr>
            <p:ph type="sldImg"/>
          </p:nvPr>
        </p:nvSpPr>
        <p:spPr>
          <a:ln/>
        </p:spPr>
      </p:sp>
      <p:sp>
        <p:nvSpPr>
          <p:cNvPr id="67588" name="Rectangle 3">
            <a:extLst>
              <a:ext uri="{FF2B5EF4-FFF2-40B4-BE49-F238E27FC236}">
                <a16:creationId xmlns="" xmlns:a16="http://schemas.microsoft.com/office/drawing/2014/main" id="{ACBA2E6D-7CC3-EE5E-818D-9CA797DB1528}"/>
              </a:ext>
            </a:extLst>
          </p:cNvPr>
          <p:cNvSpPr>
            <a:spLocks noGrp="1" noChangeArrowheads="1"/>
          </p:cNvSpPr>
          <p:nvPr>
            <p:ph type="body" idx="1"/>
          </p:nvPr>
        </p:nvSpPr>
        <p:spPr/>
        <p:txBody>
          <a:bodyPr/>
          <a:lstStyle/>
          <a:p>
            <a:pPr eaLnBrk="1" hangingPunct="1">
              <a:defRPr/>
            </a:pPr>
            <a:r>
              <a:rPr lang="en-US" altLang="en-US" b="1" dirty="0"/>
              <a:t>Learning Objectives</a:t>
            </a:r>
          </a:p>
          <a:p>
            <a:pPr marL="342900" indent="-342900">
              <a:spcBef>
                <a:spcPct val="20000"/>
              </a:spcBef>
              <a:buFontTx/>
              <a:buChar char="•"/>
              <a:defRPr/>
            </a:pPr>
            <a:r>
              <a:rPr lang="en-US" altLang="en-US" sz="2600" kern="0" dirty="0">
                <a:solidFill>
                  <a:srgbClr val="222222"/>
                </a:solidFill>
                <a:latin typeface="Arial"/>
              </a:rPr>
              <a:t>Upon completion of this material, you should be able to:</a:t>
            </a:r>
          </a:p>
          <a:p>
            <a:pPr marL="742950" lvl="1" indent="-285750">
              <a:spcBef>
                <a:spcPct val="20000"/>
              </a:spcBef>
              <a:buFontTx/>
              <a:buChar char="–"/>
              <a:defRPr/>
            </a:pPr>
            <a:r>
              <a:rPr lang="en-US" altLang="en-US" sz="2400" kern="0" dirty="0">
                <a:solidFill>
                  <a:srgbClr val="222222"/>
                </a:solidFill>
                <a:latin typeface="Arial"/>
              </a:rPr>
              <a:t>Describe management’s role in the development, maintenance, and enforcement of information security policy, standards, practices, procedures, and guidelines</a:t>
            </a:r>
          </a:p>
          <a:p>
            <a:pPr marL="742950" lvl="1" indent="-285750">
              <a:spcBef>
                <a:spcPct val="20000"/>
              </a:spcBef>
              <a:buFontTx/>
              <a:buChar char="–"/>
              <a:defRPr/>
            </a:pPr>
            <a:r>
              <a:rPr lang="en-US" altLang="en-US" sz="2400" kern="0" dirty="0">
                <a:solidFill>
                  <a:srgbClr val="222222"/>
                </a:solidFill>
                <a:latin typeface="Arial"/>
              </a:rPr>
              <a:t>Explain what an information security blueprint is, identify its major components, and explain how it supports the information security program</a:t>
            </a:r>
          </a:p>
          <a:p>
            <a:pPr eaLnBrk="1" hangingPunct="1">
              <a:defRPr/>
            </a:pPr>
            <a:endParaRPr lang="en-US" altLang="en-US"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 xmlns:a16="http://schemas.microsoft.com/office/drawing/2014/main" id="{10CE0621-4F02-5900-1238-888F02A1E37A}"/>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 xmlns:a16="http://schemas.microsoft.com/office/drawing/2014/main" id="{7B76B8CE-DA42-8BE8-9C76-3849D8612035}"/>
              </a:ext>
            </a:extLst>
          </p:cNvPr>
          <p:cNvSpPr>
            <a:spLocks noGrp="1"/>
          </p:cNvSpPr>
          <p:nvPr>
            <p:ph type="body" idx="1"/>
          </p:nvPr>
        </p:nvSpPr>
        <p:spPr/>
        <p:txBody>
          <a:bodyPr/>
          <a:lstStyle/>
          <a:p>
            <a:pPr>
              <a:defRPr/>
            </a:pPr>
            <a:r>
              <a:rPr lang="en-US" altLang="en-US" b="1" dirty="0"/>
              <a:t>Learning Objectives </a:t>
            </a:r>
          </a:p>
          <a:p>
            <a:pPr marL="742950" lvl="1" indent="-285750">
              <a:spcBef>
                <a:spcPct val="20000"/>
              </a:spcBef>
              <a:buFontTx/>
              <a:buChar char="–"/>
              <a:defRPr/>
            </a:pPr>
            <a:r>
              <a:rPr lang="en-US" altLang="en-US" sz="2400" kern="0" dirty="0">
                <a:solidFill>
                  <a:srgbClr val="222222"/>
                </a:solidFill>
                <a:latin typeface="Arial"/>
              </a:rPr>
              <a:t>Discuss how an organization institutionalizes its policies, standards, and practices using education, training, and awareness programs</a:t>
            </a:r>
          </a:p>
          <a:p>
            <a:pPr marL="742950" lvl="1" indent="-285750">
              <a:spcBef>
                <a:spcPct val="20000"/>
              </a:spcBef>
              <a:buFontTx/>
              <a:buChar char="–"/>
              <a:defRPr/>
            </a:pPr>
            <a:r>
              <a:rPr lang="en-US" altLang="en-US" sz="2400" kern="0" dirty="0">
                <a:solidFill>
                  <a:srgbClr val="222222"/>
                </a:solidFill>
                <a:latin typeface="Arial"/>
              </a:rPr>
              <a:t>Describe what contingency planning is and how it relates to incident response planning, disaster recovery planning, and business continuity plans</a:t>
            </a:r>
          </a:p>
          <a:p>
            <a:pPr>
              <a:defRPr/>
            </a:pPr>
            <a:endParaRPr lang="en-US" altLang="en-US" b="1" dirty="0"/>
          </a:p>
        </p:txBody>
      </p:sp>
      <p:sp>
        <p:nvSpPr>
          <p:cNvPr id="16388" name="Slide Number Placeholder 3">
            <a:extLst>
              <a:ext uri="{FF2B5EF4-FFF2-40B4-BE49-F238E27FC236}">
                <a16:creationId xmlns="" xmlns:a16="http://schemas.microsoft.com/office/drawing/2014/main" id="{0B0C6494-A4C6-4FAF-99DA-9F8971B5E7D5}"/>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41DE29-70A1-4B2F-800E-4C2D71665C5A}" type="slidenum">
              <a:rPr lang="en-US" altLang="en-US">
                <a:latin typeface="Times New Roman" panose="02020603050405020304" pitchFamily="18" charset="0"/>
              </a:rPr>
              <a:pPr eaLnBrk="1" hangingPunct="1"/>
              <a:t>3</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 xmlns:a16="http://schemas.microsoft.com/office/drawing/2014/main" id="{322A8A97-D897-FD6F-3F39-F4280A104FE4}"/>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3F7D915-3B85-4370-A3DC-FE02C8CB7321}" type="slidenum">
              <a:rPr lang="en-US" altLang="en-US">
                <a:latin typeface="Times New Roman" panose="02020603050405020304" pitchFamily="18" charset="0"/>
              </a:rPr>
              <a:pPr eaLnBrk="1" hangingPunct="1"/>
              <a:t>4</a:t>
            </a:fld>
            <a:endParaRPr lang="en-US" altLang="en-US">
              <a:latin typeface="Times New Roman" panose="02020603050405020304" pitchFamily="18" charset="0"/>
            </a:endParaRPr>
          </a:p>
        </p:txBody>
      </p:sp>
      <p:sp>
        <p:nvSpPr>
          <p:cNvPr id="18435" name="Rectangle 2">
            <a:extLst>
              <a:ext uri="{FF2B5EF4-FFF2-40B4-BE49-F238E27FC236}">
                <a16:creationId xmlns="" xmlns:a16="http://schemas.microsoft.com/office/drawing/2014/main" id="{6D43F3AF-B1C5-37C7-06CD-6EED480713E5}"/>
              </a:ext>
            </a:extLst>
          </p:cNvPr>
          <p:cNvSpPr>
            <a:spLocks noGrp="1" noRot="1" noChangeAspect="1" noChangeArrowheads="1" noTextEdit="1"/>
          </p:cNvSpPr>
          <p:nvPr>
            <p:ph type="sldImg"/>
          </p:nvPr>
        </p:nvSpPr>
        <p:spPr>
          <a:ln/>
        </p:spPr>
      </p:sp>
      <p:sp>
        <p:nvSpPr>
          <p:cNvPr id="69636" name="Rectangle 3">
            <a:extLst>
              <a:ext uri="{FF2B5EF4-FFF2-40B4-BE49-F238E27FC236}">
                <a16:creationId xmlns="" xmlns:a16="http://schemas.microsoft.com/office/drawing/2014/main" id="{8EE356A4-530F-E0B0-B4A6-2FE7DC7B5C23}"/>
              </a:ext>
            </a:extLst>
          </p:cNvPr>
          <p:cNvSpPr>
            <a:spLocks noGrp="1" noChangeArrowheads="1"/>
          </p:cNvSpPr>
          <p:nvPr>
            <p:ph type="body" idx="1"/>
          </p:nvPr>
        </p:nvSpPr>
        <p:spPr/>
        <p:txBody>
          <a:bodyPr/>
          <a:lstStyle/>
          <a:p>
            <a:pPr eaLnBrk="1" hangingPunct="1">
              <a:defRPr/>
            </a:pPr>
            <a:r>
              <a:rPr lang="en-US" altLang="en-US" b="1" dirty="0"/>
              <a:t>Introduction</a:t>
            </a:r>
          </a:p>
          <a:p>
            <a:pPr marL="342900" indent="-342900">
              <a:spcBef>
                <a:spcPct val="20000"/>
              </a:spcBef>
              <a:buFontTx/>
              <a:buChar char="•"/>
              <a:defRPr/>
            </a:pPr>
            <a:r>
              <a:rPr lang="en-US" altLang="en-US" sz="2600" kern="0" dirty="0">
                <a:solidFill>
                  <a:srgbClr val="222222"/>
                </a:solidFill>
                <a:latin typeface="Arial"/>
              </a:rPr>
              <a:t>Information security program begins with policies, standards, and practices, which are the foundation for information security architecture and blueprint</a:t>
            </a:r>
          </a:p>
          <a:p>
            <a:pPr marL="342900" indent="-342900">
              <a:spcBef>
                <a:spcPct val="20000"/>
              </a:spcBef>
              <a:buFontTx/>
              <a:buChar char="•"/>
              <a:defRPr/>
            </a:pPr>
            <a:r>
              <a:rPr lang="en-US" altLang="en-US" sz="2600" kern="0" dirty="0">
                <a:solidFill>
                  <a:srgbClr val="222222"/>
                </a:solidFill>
                <a:latin typeface="Arial"/>
              </a:rPr>
              <a:t>Coordinated planning required to create and maintain these elements</a:t>
            </a:r>
          </a:p>
          <a:p>
            <a:pPr marL="342900" indent="-342900">
              <a:spcBef>
                <a:spcPct val="20000"/>
              </a:spcBef>
              <a:buFontTx/>
              <a:buChar char="•"/>
              <a:defRPr/>
            </a:pPr>
            <a:r>
              <a:rPr lang="en-US" altLang="en-US" sz="2600" kern="0" dirty="0">
                <a:solidFill>
                  <a:srgbClr val="222222"/>
                </a:solidFill>
                <a:latin typeface="Arial"/>
              </a:rPr>
              <a:t>Strategic planning for management of allocation of resources</a:t>
            </a:r>
          </a:p>
          <a:p>
            <a:pPr marL="342900" indent="-342900">
              <a:spcBef>
                <a:spcPct val="20000"/>
              </a:spcBef>
              <a:buFontTx/>
              <a:buChar char="•"/>
              <a:defRPr/>
            </a:pPr>
            <a:r>
              <a:rPr lang="en-US" altLang="en-US" sz="2600" kern="0" dirty="0">
                <a:solidFill>
                  <a:srgbClr val="222222"/>
                </a:solidFill>
                <a:latin typeface="Arial"/>
              </a:rPr>
              <a:t>Contingency planning for preparation of uncertain business environment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 xmlns:a16="http://schemas.microsoft.com/office/drawing/2014/main" id="{AFC897B9-9843-DD82-A651-067FC15F59C8}"/>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A0076A2C-A707-E725-8B45-AB2C2B318C6F}"/>
              </a:ext>
            </a:extLst>
          </p:cNvPr>
          <p:cNvSpPr>
            <a:spLocks noGrp="1"/>
          </p:cNvSpPr>
          <p:nvPr>
            <p:ph type="body" idx="1"/>
          </p:nvPr>
        </p:nvSpPr>
        <p:spPr/>
        <p:txBody>
          <a:bodyPr/>
          <a:lstStyle/>
          <a:p>
            <a:pPr>
              <a:defRPr/>
            </a:pPr>
            <a:r>
              <a:rPr lang="en-US" b="1" dirty="0"/>
              <a:t>InfoSec Planning and Governance</a:t>
            </a:r>
          </a:p>
          <a:p>
            <a:pPr marL="342900" indent="-342900">
              <a:spcBef>
                <a:spcPct val="20000"/>
              </a:spcBef>
              <a:buFontTx/>
              <a:buChar char="•"/>
              <a:defRPr/>
            </a:pPr>
            <a:r>
              <a:rPr lang="en-US" altLang="en-US" sz="2550" kern="0" dirty="0">
                <a:solidFill>
                  <a:srgbClr val="222222"/>
                </a:solidFill>
                <a:latin typeface="Arial"/>
              </a:rPr>
              <a:t>Planning levels help translate organization’s strategic plans into tactical objectives</a:t>
            </a:r>
          </a:p>
          <a:p>
            <a:pPr marL="342900" indent="-342900">
              <a:spcBef>
                <a:spcPct val="20000"/>
              </a:spcBef>
              <a:buFontTx/>
              <a:buChar char="•"/>
              <a:defRPr/>
            </a:pPr>
            <a:r>
              <a:rPr lang="en-US" altLang="en-US" sz="2550" kern="0" dirty="0">
                <a:solidFill>
                  <a:srgbClr val="222222"/>
                </a:solidFill>
                <a:latin typeface="Arial"/>
              </a:rPr>
              <a:t>Planning and the CISO</a:t>
            </a:r>
          </a:p>
          <a:p>
            <a:pPr marL="342900" indent="-342900">
              <a:spcBef>
                <a:spcPct val="20000"/>
              </a:spcBef>
              <a:buFontTx/>
              <a:buChar char="•"/>
              <a:defRPr/>
            </a:pPr>
            <a:r>
              <a:rPr lang="en-US" altLang="en-US" sz="2550" kern="0" dirty="0">
                <a:solidFill>
                  <a:srgbClr val="222222"/>
                </a:solidFill>
                <a:latin typeface="Arial"/>
              </a:rPr>
              <a:t>Information Security Governance</a:t>
            </a:r>
          </a:p>
          <a:p>
            <a:pPr marL="742950" lvl="1" indent="-285750">
              <a:spcBef>
                <a:spcPct val="20000"/>
              </a:spcBef>
              <a:buFontTx/>
              <a:buChar char="–"/>
              <a:defRPr/>
            </a:pPr>
            <a:r>
              <a:rPr lang="en-US" altLang="en-US" sz="2300" kern="0" dirty="0">
                <a:solidFill>
                  <a:srgbClr val="222222"/>
                </a:solidFill>
                <a:latin typeface="Arial"/>
              </a:rPr>
              <a:t>Governance: </a:t>
            </a:r>
          </a:p>
          <a:p>
            <a:pPr marL="1143000" lvl="2" indent="-228600">
              <a:spcBef>
                <a:spcPct val="20000"/>
              </a:spcBef>
              <a:buFontTx/>
              <a:buChar char="•"/>
              <a:defRPr/>
            </a:pPr>
            <a:r>
              <a:rPr lang="en-US" altLang="en-US" sz="2200" kern="0" dirty="0">
                <a:solidFill>
                  <a:srgbClr val="222222"/>
                </a:solidFill>
                <a:latin typeface="Arial"/>
              </a:rPr>
              <a:t>Set of responsibilities and practices exercised by the board and executive management </a:t>
            </a:r>
          </a:p>
          <a:p>
            <a:pPr marL="1143000" lvl="2" indent="-228600">
              <a:spcBef>
                <a:spcPct val="20000"/>
              </a:spcBef>
              <a:buFontTx/>
              <a:buChar char="•"/>
              <a:defRPr/>
            </a:pPr>
            <a:r>
              <a:rPr lang="en-US" altLang="en-US" sz="2200" kern="0" dirty="0">
                <a:solidFill>
                  <a:srgbClr val="222222"/>
                </a:solidFill>
                <a:latin typeface="Arial"/>
              </a:rPr>
              <a:t>Goal to provide strategic direction, establishment of objectives, and measurement of progress toward objectives</a:t>
            </a:r>
          </a:p>
          <a:p>
            <a:pPr marL="1143000" lvl="2" indent="-228600">
              <a:spcBef>
                <a:spcPct val="20000"/>
              </a:spcBef>
              <a:buFontTx/>
              <a:buChar char="•"/>
              <a:defRPr/>
            </a:pPr>
            <a:r>
              <a:rPr lang="en-US" altLang="en-US" sz="2200" kern="0" dirty="0">
                <a:solidFill>
                  <a:srgbClr val="222222"/>
                </a:solidFill>
                <a:latin typeface="Arial"/>
              </a:rPr>
              <a:t>Also verifies/validates that risk management practices are appropriate and assets used properly</a:t>
            </a:r>
          </a:p>
          <a:p>
            <a:pPr>
              <a:defRPr/>
            </a:pPr>
            <a:endParaRPr lang="en-US" b="1" dirty="0"/>
          </a:p>
        </p:txBody>
      </p:sp>
      <p:sp>
        <p:nvSpPr>
          <p:cNvPr id="20484" name="Slide Number Placeholder 3">
            <a:extLst>
              <a:ext uri="{FF2B5EF4-FFF2-40B4-BE49-F238E27FC236}">
                <a16:creationId xmlns="" xmlns:a16="http://schemas.microsoft.com/office/drawing/2014/main" id="{EE22913A-59D3-BC84-C08F-DBC7CE34CE50}"/>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5F5AC7E3-3BAB-4EA9-9202-4AB1D2707F7D}" type="slidenum">
              <a:rPr lang="en-US" altLang="en-US"/>
              <a:pPr/>
              <a:t>5</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 xmlns:a16="http://schemas.microsoft.com/office/drawing/2014/main" id="{166ADC4A-0226-2C27-FACF-B0D1AF587D73}"/>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B7C76C2A-6B4F-4CD4-D968-3E90D20C6F04}"/>
              </a:ext>
            </a:extLst>
          </p:cNvPr>
          <p:cNvSpPr>
            <a:spLocks noGrp="1"/>
          </p:cNvSpPr>
          <p:nvPr>
            <p:ph type="body" idx="1"/>
          </p:nvPr>
        </p:nvSpPr>
        <p:spPr/>
        <p:txBody>
          <a:bodyPr/>
          <a:lstStyle/>
          <a:p>
            <a:pPr>
              <a:defRPr/>
            </a:pPr>
            <a:r>
              <a:rPr lang="en-US" b="1" dirty="0"/>
              <a:t>InfoSec Planning and Governance</a:t>
            </a:r>
          </a:p>
          <a:p>
            <a:pPr marL="342900" indent="-342900">
              <a:spcBef>
                <a:spcPct val="20000"/>
              </a:spcBef>
              <a:buFontTx/>
              <a:buChar char="•"/>
              <a:defRPr/>
            </a:pPr>
            <a:r>
              <a:rPr lang="en-US" altLang="en-US" sz="2600" kern="0" dirty="0">
                <a:solidFill>
                  <a:srgbClr val="222222"/>
                </a:solidFill>
                <a:latin typeface="Arial"/>
              </a:rPr>
              <a:t>Information Security Governance outcomes</a:t>
            </a:r>
          </a:p>
          <a:p>
            <a:pPr marL="742950" lvl="1" indent="-285750">
              <a:spcBef>
                <a:spcPct val="20000"/>
              </a:spcBef>
              <a:buFontTx/>
              <a:buChar char="–"/>
              <a:defRPr/>
            </a:pPr>
            <a:r>
              <a:rPr lang="en-US" altLang="en-US" sz="2400" kern="0" dirty="0">
                <a:solidFill>
                  <a:srgbClr val="222222"/>
                </a:solidFill>
                <a:latin typeface="Arial"/>
              </a:rPr>
              <a:t>Five goals</a:t>
            </a:r>
          </a:p>
          <a:p>
            <a:pPr marL="1143000" lvl="2" indent="-228600">
              <a:spcBef>
                <a:spcPct val="20000"/>
              </a:spcBef>
              <a:buFontTx/>
              <a:buChar char="•"/>
              <a:defRPr/>
            </a:pPr>
            <a:r>
              <a:rPr lang="en-US" altLang="en-US" sz="2200" kern="0" dirty="0">
                <a:solidFill>
                  <a:srgbClr val="222222"/>
                </a:solidFill>
                <a:latin typeface="Arial"/>
              </a:rPr>
              <a:t>Strategic alignment</a:t>
            </a:r>
          </a:p>
          <a:p>
            <a:pPr marL="1143000" lvl="2" indent="-228600">
              <a:spcBef>
                <a:spcPct val="20000"/>
              </a:spcBef>
              <a:buFontTx/>
              <a:buChar char="•"/>
              <a:defRPr/>
            </a:pPr>
            <a:r>
              <a:rPr lang="en-US" altLang="en-US" sz="2200" kern="0" dirty="0">
                <a:solidFill>
                  <a:srgbClr val="222222"/>
                </a:solidFill>
                <a:latin typeface="Arial"/>
              </a:rPr>
              <a:t>Risk management</a:t>
            </a:r>
          </a:p>
          <a:p>
            <a:pPr marL="1143000" lvl="2" indent="-228600">
              <a:spcBef>
                <a:spcPct val="20000"/>
              </a:spcBef>
              <a:buFontTx/>
              <a:buChar char="•"/>
              <a:defRPr/>
            </a:pPr>
            <a:r>
              <a:rPr lang="en-US" altLang="en-US" sz="2200" kern="0" dirty="0">
                <a:solidFill>
                  <a:srgbClr val="222222"/>
                </a:solidFill>
                <a:latin typeface="Arial"/>
              </a:rPr>
              <a:t>Resource management </a:t>
            </a:r>
          </a:p>
          <a:p>
            <a:pPr marL="1143000" lvl="2" indent="-228600">
              <a:spcBef>
                <a:spcPct val="20000"/>
              </a:spcBef>
              <a:buFontTx/>
              <a:buChar char="•"/>
              <a:defRPr/>
            </a:pPr>
            <a:r>
              <a:rPr lang="en-US" altLang="en-US" sz="2200" kern="0" dirty="0">
                <a:solidFill>
                  <a:srgbClr val="222222"/>
                </a:solidFill>
                <a:latin typeface="Arial"/>
              </a:rPr>
              <a:t>Performance measures</a:t>
            </a:r>
          </a:p>
          <a:p>
            <a:pPr marL="1143000" lvl="2" indent="-228600">
              <a:spcBef>
                <a:spcPct val="20000"/>
              </a:spcBef>
              <a:buFontTx/>
              <a:buChar char="•"/>
              <a:defRPr/>
            </a:pPr>
            <a:r>
              <a:rPr lang="en-US" altLang="en-US" sz="2200" kern="0" dirty="0">
                <a:solidFill>
                  <a:srgbClr val="222222"/>
                </a:solidFill>
                <a:latin typeface="Arial"/>
              </a:rPr>
              <a:t>Value delivery</a:t>
            </a:r>
          </a:p>
          <a:p>
            <a:pPr>
              <a:defRPr/>
            </a:pPr>
            <a:endParaRPr lang="en-US" b="1" dirty="0"/>
          </a:p>
        </p:txBody>
      </p:sp>
      <p:sp>
        <p:nvSpPr>
          <p:cNvPr id="22532" name="Slide Number Placeholder 3">
            <a:extLst>
              <a:ext uri="{FF2B5EF4-FFF2-40B4-BE49-F238E27FC236}">
                <a16:creationId xmlns="" xmlns:a16="http://schemas.microsoft.com/office/drawing/2014/main" id="{F5C86053-6A4C-BDF6-2E6E-8BCCEA5C2940}"/>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F08CCE1E-E1E5-4F3D-AC78-86D17BC33F1C}" type="slidenum">
              <a:rPr lang="en-US" altLang="en-US"/>
              <a:pPr/>
              <a:t>6</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 xmlns:a16="http://schemas.microsoft.com/office/drawing/2014/main" id="{022E13DC-3677-926E-51EF-4B150E340FCD}"/>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4E0569-9053-4072-8588-0B6AA4C27C01}" type="slidenum">
              <a:rPr lang="en-US" altLang="en-US">
                <a:latin typeface="Times New Roman" panose="02020603050405020304" pitchFamily="18" charset="0"/>
              </a:rPr>
              <a:pPr eaLnBrk="1" hangingPunct="1"/>
              <a:t>8</a:t>
            </a:fld>
            <a:endParaRPr lang="en-US" altLang="en-US">
              <a:latin typeface="Times New Roman" panose="02020603050405020304" pitchFamily="18" charset="0"/>
            </a:endParaRPr>
          </a:p>
        </p:txBody>
      </p:sp>
      <p:sp>
        <p:nvSpPr>
          <p:cNvPr id="25603" name="Rectangle 2">
            <a:extLst>
              <a:ext uri="{FF2B5EF4-FFF2-40B4-BE49-F238E27FC236}">
                <a16:creationId xmlns="" xmlns:a16="http://schemas.microsoft.com/office/drawing/2014/main" id="{47D37EA7-D108-F64A-4193-8C4E9D66762D}"/>
              </a:ext>
            </a:extLst>
          </p:cNvPr>
          <p:cNvSpPr>
            <a:spLocks noGrp="1" noRot="1" noChangeAspect="1" noChangeArrowheads="1" noTextEdit="1"/>
          </p:cNvSpPr>
          <p:nvPr>
            <p:ph type="sldImg"/>
          </p:nvPr>
        </p:nvSpPr>
        <p:spPr>
          <a:ln/>
        </p:spPr>
      </p:sp>
      <p:sp>
        <p:nvSpPr>
          <p:cNvPr id="70660" name="Rectangle 3">
            <a:extLst>
              <a:ext uri="{FF2B5EF4-FFF2-40B4-BE49-F238E27FC236}">
                <a16:creationId xmlns="" xmlns:a16="http://schemas.microsoft.com/office/drawing/2014/main" id="{025E11F3-02A0-9463-3C5B-834AADCA8513}"/>
              </a:ext>
            </a:extLst>
          </p:cNvPr>
          <p:cNvSpPr>
            <a:spLocks noGrp="1" noChangeArrowheads="1"/>
          </p:cNvSpPr>
          <p:nvPr>
            <p:ph type="body" idx="1"/>
          </p:nvPr>
        </p:nvSpPr>
        <p:spPr/>
        <p:txBody>
          <a:bodyPr/>
          <a:lstStyle/>
          <a:p>
            <a:pPr eaLnBrk="1" hangingPunct="1">
              <a:defRPr/>
            </a:pPr>
            <a:r>
              <a:rPr lang="en-US" altLang="en-US" b="1" dirty="0"/>
              <a:t>Information Security Policy, Standards, and Practices</a:t>
            </a:r>
          </a:p>
          <a:p>
            <a:pPr marL="342900" indent="-342900">
              <a:spcBef>
                <a:spcPct val="20000"/>
              </a:spcBef>
              <a:buFontTx/>
              <a:buChar char="•"/>
              <a:defRPr/>
            </a:pPr>
            <a:r>
              <a:rPr lang="en-US" altLang="en-US" sz="2600" kern="0" dirty="0">
                <a:solidFill>
                  <a:srgbClr val="222222"/>
                </a:solidFill>
                <a:latin typeface="Arial"/>
              </a:rPr>
              <a:t>Management from communities of interest must make policies the basis for all information security planning, design, and deployment</a:t>
            </a:r>
          </a:p>
          <a:p>
            <a:pPr marL="342900" indent="-342900">
              <a:spcBef>
                <a:spcPct val="20000"/>
              </a:spcBef>
              <a:buFontTx/>
              <a:buChar char="•"/>
              <a:defRPr/>
            </a:pPr>
            <a:r>
              <a:rPr lang="en-US" altLang="en-US" sz="2600" kern="0" dirty="0">
                <a:solidFill>
                  <a:srgbClr val="222222"/>
                </a:solidFill>
                <a:latin typeface="Arial"/>
              </a:rPr>
              <a:t>Policies direct how issues should be addressed and technologies used</a:t>
            </a:r>
          </a:p>
          <a:p>
            <a:pPr marL="342900" indent="-342900">
              <a:spcBef>
                <a:spcPct val="20000"/>
              </a:spcBef>
              <a:buFontTx/>
              <a:buChar char="•"/>
              <a:defRPr/>
            </a:pPr>
            <a:r>
              <a:rPr lang="en-US" altLang="en-US" sz="2600" kern="0" dirty="0">
                <a:solidFill>
                  <a:srgbClr val="222222"/>
                </a:solidFill>
                <a:latin typeface="Arial"/>
              </a:rPr>
              <a:t>Policies should never contradict law, must be able to stand up in court, must be properly administered</a:t>
            </a:r>
          </a:p>
          <a:p>
            <a:pPr marL="342900" indent="-342900">
              <a:spcBef>
                <a:spcPct val="20000"/>
              </a:spcBef>
              <a:buFontTx/>
              <a:buChar char="•"/>
              <a:defRPr/>
            </a:pPr>
            <a:r>
              <a:rPr lang="en-US" altLang="en-US" sz="2600" kern="0" dirty="0">
                <a:solidFill>
                  <a:srgbClr val="222222"/>
                </a:solidFill>
                <a:latin typeface="Arial"/>
              </a:rPr>
              <a:t>Security policies are the least expensive controls to execute but most difficult to implement properly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 xmlns:a16="http://schemas.microsoft.com/office/drawing/2014/main" id="{278145FD-B9FA-4B3B-AE3E-D2141790B7A7}"/>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B29465-7A7D-41C3-BB54-C4C6D71F2482}" type="slidenum">
              <a:rPr lang="en-US" altLang="en-US">
                <a:latin typeface="Times New Roman" panose="02020603050405020304" pitchFamily="18" charset="0"/>
              </a:rPr>
              <a:pPr eaLnBrk="1" hangingPunct="1"/>
              <a:t>9</a:t>
            </a:fld>
            <a:endParaRPr lang="en-US" altLang="en-US">
              <a:latin typeface="Times New Roman" panose="02020603050405020304" pitchFamily="18" charset="0"/>
            </a:endParaRPr>
          </a:p>
        </p:txBody>
      </p:sp>
      <p:sp>
        <p:nvSpPr>
          <p:cNvPr id="27651" name="Rectangle 2">
            <a:extLst>
              <a:ext uri="{FF2B5EF4-FFF2-40B4-BE49-F238E27FC236}">
                <a16:creationId xmlns="" xmlns:a16="http://schemas.microsoft.com/office/drawing/2014/main" id="{8B1EAE4F-E108-25DA-F8F3-ED6F6683CF58}"/>
              </a:ext>
            </a:extLst>
          </p:cNvPr>
          <p:cNvSpPr>
            <a:spLocks noGrp="1" noRot="1" noChangeAspect="1" noChangeArrowheads="1" noTextEdit="1"/>
          </p:cNvSpPr>
          <p:nvPr>
            <p:ph type="sldImg"/>
          </p:nvPr>
        </p:nvSpPr>
        <p:spPr>
          <a:ln/>
        </p:spPr>
      </p:sp>
      <p:sp>
        <p:nvSpPr>
          <p:cNvPr id="71684" name="Rectangle 3">
            <a:extLst>
              <a:ext uri="{FF2B5EF4-FFF2-40B4-BE49-F238E27FC236}">
                <a16:creationId xmlns="" xmlns:a16="http://schemas.microsoft.com/office/drawing/2014/main" id="{902D95E7-5D42-0C4E-A896-81AC70E15535}"/>
              </a:ext>
            </a:extLst>
          </p:cNvPr>
          <p:cNvSpPr>
            <a:spLocks noGrp="1" noChangeArrowheads="1"/>
          </p:cNvSpPr>
          <p:nvPr>
            <p:ph type="body" idx="1"/>
          </p:nvPr>
        </p:nvSpPr>
        <p:spPr/>
        <p:txBody>
          <a:bodyPr/>
          <a:lstStyle/>
          <a:p>
            <a:pPr eaLnBrk="1" hangingPunct="1">
              <a:defRPr/>
            </a:pPr>
            <a:r>
              <a:rPr lang="en-US" altLang="en-US" b="1" dirty="0"/>
              <a:t>Policy as Foundation for Planning</a:t>
            </a:r>
          </a:p>
          <a:p>
            <a:pPr marL="342900" indent="-342900">
              <a:spcBef>
                <a:spcPct val="20000"/>
              </a:spcBef>
              <a:buFontTx/>
              <a:buChar char="•"/>
              <a:defRPr/>
            </a:pPr>
            <a:r>
              <a:rPr lang="en-US" altLang="en-US" sz="2600" kern="0" dirty="0">
                <a:solidFill>
                  <a:srgbClr val="222222"/>
                </a:solidFill>
                <a:latin typeface="Arial"/>
              </a:rPr>
              <a:t>Policy functions as organizational law that dictates acceptable and unacceptable behavior </a:t>
            </a:r>
          </a:p>
          <a:p>
            <a:pPr marL="342900" indent="-342900">
              <a:spcBef>
                <a:spcPct val="20000"/>
              </a:spcBef>
              <a:buFontTx/>
              <a:buChar char="•"/>
              <a:defRPr/>
            </a:pPr>
            <a:r>
              <a:rPr lang="en-US" altLang="en-US" sz="2600" kern="0" dirty="0">
                <a:solidFill>
                  <a:srgbClr val="222222"/>
                </a:solidFill>
                <a:latin typeface="Arial"/>
              </a:rPr>
              <a:t>Standards: more detailed statements of what must be done to comply with policy </a:t>
            </a:r>
          </a:p>
          <a:p>
            <a:pPr marL="342900" indent="-342900">
              <a:spcBef>
                <a:spcPct val="20000"/>
              </a:spcBef>
              <a:buFontTx/>
              <a:buChar char="•"/>
              <a:defRPr/>
            </a:pPr>
            <a:r>
              <a:rPr lang="en-US" altLang="en-US" sz="2600" kern="0" dirty="0">
                <a:solidFill>
                  <a:srgbClr val="222222"/>
                </a:solidFill>
                <a:latin typeface="Arial"/>
              </a:rPr>
              <a:t>Practices, procedures, and guidelines effectively explain how to comply with policy</a:t>
            </a:r>
          </a:p>
          <a:p>
            <a:pPr marL="342900" indent="-342900">
              <a:spcBef>
                <a:spcPct val="20000"/>
              </a:spcBef>
              <a:buFontTx/>
              <a:buChar char="•"/>
              <a:defRPr/>
            </a:pPr>
            <a:r>
              <a:rPr lang="en-US" altLang="en-US" sz="2600" kern="0" dirty="0">
                <a:solidFill>
                  <a:srgbClr val="222222"/>
                </a:solidFill>
                <a:latin typeface="Arial"/>
              </a:rPr>
              <a:t>For a policy to be effective, it must be properly disseminated, read, understood, and agreed to by all members of organization, and uniformly enforced</a:t>
            </a:r>
          </a:p>
          <a:p>
            <a:pPr eaLnBrk="1" hangingPunct="1">
              <a:defRPr/>
            </a:pPr>
            <a:endParaRPr lang="en-US"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 xmlns:a16="http://schemas.microsoft.com/office/drawing/2014/main" id="{49F3A614-5795-5D2C-D3B1-6A7A53FF1D8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44429A-2406-408B-918B-542246A2B997}" type="slidenum">
              <a:rPr lang="en-US" altLang="en-US">
                <a:latin typeface="Times New Roman" panose="02020603050405020304" pitchFamily="18" charset="0"/>
              </a:rPr>
              <a:pPr eaLnBrk="1" hangingPunct="1"/>
              <a:t>10</a:t>
            </a:fld>
            <a:endParaRPr lang="en-US" altLang="en-US">
              <a:latin typeface="Times New Roman" panose="02020603050405020304" pitchFamily="18" charset="0"/>
            </a:endParaRPr>
          </a:p>
        </p:txBody>
      </p:sp>
      <p:sp>
        <p:nvSpPr>
          <p:cNvPr id="29699" name="Rectangle 2">
            <a:extLst>
              <a:ext uri="{FF2B5EF4-FFF2-40B4-BE49-F238E27FC236}">
                <a16:creationId xmlns="" xmlns:a16="http://schemas.microsoft.com/office/drawing/2014/main" id="{3BCB11E8-F097-60DA-DEE9-070CAE5FE932}"/>
              </a:ext>
            </a:extLst>
          </p:cNvPr>
          <p:cNvSpPr>
            <a:spLocks noGrp="1" noRot="1" noChangeAspect="1" noChangeArrowheads="1" noTextEdit="1"/>
          </p:cNvSpPr>
          <p:nvPr>
            <p:ph type="sldImg"/>
          </p:nvPr>
        </p:nvSpPr>
        <p:spPr>
          <a:ln/>
        </p:spPr>
      </p:sp>
      <p:sp>
        <p:nvSpPr>
          <p:cNvPr id="29700" name="Rectangle 3">
            <a:extLst>
              <a:ext uri="{FF2B5EF4-FFF2-40B4-BE49-F238E27FC236}">
                <a16:creationId xmlns="" xmlns:a16="http://schemas.microsoft.com/office/drawing/2014/main" id="{AEDF0FEC-82CD-C158-4711-69A8EA5064FE}"/>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Types of Policy</a:t>
            </a:r>
            <a:r>
              <a:rPr lang="en-US" altLang="en-US"/>
              <a:t> </a:t>
            </a:r>
          </a:p>
          <a:p>
            <a:pPr eaLnBrk="1" hangingPunct="1"/>
            <a:r>
              <a:rPr lang="en-US" altLang="en-US"/>
              <a:t>Management defines three types of security policy:</a:t>
            </a:r>
          </a:p>
          <a:p>
            <a:pPr eaLnBrk="1" hangingPunct="1"/>
            <a:r>
              <a:rPr lang="en-US" altLang="en-US"/>
              <a:t>1) General or security program policy</a:t>
            </a:r>
          </a:p>
          <a:p>
            <a:pPr eaLnBrk="1" hangingPunct="1"/>
            <a:r>
              <a:rPr lang="en-US" altLang="en-US"/>
              <a:t>2) Issue-specific security policies</a:t>
            </a:r>
          </a:p>
          <a:p>
            <a:pPr eaLnBrk="1" hangingPunct="1"/>
            <a:r>
              <a:rPr lang="en-US" altLang="en-US"/>
              <a:t>3) Systems-specific security policies</a:t>
            </a:r>
          </a:p>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 xmlns:a16="http://schemas.microsoft.com/office/drawing/2014/main" id="{2B0F5405-6C5F-34C0-7732-178234BEFC50}"/>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8960A2E-D713-47C0-BDBA-346D092E592C}" type="slidenum">
              <a:rPr lang="en-US" altLang="en-US">
                <a:latin typeface="Times New Roman" panose="02020603050405020304" pitchFamily="18" charset="0"/>
              </a:rPr>
              <a:pPr eaLnBrk="1" hangingPunct="1"/>
              <a:t>11</a:t>
            </a:fld>
            <a:endParaRPr lang="en-US" altLang="en-US">
              <a:latin typeface="Times New Roman" panose="02020603050405020304" pitchFamily="18" charset="0"/>
            </a:endParaRPr>
          </a:p>
        </p:txBody>
      </p:sp>
      <p:sp>
        <p:nvSpPr>
          <p:cNvPr id="31747" name="Rectangle 2">
            <a:extLst>
              <a:ext uri="{FF2B5EF4-FFF2-40B4-BE49-F238E27FC236}">
                <a16:creationId xmlns="" xmlns:a16="http://schemas.microsoft.com/office/drawing/2014/main" id="{1CDBFF3B-C618-A878-A0BE-123997F2E16D}"/>
              </a:ext>
            </a:extLst>
          </p:cNvPr>
          <p:cNvSpPr>
            <a:spLocks noGrp="1" noRot="1" noChangeAspect="1" noChangeArrowheads="1" noTextEdit="1"/>
          </p:cNvSpPr>
          <p:nvPr>
            <p:ph type="sldImg"/>
          </p:nvPr>
        </p:nvSpPr>
        <p:spPr>
          <a:ln/>
        </p:spPr>
      </p:sp>
      <p:sp>
        <p:nvSpPr>
          <p:cNvPr id="73732" name="Rectangle 3">
            <a:extLst>
              <a:ext uri="{FF2B5EF4-FFF2-40B4-BE49-F238E27FC236}">
                <a16:creationId xmlns="" xmlns:a16="http://schemas.microsoft.com/office/drawing/2014/main" id="{310376A8-5E1A-DD9E-9F83-9B92D1EBC888}"/>
              </a:ext>
            </a:extLst>
          </p:cNvPr>
          <p:cNvSpPr>
            <a:spLocks noGrp="1" noChangeArrowheads="1"/>
          </p:cNvSpPr>
          <p:nvPr>
            <p:ph type="body" idx="1"/>
          </p:nvPr>
        </p:nvSpPr>
        <p:spPr/>
        <p:txBody>
          <a:bodyPr/>
          <a:lstStyle/>
          <a:p>
            <a:pPr eaLnBrk="1" hangingPunct="1">
              <a:defRPr/>
            </a:pPr>
            <a:r>
              <a:rPr lang="en-US" altLang="en-US" b="1" dirty="0"/>
              <a:t>Enterprise Information Security Policy (EISP)</a:t>
            </a:r>
          </a:p>
          <a:p>
            <a:pPr marL="342900" indent="-342900">
              <a:spcBef>
                <a:spcPct val="20000"/>
              </a:spcBef>
              <a:buFontTx/>
              <a:buChar char="•"/>
              <a:defRPr/>
            </a:pPr>
            <a:r>
              <a:rPr lang="en-US" altLang="en-US" sz="2600" kern="0" dirty="0">
                <a:solidFill>
                  <a:srgbClr val="222222"/>
                </a:solidFill>
                <a:latin typeface="Arial"/>
              </a:rPr>
              <a:t>Sets strategic direction, scope, and tone for all security efforts within the organization </a:t>
            </a:r>
          </a:p>
          <a:p>
            <a:pPr marL="342900" indent="-342900">
              <a:spcBef>
                <a:spcPct val="20000"/>
              </a:spcBef>
              <a:buFontTx/>
              <a:buChar char="•"/>
              <a:defRPr/>
            </a:pPr>
            <a:r>
              <a:rPr lang="en-US" altLang="en-US" sz="2600" kern="0" dirty="0">
                <a:solidFill>
                  <a:srgbClr val="222222"/>
                </a:solidFill>
                <a:latin typeface="Arial"/>
              </a:rPr>
              <a:t>Executive-level document, usually drafted by or with Chief Information Officer (CIO) of the organization</a:t>
            </a:r>
          </a:p>
          <a:p>
            <a:pPr marL="342900" indent="-342900">
              <a:spcBef>
                <a:spcPct val="20000"/>
              </a:spcBef>
              <a:buFontTx/>
              <a:buChar char="•"/>
              <a:defRPr/>
            </a:pPr>
            <a:r>
              <a:rPr lang="en-US" altLang="en-US" sz="2600" kern="0" dirty="0">
                <a:solidFill>
                  <a:srgbClr val="222222"/>
                </a:solidFill>
                <a:latin typeface="Arial"/>
              </a:rPr>
              <a:t>Typically addresses compliance in two areas</a:t>
            </a:r>
          </a:p>
          <a:p>
            <a:pPr marL="742950" lvl="1" indent="-285750">
              <a:spcBef>
                <a:spcPct val="20000"/>
              </a:spcBef>
              <a:buFontTx/>
              <a:buChar char="–"/>
              <a:defRPr/>
            </a:pPr>
            <a:r>
              <a:rPr lang="en-US" altLang="en-US" sz="2400" kern="0" dirty="0">
                <a:solidFill>
                  <a:srgbClr val="222222"/>
                </a:solidFill>
                <a:latin typeface="Arial"/>
              </a:rPr>
              <a:t>Ensure meeting of requirements to establish program and assigning responsibilities therein to various organizational components</a:t>
            </a:r>
          </a:p>
          <a:p>
            <a:pPr marL="742950" lvl="1" indent="-285750">
              <a:spcBef>
                <a:spcPct val="20000"/>
              </a:spcBef>
              <a:buFontTx/>
              <a:buChar char="–"/>
              <a:defRPr/>
            </a:pPr>
            <a:r>
              <a:rPr lang="en-US" altLang="en-US" sz="2400" kern="0" dirty="0">
                <a:solidFill>
                  <a:srgbClr val="222222"/>
                </a:solidFill>
                <a:latin typeface="Arial"/>
              </a:rPr>
              <a:t>Use of specified penalties and disciplinary action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 xmlns:a16="http://schemas.microsoft.com/office/drawing/2014/main" id="{DC568E2E-A69A-DE5B-26DD-265DB248408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53FB412B-3CC0-7E41-3034-8D5F5ACA5951}"/>
              </a:ext>
            </a:extLst>
          </p:cNvPr>
          <p:cNvSpPr>
            <a:spLocks noGrp="1"/>
          </p:cNvSpPr>
          <p:nvPr>
            <p:ph type="body" idx="1"/>
          </p:nvPr>
        </p:nvSpPr>
        <p:spPr/>
        <p:txBody>
          <a:bodyPr/>
          <a:lstStyle/>
          <a:p>
            <a:pPr>
              <a:defRPr/>
            </a:pPr>
            <a:r>
              <a:rPr lang="en-US" altLang="en-US" b="1" dirty="0"/>
              <a:t>Enterprise Information Security Policy (EISP)</a:t>
            </a:r>
          </a:p>
          <a:p>
            <a:pPr marL="342900" indent="-342900">
              <a:spcBef>
                <a:spcPct val="20000"/>
              </a:spcBef>
              <a:buFontTx/>
              <a:buChar char="•"/>
              <a:defRPr/>
            </a:pPr>
            <a:r>
              <a:rPr lang="en-US" sz="2600" kern="0" dirty="0">
                <a:solidFill>
                  <a:srgbClr val="222222"/>
                </a:solidFill>
                <a:latin typeface="Arial"/>
              </a:rPr>
              <a:t>EISP Elements should include</a:t>
            </a:r>
          </a:p>
          <a:p>
            <a:pPr marL="742950" lvl="1" indent="-285750">
              <a:spcBef>
                <a:spcPct val="20000"/>
              </a:spcBef>
              <a:buFontTx/>
              <a:buChar char="–"/>
              <a:defRPr/>
            </a:pPr>
            <a:r>
              <a:rPr lang="en-US" sz="2400" kern="0" dirty="0">
                <a:solidFill>
                  <a:srgbClr val="222222"/>
                </a:solidFill>
                <a:latin typeface="Arial"/>
              </a:rPr>
              <a:t>Overview of corporate security philosophy</a:t>
            </a:r>
          </a:p>
          <a:p>
            <a:pPr marL="742950" lvl="1" indent="-285750">
              <a:spcBef>
                <a:spcPct val="20000"/>
              </a:spcBef>
              <a:buFontTx/>
              <a:buChar char="–"/>
              <a:defRPr/>
            </a:pPr>
            <a:r>
              <a:rPr lang="en-US" sz="2400" kern="0" dirty="0">
                <a:solidFill>
                  <a:srgbClr val="222222"/>
                </a:solidFill>
                <a:latin typeface="Arial"/>
              </a:rPr>
              <a:t>Information on structure of organization and people in information security roles</a:t>
            </a:r>
          </a:p>
          <a:p>
            <a:pPr marL="742950" lvl="1" indent="-285750">
              <a:spcBef>
                <a:spcPct val="20000"/>
              </a:spcBef>
              <a:buFontTx/>
              <a:buChar char="–"/>
              <a:defRPr/>
            </a:pPr>
            <a:r>
              <a:rPr lang="en-US" sz="2400" kern="0" dirty="0">
                <a:solidFill>
                  <a:srgbClr val="222222"/>
                </a:solidFill>
                <a:latin typeface="Arial"/>
              </a:rPr>
              <a:t>Articulated responsibilities for security shared by all members of organization</a:t>
            </a:r>
          </a:p>
          <a:p>
            <a:pPr marL="742950" lvl="1" indent="-285750">
              <a:spcBef>
                <a:spcPct val="20000"/>
              </a:spcBef>
              <a:buFontTx/>
              <a:buChar char="–"/>
              <a:defRPr/>
            </a:pPr>
            <a:r>
              <a:rPr lang="en-US" sz="2400" kern="0" dirty="0">
                <a:solidFill>
                  <a:srgbClr val="222222"/>
                </a:solidFill>
                <a:latin typeface="Arial"/>
              </a:rPr>
              <a:t>Articulated responsibilities for security unique to each role in organization</a:t>
            </a:r>
          </a:p>
          <a:p>
            <a:pPr>
              <a:defRPr/>
            </a:pPr>
            <a:endParaRPr lang="en-US" b="1" dirty="0"/>
          </a:p>
        </p:txBody>
      </p:sp>
      <p:sp>
        <p:nvSpPr>
          <p:cNvPr id="33796" name="Slide Number Placeholder 3">
            <a:extLst>
              <a:ext uri="{FF2B5EF4-FFF2-40B4-BE49-F238E27FC236}">
                <a16:creationId xmlns="" xmlns:a16="http://schemas.microsoft.com/office/drawing/2014/main" id="{FA33E007-00CE-ED9B-9541-B718473D6415}"/>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4F349A7-EE86-4273-971C-DC2D75832405}" type="slidenum">
              <a:rPr lang="en-US" altLang="en-US"/>
              <a:pPr/>
              <a:t>12</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 xmlns:a16="http://schemas.microsoft.com/office/drawing/2014/main" id="{E49859B9-9166-8BCD-DE86-398A0592C8E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8C94A7-F980-43BC-BAAC-61AEA17734FC}" type="slidenum">
              <a:rPr lang="en-US" altLang="en-US">
                <a:latin typeface="Times New Roman" panose="02020603050405020304" pitchFamily="18" charset="0"/>
              </a:rPr>
              <a:pPr eaLnBrk="1" hangingPunct="1"/>
              <a:t>14</a:t>
            </a:fld>
            <a:endParaRPr lang="en-US" altLang="en-US">
              <a:latin typeface="Times New Roman" panose="02020603050405020304" pitchFamily="18" charset="0"/>
            </a:endParaRPr>
          </a:p>
        </p:txBody>
      </p:sp>
      <p:sp>
        <p:nvSpPr>
          <p:cNvPr id="36867" name="Rectangle 2">
            <a:extLst>
              <a:ext uri="{FF2B5EF4-FFF2-40B4-BE49-F238E27FC236}">
                <a16:creationId xmlns="" xmlns:a16="http://schemas.microsoft.com/office/drawing/2014/main" id="{29631AA3-7A66-7775-0549-134A16A1CC0E}"/>
              </a:ext>
            </a:extLst>
          </p:cNvPr>
          <p:cNvSpPr>
            <a:spLocks noGrp="1" noRot="1" noChangeAspect="1" noChangeArrowheads="1" noTextEdit="1"/>
          </p:cNvSpPr>
          <p:nvPr>
            <p:ph type="sldImg"/>
          </p:nvPr>
        </p:nvSpPr>
        <p:spPr>
          <a:ln/>
        </p:spPr>
      </p:sp>
      <p:sp>
        <p:nvSpPr>
          <p:cNvPr id="64516" name="Rectangle 3">
            <a:extLst>
              <a:ext uri="{FF2B5EF4-FFF2-40B4-BE49-F238E27FC236}">
                <a16:creationId xmlns="" xmlns:a16="http://schemas.microsoft.com/office/drawing/2014/main" id="{3D0B4BCA-C987-6845-B219-5C2C2C0989ED}"/>
              </a:ext>
            </a:extLst>
          </p:cNvPr>
          <p:cNvSpPr>
            <a:spLocks noGrp="1" noChangeArrowheads="1"/>
          </p:cNvSpPr>
          <p:nvPr>
            <p:ph type="body" idx="1"/>
          </p:nvPr>
        </p:nvSpPr>
        <p:spPr/>
        <p:txBody>
          <a:bodyPr/>
          <a:lstStyle/>
          <a:p>
            <a:pPr eaLnBrk="1" hangingPunct="1">
              <a:defRPr/>
            </a:pPr>
            <a:r>
              <a:rPr lang="en-US" b="1" dirty="0"/>
              <a:t>Issue-Specific Security Policy (ISSP)</a:t>
            </a:r>
          </a:p>
          <a:p>
            <a:pPr marL="342900" indent="-342900">
              <a:spcBef>
                <a:spcPct val="20000"/>
              </a:spcBef>
              <a:buFontTx/>
              <a:buChar char="•"/>
              <a:defRPr/>
            </a:pPr>
            <a:r>
              <a:rPr lang="en-US" altLang="en-US" sz="2600" kern="0" dirty="0">
                <a:solidFill>
                  <a:srgbClr val="222222"/>
                </a:solidFill>
                <a:latin typeface="Arial"/>
              </a:rPr>
              <a:t>The ISSP:</a:t>
            </a:r>
          </a:p>
          <a:p>
            <a:pPr marL="742950" lvl="1" indent="-285750">
              <a:spcBef>
                <a:spcPct val="20000"/>
              </a:spcBef>
              <a:buFontTx/>
              <a:buChar char="–"/>
              <a:defRPr/>
            </a:pPr>
            <a:r>
              <a:rPr lang="en-US" altLang="en-US" sz="2400" kern="0" dirty="0">
                <a:solidFill>
                  <a:srgbClr val="222222"/>
                </a:solidFill>
                <a:latin typeface="Arial"/>
              </a:rPr>
              <a:t>Addresses specific areas of technology</a:t>
            </a:r>
          </a:p>
          <a:p>
            <a:pPr marL="742950" lvl="1" indent="-285750">
              <a:spcBef>
                <a:spcPct val="20000"/>
              </a:spcBef>
              <a:buFontTx/>
              <a:buChar char="–"/>
              <a:defRPr/>
            </a:pPr>
            <a:r>
              <a:rPr lang="en-US" altLang="en-US" sz="2400" kern="0" dirty="0">
                <a:solidFill>
                  <a:srgbClr val="222222"/>
                </a:solidFill>
                <a:latin typeface="Arial"/>
              </a:rPr>
              <a:t>Requires frequent updates</a:t>
            </a:r>
          </a:p>
          <a:p>
            <a:pPr marL="742950" lvl="1" indent="-285750">
              <a:spcBef>
                <a:spcPct val="20000"/>
              </a:spcBef>
              <a:buFontTx/>
              <a:buChar char="–"/>
              <a:defRPr/>
            </a:pPr>
            <a:r>
              <a:rPr lang="en-US" altLang="en-US" sz="2400" kern="0" dirty="0">
                <a:solidFill>
                  <a:srgbClr val="222222"/>
                </a:solidFill>
                <a:latin typeface="Arial"/>
              </a:rPr>
              <a:t>Contains statement on organization’s position on </a:t>
            </a:r>
            <a:br>
              <a:rPr lang="en-US" altLang="en-US" sz="2400" kern="0" dirty="0">
                <a:solidFill>
                  <a:srgbClr val="222222"/>
                </a:solidFill>
                <a:latin typeface="Arial"/>
              </a:rPr>
            </a:br>
            <a:r>
              <a:rPr lang="en-US" altLang="en-US" sz="2400" kern="0" dirty="0">
                <a:solidFill>
                  <a:srgbClr val="222222"/>
                </a:solidFill>
                <a:latin typeface="Arial"/>
              </a:rPr>
              <a:t>specific issue </a:t>
            </a:r>
          </a:p>
          <a:p>
            <a:pPr marL="342900" indent="-342900">
              <a:spcBef>
                <a:spcPct val="20000"/>
              </a:spcBef>
              <a:buFontTx/>
              <a:buChar char="•"/>
              <a:defRPr/>
            </a:pPr>
            <a:r>
              <a:rPr lang="en-US" altLang="en-US" sz="2600" kern="0" dirty="0">
                <a:solidFill>
                  <a:srgbClr val="222222"/>
                </a:solidFill>
                <a:latin typeface="Arial"/>
              </a:rPr>
              <a:t>Three common approaches when creating and managing ISSPs:</a:t>
            </a:r>
          </a:p>
          <a:p>
            <a:pPr marL="742950" lvl="1" indent="-285750">
              <a:spcBef>
                <a:spcPct val="20000"/>
              </a:spcBef>
              <a:buFontTx/>
              <a:buChar char="–"/>
              <a:defRPr/>
            </a:pPr>
            <a:r>
              <a:rPr lang="en-US" altLang="en-US" sz="2400" kern="0" dirty="0">
                <a:solidFill>
                  <a:srgbClr val="222222"/>
                </a:solidFill>
                <a:latin typeface="Arial"/>
              </a:rPr>
              <a:t>Create a number of independent ISSP documents</a:t>
            </a:r>
          </a:p>
          <a:p>
            <a:pPr marL="742950" lvl="1" indent="-285750">
              <a:spcBef>
                <a:spcPct val="20000"/>
              </a:spcBef>
              <a:buFontTx/>
              <a:buChar char="–"/>
              <a:defRPr/>
            </a:pPr>
            <a:r>
              <a:rPr lang="en-US" altLang="en-US" sz="2400" kern="0" dirty="0">
                <a:solidFill>
                  <a:srgbClr val="222222"/>
                </a:solidFill>
                <a:latin typeface="Arial"/>
              </a:rPr>
              <a:t>Create a single comprehensive ISSP document</a:t>
            </a:r>
          </a:p>
          <a:p>
            <a:pPr marL="742950" lvl="1" indent="-285750">
              <a:spcBef>
                <a:spcPct val="20000"/>
              </a:spcBef>
              <a:buFontTx/>
              <a:buChar char="–"/>
              <a:defRPr/>
            </a:pPr>
            <a:r>
              <a:rPr lang="en-US" altLang="en-US" sz="2400" kern="0" dirty="0">
                <a:solidFill>
                  <a:srgbClr val="222222"/>
                </a:solidFill>
                <a:latin typeface="Arial"/>
              </a:rPr>
              <a:t>Create a modular ISSP document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 xmlns:a16="http://schemas.microsoft.com/office/drawing/2014/main" id="{C9EC3CD9-783B-07EF-821B-C4776E73ED0B}"/>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85C001D6-C67B-DCE4-5BDE-E61FAA2A5887}"/>
              </a:ext>
            </a:extLst>
          </p:cNvPr>
          <p:cNvSpPr>
            <a:spLocks noGrp="1"/>
          </p:cNvSpPr>
          <p:nvPr>
            <p:ph type="body" idx="1"/>
          </p:nvPr>
        </p:nvSpPr>
        <p:spPr/>
        <p:txBody>
          <a:bodyPr/>
          <a:lstStyle/>
          <a:p>
            <a:pPr>
              <a:defRPr/>
            </a:pPr>
            <a:r>
              <a:rPr lang="en-US" b="1" dirty="0"/>
              <a:t>ISSP cont’d.</a:t>
            </a:r>
          </a:p>
          <a:p>
            <a:pPr marL="342900" indent="-342900">
              <a:spcBef>
                <a:spcPct val="20000"/>
              </a:spcBef>
              <a:buFontTx/>
              <a:buChar char="•"/>
              <a:defRPr/>
            </a:pPr>
            <a:r>
              <a:rPr lang="en-US" altLang="en-US" sz="2600" kern="0" dirty="0">
                <a:solidFill>
                  <a:srgbClr val="222222"/>
                </a:solidFill>
                <a:latin typeface="Arial"/>
              </a:rPr>
              <a:t>Components of the policy</a:t>
            </a:r>
          </a:p>
          <a:p>
            <a:pPr marL="742950" lvl="1" indent="-285750">
              <a:spcBef>
                <a:spcPct val="20000"/>
              </a:spcBef>
              <a:buFontTx/>
              <a:buChar char="–"/>
              <a:defRPr/>
            </a:pPr>
            <a:r>
              <a:rPr lang="en-US" altLang="en-US" sz="2400" kern="0" dirty="0">
                <a:solidFill>
                  <a:srgbClr val="222222"/>
                </a:solidFill>
                <a:latin typeface="Arial"/>
              </a:rPr>
              <a:t>Statement of Policy</a:t>
            </a:r>
          </a:p>
          <a:p>
            <a:pPr marL="742950" lvl="1" indent="-285750">
              <a:spcBef>
                <a:spcPct val="20000"/>
              </a:spcBef>
              <a:buFontTx/>
              <a:buChar char="–"/>
              <a:defRPr/>
            </a:pPr>
            <a:r>
              <a:rPr lang="en-US" altLang="en-US" sz="2400" kern="0" dirty="0">
                <a:solidFill>
                  <a:srgbClr val="222222"/>
                </a:solidFill>
                <a:latin typeface="Arial"/>
              </a:rPr>
              <a:t>Authorized Access and Usage of Equipment</a:t>
            </a:r>
          </a:p>
          <a:p>
            <a:pPr marL="742950" lvl="1" indent="-285750">
              <a:spcBef>
                <a:spcPct val="20000"/>
              </a:spcBef>
              <a:buFontTx/>
              <a:buChar char="–"/>
              <a:defRPr/>
            </a:pPr>
            <a:r>
              <a:rPr lang="en-US" altLang="en-US" sz="2400" kern="0" dirty="0">
                <a:solidFill>
                  <a:srgbClr val="222222"/>
                </a:solidFill>
                <a:latin typeface="Arial"/>
              </a:rPr>
              <a:t>Prohibited Use of Equipment</a:t>
            </a:r>
          </a:p>
          <a:p>
            <a:pPr marL="742950" lvl="1" indent="-285750">
              <a:spcBef>
                <a:spcPct val="20000"/>
              </a:spcBef>
              <a:buFontTx/>
              <a:buChar char="–"/>
              <a:defRPr/>
            </a:pPr>
            <a:r>
              <a:rPr lang="en-US" altLang="en-US" sz="2400" kern="0" dirty="0">
                <a:solidFill>
                  <a:srgbClr val="222222"/>
                </a:solidFill>
                <a:latin typeface="Arial"/>
              </a:rPr>
              <a:t>Systems Management</a:t>
            </a:r>
          </a:p>
          <a:p>
            <a:pPr marL="742950" lvl="1" indent="-285750">
              <a:spcBef>
                <a:spcPct val="20000"/>
              </a:spcBef>
              <a:buFontTx/>
              <a:buChar char="–"/>
              <a:defRPr/>
            </a:pPr>
            <a:r>
              <a:rPr lang="en-US" altLang="en-US" sz="2400" kern="0" dirty="0">
                <a:solidFill>
                  <a:srgbClr val="222222"/>
                </a:solidFill>
                <a:latin typeface="Arial"/>
              </a:rPr>
              <a:t>Violations of Policy</a:t>
            </a:r>
          </a:p>
          <a:p>
            <a:pPr marL="742950" lvl="1" indent="-285750">
              <a:spcBef>
                <a:spcPct val="20000"/>
              </a:spcBef>
              <a:buFontTx/>
              <a:buChar char="–"/>
              <a:defRPr/>
            </a:pPr>
            <a:r>
              <a:rPr lang="en-US" altLang="en-US" sz="2400" kern="0" dirty="0">
                <a:solidFill>
                  <a:srgbClr val="222222"/>
                </a:solidFill>
                <a:latin typeface="Arial"/>
              </a:rPr>
              <a:t>Policy Review and Modification</a:t>
            </a:r>
          </a:p>
          <a:p>
            <a:pPr marL="742950" lvl="1" indent="-285750">
              <a:spcBef>
                <a:spcPct val="20000"/>
              </a:spcBef>
              <a:buFontTx/>
              <a:buChar char="–"/>
              <a:defRPr/>
            </a:pPr>
            <a:r>
              <a:rPr lang="en-US" altLang="en-US" sz="2400" kern="0" dirty="0">
                <a:solidFill>
                  <a:srgbClr val="222222"/>
                </a:solidFill>
                <a:latin typeface="Arial"/>
              </a:rPr>
              <a:t>Limitations of Liability</a:t>
            </a:r>
          </a:p>
          <a:p>
            <a:pPr>
              <a:defRPr/>
            </a:pPr>
            <a:endParaRPr lang="en-US" b="1" dirty="0"/>
          </a:p>
        </p:txBody>
      </p:sp>
      <p:sp>
        <p:nvSpPr>
          <p:cNvPr id="38916" name="Slide Number Placeholder 3">
            <a:extLst>
              <a:ext uri="{FF2B5EF4-FFF2-40B4-BE49-F238E27FC236}">
                <a16:creationId xmlns="" xmlns:a16="http://schemas.microsoft.com/office/drawing/2014/main" id="{1430E4BE-9D6C-6910-BEC9-311A2A83BFBA}"/>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D6D0FB1-8122-49C2-AB3F-669925AB9B1D}" type="slidenum">
              <a:rPr lang="en-US" altLang="en-US"/>
              <a:pPr/>
              <a:t>15</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 xmlns:a16="http://schemas.microsoft.com/office/drawing/2014/main" id="{B7FA3D6D-8471-107B-DA2E-B62BC9FBFFA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58E4EA-B6CA-4253-9DD0-06C0CEE0834E}" type="slidenum">
              <a:rPr lang="en-US" altLang="en-US">
                <a:latin typeface="Times New Roman" panose="02020603050405020304" pitchFamily="18" charset="0"/>
              </a:rPr>
              <a:pPr eaLnBrk="1" hangingPunct="1"/>
              <a:t>17</a:t>
            </a:fld>
            <a:endParaRPr lang="en-US" altLang="en-US">
              <a:latin typeface="Times New Roman" panose="02020603050405020304" pitchFamily="18" charset="0"/>
            </a:endParaRPr>
          </a:p>
        </p:txBody>
      </p:sp>
      <p:sp>
        <p:nvSpPr>
          <p:cNvPr id="41987" name="Rectangle 2">
            <a:extLst>
              <a:ext uri="{FF2B5EF4-FFF2-40B4-BE49-F238E27FC236}">
                <a16:creationId xmlns="" xmlns:a16="http://schemas.microsoft.com/office/drawing/2014/main" id="{A0D3E360-2D53-29AA-A601-C6D078FD3109}"/>
              </a:ext>
            </a:extLst>
          </p:cNvPr>
          <p:cNvSpPr>
            <a:spLocks noGrp="1" noRot="1" noChangeAspect="1" noChangeArrowheads="1" noTextEdit="1"/>
          </p:cNvSpPr>
          <p:nvPr>
            <p:ph type="sldImg"/>
          </p:nvPr>
        </p:nvSpPr>
        <p:spPr>
          <a:ln/>
        </p:spPr>
      </p:sp>
      <p:sp>
        <p:nvSpPr>
          <p:cNvPr id="75780" name="Rectangle 3">
            <a:extLst>
              <a:ext uri="{FF2B5EF4-FFF2-40B4-BE49-F238E27FC236}">
                <a16:creationId xmlns="" xmlns:a16="http://schemas.microsoft.com/office/drawing/2014/main" id="{0CADCEA0-4298-CFCD-462F-3220F09996F9}"/>
              </a:ext>
            </a:extLst>
          </p:cNvPr>
          <p:cNvSpPr>
            <a:spLocks noGrp="1" noChangeArrowheads="1"/>
          </p:cNvSpPr>
          <p:nvPr>
            <p:ph type="body" idx="1"/>
          </p:nvPr>
        </p:nvSpPr>
        <p:spPr/>
        <p:txBody>
          <a:bodyPr/>
          <a:lstStyle/>
          <a:p>
            <a:pPr eaLnBrk="1" hangingPunct="1">
              <a:defRPr/>
            </a:pPr>
            <a:r>
              <a:rPr lang="en-US" altLang="en-US" b="1" dirty="0"/>
              <a:t>Systems-Specific Policy (SysSP)</a:t>
            </a:r>
          </a:p>
          <a:p>
            <a:pPr marL="342900" indent="-342900">
              <a:spcBef>
                <a:spcPct val="20000"/>
              </a:spcBef>
              <a:buFontTx/>
              <a:buChar char="•"/>
              <a:defRPr/>
            </a:pPr>
            <a:r>
              <a:rPr lang="en-US" altLang="en-US" sz="2400" kern="0" dirty="0">
                <a:solidFill>
                  <a:srgbClr val="222222"/>
                </a:solidFill>
                <a:latin typeface="Arial"/>
              </a:rPr>
              <a:t>SysSPs often function as standards or procedures used when configuring or maintaining systems</a:t>
            </a:r>
          </a:p>
          <a:p>
            <a:pPr marL="342900" indent="-342900">
              <a:spcBef>
                <a:spcPct val="20000"/>
              </a:spcBef>
              <a:buFontTx/>
              <a:buChar char="•"/>
              <a:defRPr/>
            </a:pPr>
            <a:r>
              <a:rPr lang="en-US" altLang="en-US" sz="2400" kern="0" dirty="0">
                <a:solidFill>
                  <a:srgbClr val="222222"/>
                </a:solidFill>
                <a:latin typeface="Arial"/>
              </a:rPr>
              <a:t>Systems-specific policies fall into two groups</a:t>
            </a:r>
          </a:p>
          <a:p>
            <a:pPr marL="742950" lvl="1" indent="-285750">
              <a:spcBef>
                <a:spcPct val="20000"/>
              </a:spcBef>
              <a:buFontTx/>
              <a:buChar char="–"/>
              <a:defRPr/>
            </a:pPr>
            <a:r>
              <a:rPr lang="en-US" altLang="en-US" sz="2000" kern="0" dirty="0">
                <a:solidFill>
                  <a:srgbClr val="222222"/>
                </a:solidFill>
                <a:latin typeface="Arial"/>
              </a:rPr>
              <a:t>Managerial guidance</a:t>
            </a:r>
          </a:p>
          <a:p>
            <a:pPr marL="742950" lvl="1" indent="-285750">
              <a:spcBef>
                <a:spcPct val="20000"/>
              </a:spcBef>
              <a:buFontTx/>
              <a:buChar char="–"/>
              <a:defRPr/>
            </a:pPr>
            <a:r>
              <a:rPr lang="en-US" altLang="en-US" sz="2000" kern="0" dirty="0">
                <a:solidFill>
                  <a:srgbClr val="222222"/>
                </a:solidFill>
                <a:latin typeface="Arial"/>
              </a:rPr>
              <a:t>Technical specifications</a:t>
            </a:r>
          </a:p>
          <a:p>
            <a:pPr marL="342900" indent="-342900">
              <a:spcBef>
                <a:spcPct val="20000"/>
              </a:spcBef>
              <a:buFontTx/>
              <a:buChar char="•"/>
              <a:defRPr/>
            </a:pPr>
            <a:r>
              <a:rPr lang="en-US" altLang="en-US" sz="2400" kern="0" dirty="0">
                <a:solidFill>
                  <a:srgbClr val="222222"/>
                </a:solidFill>
                <a:latin typeface="Arial"/>
              </a:rPr>
              <a:t>Access control lists (ACLs) can restrict access for a particular user, computer, time, duration—even a particular file</a:t>
            </a:r>
          </a:p>
          <a:p>
            <a:pPr marL="342900" indent="-342900">
              <a:spcBef>
                <a:spcPct val="20000"/>
              </a:spcBef>
              <a:buFontTx/>
              <a:buChar char="•"/>
              <a:defRPr/>
            </a:pPr>
            <a:r>
              <a:rPr lang="en-US" altLang="en-US" sz="2400" kern="0" dirty="0">
                <a:solidFill>
                  <a:srgbClr val="222222"/>
                </a:solidFill>
                <a:latin typeface="Arial"/>
              </a:rPr>
              <a:t>Configuration rule policies govern how security system reacts to received data</a:t>
            </a:r>
          </a:p>
          <a:p>
            <a:pPr marL="342900" indent="-342900">
              <a:spcBef>
                <a:spcPct val="20000"/>
              </a:spcBef>
              <a:buFontTx/>
              <a:buChar char="•"/>
              <a:defRPr/>
            </a:pPr>
            <a:r>
              <a:rPr lang="en-US" altLang="en-US" sz="2400" kern="0" dirty="0">
                <a:solidFill>
                  <a:srgbClr val="222222"/>
                </a:solidFill>
                <a:latin typeface="Arial"/>
              </a:rPr>
              <a:t>Combination SysSPs combine managerial guidance and technical specifications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 xmlns:a16="http://schemas.microsoft.com/office/drawing/2014/main" id="{548F8CCE-BBF8-8B2B-F969-6CE73ECE807F}"/>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735A45-FD53-4EF5-8A49-315053073B88}" type="slidenum">
              <a:rPr lang="en-US" altLang="en-US">
                <a:latin typeface="Times New Roman" panose="02020603050405020304" pitchFamily="18" charset="0"/>
              </a:rPr>
              <a:pPr eaLnBrk="1" hangingPunct="1"/>
              <a:t>18</a:t>
            </a:fld>
            <a:endParaRPr lang="en-US" altLang="en-US">
              <a:latin typeface="Times New Roman" panose="02020603050405020304" pitchFamily="18" charset="0"/>
            </a:endParaRPr>
          </a:p>
        </p:txBody>
      </p:sp>
      <p:sp>
        <p:nvSpPr>
          <p:cNvPr id="44035" name="Rectangle 2">
            <a:extLst>
              <a:ext uri="{FF2B5EF4-FFF2-40B4-BE49-F238E27FC236}">
                <a16:creationId xmlns="" xmlns:a16="http://schemas.microsoft.com/office/drawing/2014/main" id="{8EE9C3CD-99E0-F676-73CA-206706BE431C}"/>
              </a:ext>
            </a:extLst>
          </p:cNvPr>
          <p:cNvSpPr>
            <a:spLocks noGrp="1" noRot="1" noChangeAspect="1" noChangeArrowheads="1" noTextEdit="1"/>
          </p:cNvSpPr>
          <p:nvPr>
            <p:ph type="sldImg"/>
          </p:nvPr>
        </p:nvSpPr>
        <p:spPr>
          <a:ln/>
        </p:spPr>
      </p:sp>
      <p:sp>
        <p:nvSpPr>
          <p:cNvPr id="76804" name="Rectangle 3">
            <a:extLst>
              <a:ext uri="{FF2B5EF4-FFF2-40B4-BE49-F238E27FC236}">
                <a16:creationId xmlns="" xmlns:a16="http://schemas.microsoft.com/office/drawing/2014/main" id="{D99D9A29-D27E-9001-7897-2D6CD96770C5}"/>
              </a:ext>
            </a:extLst>
          </p:cNvPr>
          <p:cNvSpPr>
            <a:spLocks noGrp="1" noChangeArrowheads="1"/>
          </p:cNvSpPr>
          <p:nvPr>
            <p:ph type="body" idx="1"/>
          </p:nvPr>
        </p:nvSpPr>
        <p:spPr/>
        <p:txBody>
          <a:bodyPr/>
          <a:lstStyle/>
          <a:p>
            <a:pPr eaLnBrk="1" hangingPunct="1">
              <a:defRPr/>
            </a:pPr>
            <a:r>
              <a:rPr lang="en-US" altLang="en-US" b="1" dirty="0"/>
              <a:t>Policy Management</a:t>
            </a:r>
          </a:p>
          <a:p>
            <a:pPr marL="342900" indent="-342900">
              <a:spcBef>
                <a:spcPct val="20000"/>
              </a:spcBef>
              <a:buFontTx/>
              <a:buChar char="•"/>
              <a:defRPr/>
            </a:pPr>
            <a:r>
              <a:rPr lang="en-US" altLang="en-US" sz="2600" kern="0" dirty="0">
                <a:solidFill>
                  <a:srgbClr val="222222"/>
                </a:solidFill>
                <a:latin typeface="Arial"/>
              </a:rPr>
              <a:t>Policies must be managed as they constantly change </a:t>
            </a:r>
          </a:p>
          <a:p>
            <a:pPr marL="342900" indent="-342900">
              <a:spcBef>
                <a:spcPct val="20000"/>
              </a:spcBef>
              <a:buFontTx/>
              <a:buChar char="•"/>
              <a:defRPr/>
            </a:pPr>
            <a:r>
              <a:rPr lang="en-US" altLang="en-US" sz="2600" kern="0" dirty="0">
                <a:solidFill>
                  <a:srgbClr val="222222"/>
                </a:solidFill>
                <a:latin typeface="Arial"/>
              </a:rPr>
              <a:t>To remain viable, security policies must have:</a:t>
            </a:r>
          </a:p>
          <a:p>
            <a:pPr marL="742950" lvl="1" indent="-285750">
              <a:spcBef>
                <a:spcPct val="20000"/>
              </a:spcBef>
              <a:buFontTx/>
              <a:buChar char="–"/>
              <a:defRPr/>
            </a:pPr>
            <a:r>
              <a:rPr lang="en-US" altLang="en-US" sz="2400" kern="0" dirty="0">
                <a:solidFill>
                  <a:srgbClr val="222222"/>
                </a:solidFill>
                <a:latin typeface="Arial"/>
              </a:rPr>
              <a:t>Responsible manager </a:t>
            </a:r>
          </a:p>
          <a:p>
            <a:pPr marL="742950" lvl="1" indent="-285750">
              <a:spcBef>
                <a:spcPct val="20000"/>
              </a:spcBef>
              <a:buFontTx/>
              <a:buChar char="–"/>
              <a:defRPr/>
            </a:pPr>
            <a:r>
              <a:rPr lang="en-US" altLang="en-US" sz="2400" kern="0" dirty="0">
                <a:solidFill>
                  <a:srgbClr val="222222"/>
                </a:solidFill>
                <a:latin typeface="Arial"/>
              </a:rPr>
              <a:t>A schedule of reviews</a:t>
            </a:r>
          </a:p>
          <a:p>
            <a:pPr marL="742950" lvl="1" indent="-285750">
              <a:spcBef>
                <a:spcPct val="20000"/>
              </a:spcBef>
              <a:buFontTx/>
              <a:buChar char="–"/>
              <a:defRPr/>
            </a:pPr>
            <a:r>
              <a:rPr lang="en-US" altLang="en-US" sz="2400" kern="0" dirty="0">
                <a:solidFill>
                  <a:srgbClr val="222222"/>
                </a:solidFill>
                <a:latin typeface="Arial"/>
              </a:rPr>
              <a:t>Method for making recommendations for reviews</a:t>
            </a:r>
          </a:p>
          <a:p>
            <a:pPr marL="742950" lvl="1" indent="-285750">
              <a:spcBef>
                <a:spcPct val="20000"/>
              </a:spcBef>
              <a:buFontTx/>
              <a:buChar char="–"/>
              <a:defRPr/>
            </a:pPr>
            <a:r>
              <a:rPr lang="en-US" altLang="en-US" sz="2400" kern="0" dirty="0">
                <a:solidFill>
                  <a:srgbClr val="222222"/>
                </a:solidFill>
                <a:latin typeface="Arial"/>
              </a:rPr>
              <a:t>Policy issuance and revision date</a:t>
            </a:r>
          </a:p>
          <a:p>
            <a:pPr marL="742950" lvl="1" indent="-285750">
              <a:spcBef>
                <a:spcPct val="20000"/>
              </a:spcBef>
              <a:buFontTx/>
              <a:buChar char="–"/>
              <a:defRPr/>
            </a:pPr>
            <a:r>
              <a:rPr lang="en-US" altLang="en-US" sz="2400" kern="0" dirty="0">
                <a:solidFill>
                  <a:srgbClr val="222222"/>
                </a:solidFill>
                <a:latin typeface="Arial"/>
              </a:rPr>
              <a:t>Automated policy management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 xmlns:a16="http://schemas.microsoft.com/office/drawing/2014/main" id="{6E3997FF-C54D-AB56-CC75-2921669ACCBE}"/>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005C637-2C3E-4266-8387-DD264C3AD7D0}" type="slidenum">
              <a:rPr lang="en-US" altLang="en-US">
                <a:latin typeface="Times New Roman" panose="02020603050405020304" pitchFamily="18" charset="0"/>
              </a:rPr>
              <a:pPr eaLnBrk="1" hangingPunct="1"/>
              <a:t>19</a:t>
            </a:fld>
            <a:endParaRPr lang="en-US" altLang="en-US">
              <a:latin typeface="Times New Roman" panose="02020603050405020304" pitchFamily="18" charset="0"/>
            </a:endParaRPr>
          </a:p>
        </p:txBody>
      </p:sp>
      <p:sp>
        <p:nvSpPr>
          <p:cNvPr id="46083" name="Rectangle 2">
            <a:extLst>
              <a:ext uri="{FF2B5EF4-FFF2-40B4-BE49-F238E27FC236}">
                <a16:creationId xmlns="" xmlns:a16="http://schemas.microsoft.com/office/drawing/2014/main" id="{9187333B-18FF-5289-5A5C-6649878B1CB6}"/>
              </a:ext>
            </a:extLst>
          </p:cNvPr>
          <p:cNvSpPr>
            <a:spLocks noGrp="1" noRot="1" noChangeAspect="1" noChangeArrowheads="1" noTextEdit="1"/>
          </p:cNvSpPr>
          <p:nvPr>
            <p:ph type="sldImg"/>
          </p:nvPr>
        </p:nvSpPr>
        <p:spPr>
          <a:ln/>
        </p:spPr>
      </p:sp>
      <p:sp>
        <p:nvSpPr>
          <p:cNvPr id="77828" name="Rectangle 3">
            <a:extLst>
              <a:ext uri="{FF2B5EF4-FFF2-40B4-BE49-F238E27FC236}">
                <a16:creationId xmlns="" xmlns:a16="http://schemas.microsoft.com/office/drawing/2014/main" id="{4E80E962-C4DC-2A1F-7E84-9E16AC695695}"/>
              </a:ext>
            </a:extLst>
          </p:cNvPr>
          <p:cNvSpPr>
            <a:spLocks noGrp="1" noChangeArrowheads="1"/>
          </p:cNvSpPr>
          <p:nvPr>
            <p:ph type="body" idx="1"/>
          </p:nvPr>
        </p:nvSpPr>
        <p:spPr/>
        <p:txBody>
          <a:bodyPr/>
          <a:lstStyle/>
          <a:p>
            <a:pPr eaLnBrk="1" hangingPunct="1">
              <a:defRPr/>
            </a:pPr>
            <a:r>
              <a:rPr lang="en-US" altLang="en-US" b="1" dirty="0"/>
              <a:t>Information Security Blueprints</a:t>
            </a:r>
          </a:p>
          <a:p>
            <a:pPr marL="342900" indent="-342900">
              <a:spcBef>
                <a:spcPct val="20000"/>
              </a:spcBef>
              <a:buFontTx/>
              <a:buChar char="•"/>
              <a:defRPr/>
            </a:pPr>
            <a:r>
              <a:rPr lang="en-US" altLang="en-US" sz="2600" kern="0" dirty="0">
                <a:solidFill>
                  <a:srgbClr val="222222"/>
                </a:solidFill>
                <a:latin typeface="Arial"/>
              </a:rPr>
              <a:t>Basis for design, selection, and implementation of all security policies, education and training programs, and technological controls</a:t>
            </a:r>
          </a:p>
          <a:p>
            <a:pPr marL="342900" indent="-342900">
              <a:spcBef>
                <a:spcPct val="20000"/>
              </a:spcBef>
              <a:buFontTx/>
              <a:buChar char="•"/>
              <a:defRPr/>
            </a:pPr>
            <a:r>
              <a:rPr lang="en-US" altLang="en-US" sz="2600" kern="0" dirty="0">
                <a:solidFill>
                  <a:srgbClr val="222222"/>
                </a:solidFill>
                <a:latin typeface="Arial"/>
              </a:rPr>
              <a:t>Detailed version of security framework (outline of overall information security strategy for organization)</a:t>
            </a:r>
          </a:p>
          <a:p>
            <a:pPr marL="342900" indent="-342900">
              <a:spcBef>
                <a:spcPct val="20000"/>
              </a:spcBef>
              <a:buFontTx/>
              <a:buChar char="•"/>
              <a:defRPr/>
            </a:pPr>
            <a:r>
              <a:rPr lang="en-US" altLang="en-US" sz="2600" kern="0" dirty="0">
                <a:solidFill>
                  <a:srgbClr val="222222"/>
                </a:solidFill>
                <a:latin typeface="Arial"/>
              </a:rPr>
              <a:t>Specifies tasks and order in which they are to be accomplished</a:t>
            </a:r>
          </a:p>
          <a:p>
            <a:pPr marL="342900" indent="-342900">
              <a:spcBef>
                <a:spcPct val="20000"/>
              </a:spcBef>
              <a:buFontTx/>
              <a:buChar char="•"/>
              <a:defRPr/>
            </a:pPr>
            <a:r>
              <a:rPr lang="en-US" altLang="en-US" sz="2600" kern="0" dirty="0">
                <a:solidFill>
                  <a:srgbClr val="222222"/>
                </a:solidFill>
                <a:latin typeface="Arial"/>
              </a:rPr>
              <a:t>Should also serve as scalable, upgradeable, and comprehensive plan for current and future information security needs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 xmlns:a16="http://schemas.microsoft.com/office/drawing/2014/main" id="{00B7A9F6-A7C5-E9D9-7B8C-3529A43E29E9}"/>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6D6DE3-E7E9-4EF1-B275-08C86BBBAA2C}" type="slidenum">
              <a:rPr lang="en-US" altLang="en-US">
                <a:latin typeface="Times New Roman" panose="02020603050405020304" pitchFamily="18" charset="0"/>
              </a:rPr>
              <a:pPr eaLnBrk="1" hangingPunct="1"/>
              <a:t>20</a:t>
            </a:fld>
            <a:endParaRPr lang="en-US" altLang="en-US">
              <a:latin typeface="Times New Roman" panose="02020603050405020304" pitchFamily="18" charset="0"/>
            </a:endParaRPr>
          </a:p>
        </p:txBody>
      </p:sp>
      <p:sp>
        <p:nvSpPr>
          <p:cNvPr id="48131" name="Rectangle 2">
            <a:extLst>
              <a:ext uri="{FF2B5EF4-FFF2-40B4-BE49-F238E27FC236}">
                <a16:creationId xmlns="" xmlns:a16="http://schemas.microsoft.com/office/drawing/2014/main" id="{C336BF14-2A50-5E3A-F0BA-FC622590A3A7}"/>
              </a:ext>
            </a:extLst>
          </p:cNvPr>
          <p:cNvSpPr>
            <a:spLocks noGrp="1" noRot="1" noChangeAspect="1" noChangeArrowheads="1" noTextEdit="1"/>
          </p:cNvSpPr>
          <p:nvPr>
            <p:ph type="sldImg"/>
          </p:nvPr>
        </p:nvSpPr>
        <p:spPr>
          <a:ln/>
        </p:spPr>
      </p:sp>
      <p:sp>
        <p:nvSpPr>
          <p:cNvPr id="78852" name="Rectangle 3">
            <a:extLst>
              <a:ext uri="{FF2B5EF4-FFF2-40B4-BE49-F238E27FC236}">
                <a16:creationId xmlns="" xmlns:a16="http://schemas.microsoft.com/office/drawing/2014/main" id="{6C2208BE-1617-966D-74AD-439B179C3F94}"/>
              </a:ext>
            </a:extLst>
          </p:cNvPr>
          <p:cNvSpPr>
            <a:spLocks noGrp="1" noChangeArrowheads="1"/>
          </p:cNvSpPr>
          <p:nvPr>
            <p:ph type="body" idx="1"/>
          </p:nvPr>
        </p:nvSpPr>
        <p:spPr/>
        <p:txBody>
          <a:bodyPr/>
          <a:lstStyle/>
          <a:p>
            <a:pPr eaLnBrk="1" hangingPunct="1">
              <a:defRPr/>
            </a:pPr>
            <a:r>
              <a:rPr lang="en-US" altLang="en-US" b="1" dirty="0"/>
              <a:t>ISO 17799/BS 7799</a:t>
            </a:r>
          </a:p>
          <a:p>
            <a:pPr marL="342900" indent="-342900">
              <a:spcBef>
                <a:spcPct val="20000"/>
              </a:spcBef>
              <a:buFontTx/>
              <a:buChar char="•"/>
              <a:defRPr/>
            </a:pPr>
            <a:r>
              <a:rPr lang="en-US" altLang="en-US" sz="2600" kern="0" dirty="0">
                <a:solidFill>
                  <a:srgbClr val="222222"/>
                </a:solidFill>
                <a:latin typeface="Arial"/>
              </a:rPr>
              <a:t>One of the most widely referenced security models </a:t>
            </a:r>
          </a:p>
          <a:p>
            <a:pPr marL="342900" indent="-342900">
              <a:spcBef>
                <a:spcPct val="20000"/>
              </a:spcBef>
              <a:buFontTx/>
              <a:buChar char="•"/>
              <a:defRPr/>
            </a:pPr>
            <a:r>
              <a:rPr lang="en-US" altLang="en-US" sz="2600" kern="0" dirty="0">
                <a:solidFill>
                  <a:srgbClr val="222222"/>
                </a:solidFill>
                <a:latin typeface="Arial"/>
              </a:rPr>
              <a:t>Standard framework for information security that states organizational security policy is needed to provide management direction and support</a:t>
            </a:r>
          </a:p>
          <a:p>
            <a:pPr marL="342900" indent="-342900">
              <a:spcBef>
                <a:spcPct val="20000"/>
              </a:spcBef>
              <a:buFontTx/>
              <a:buChar char="•"/>
              <a:defRPr/>
            </a:pPr>
            <a:r>
              <a:rPr lang="en-US" altLang="en-US" sz="2600" kern="0" dirty="0">
                <a:solidFill>
                  <a:srgbClr val="222222"/>
                </a:solidFill>
                <a:latin typeface="Arial"/>
              </a:rPr>
              <a:t>Purpose is to give recommendations for information security management</a:t>
            </a:r>
          </a:p>
          <a:p>
            <a:pPr marL="342900" indent="-342900">
              <a:spcBef>
                <a:spcPct val="20000"/>
              </a:spcBef>
              <a:buFontTx/>
              <a:buChar char="•"/>
              <a:defRPr/>
            </a:pPr>
            <a:r>
              <a:rPr lang="en-US" altLang="en-US" sz="2600" kern="0" dirty="0">
                <a:solidFill>
                  <a:srgbClr val="222222"/>
                </a:solidFill>
                <a:latin typeface="Arial"/>
              </a:rPr>
              <a:t>Provides a starting point for developing organizational security</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 xmlns:a16="http://schemas.microsoft.com/office/drawing/2014/main" id="{221C7D13-A567-A166-ACA9-7E208DEE2BEE}"/>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0A28D0-B217-474F-BE3D-9C27DE57816B}" type="slidenum">
              <a:rPr lang="en-US" altLang="en-US">
                <a:latin typeface="Times New Roman" panose="02020603050405020304" pitchFamily="18" charset="0"/>
              </a:rPr>
              <a:pPr eaLnBrk="1" hangingPunct="1"/>
              <a:t>23</a:t>
            </a:fld>
            <a:endParaRPr lang="en-US" altLang="en-US">
              <a:latin typeface="Times New Roman" panose="02020603050405020304" pitchFamily="18" charset="0"/>
            </a:endParaRPr>
          </a:p>
        </p:txBody>
      </p:sp>
      <p:sp>
        <p:nvSpPr>
          <p:cNvPr id="52227" name="Rectangle 2">
            <a:extLst>
              <a:ext uri="{FF2B5EF4-FFF2-40B4-BE49-F238E27FC236}">
                <a16:creationId xmlns="" xmlns:a16="http://schemas.microsoft.com/office/drawing/2014/main" id="{FEDBBD19-7328-6E6F-3CBB-04FAADC0FFA2}"/>
              </a:ext>
            </a:extLst>
          </p:cNvPr>
          <p:cNvSpPr>
            <a:spLocks noGrp="1" noRot="1" noChangeAspect="1" noChangeArrowheads="1" noTextEdit="1"/>
          </p:cNvSpPr>
          <p:nvPr>
            <p:ph type="sldImg"/>
          </p:nvPr>
        </p:nvSpPr>
        <p:spPr>
          <a:ln/>
        </p:spPr>
      </p:sp>
      <p:sp>
        <p:nvSpPr>
          <p:cNvPr id="52228" name="Rectangle 3">
            <a:extLst>
              <a:ext uri="{FF2B5EF4-FFF2-40B4-BE49-F238E27FC236}">
                <a16:creationId xmlns="" xmlns:a16="http://schemas.microsoft.com/office/drawing/2014/main" id="{355056F5-326D-6AF1-C805-3B305EABA845}"/>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NIST Security Models</a:t>
            </a:r>
          </a:p>
          <a:p>
            <a:pPr eaLnBrk="1" hangingPunct="1"/>
            <a:r>
              <a:rPr lang="en-US" altLang="en-US"/>
              <a:t>Another approach available is described in the many documents available from the Computer Security Resource Center of the National Institute for Standards and Technology (csrc.nist.gov). </a:t>
            </a:r>
          </a:p>
          <a:p>
            <a:pPr eaLnBrk="1" hangingPunct="1"/>
            <a:r>
              <a:rPr lang="en-US" altLang="en-US"/>
              <a:t>These are among the references cited by the government of the U.S. when deciding not to select the ISO/IEC 17799 standards. </a:t>
            </a:r>
          </a:p>
          <a:p>
            <a:pPr eaLnBrk="1" hangingPunct="1"/>
            <a:r>
              <a:rPr lang="en-US" altLang="en-US"/>
              <a:t>NIST SP 800-12 - </a:t>
            </a:r>
            <a:r>
              <a:rPr lang="en-US" altLang="en-US" i="1"/>
              <a:t>The Computer Security Handbook</a:t>
            </a:r>
            <a:r>
              <a:rPr lang="en-US" altLang="en-US"/>
              <a:t> is an excellent reference and guide for the security manager or administrator in the routine management of information security. </a:t>
            </a:r>
          </a:p>
          <a:p>
            <a:pPr eaLnBrk="1" hangingPunct="1"/>
            <a:r>
              <a:rPr lang="en-US" altLang="en-US"/>
              <a:t>NIST SP 800-14 - </a:t>
            </a:r>
            <a:r>
              <a:rPr lang="en-US" altLang="en-US" i="1"/>
              <a:t>Generally Accepted Principles and Practices for Securing IT Systems</a:t>
            </a:r>
            <a:r>
              <a:rPr lang="en-US" altLang="en-US"/>
              <a:t> provides best practices and security principles that can direct the development of a security blueprint. </a:t>
            </a:r>
          </a:p>
          <a:p>
            <a:pPr eaLnBrk="1" hangingPunct="1"/>
            <a:r>
              <a:rPr lang="en-US" altLang="en-US"/>
              <a:t>NIST SP 800-18 - </a:t>
            </a:r>
            <a:r>
              <a:rPr lang="en-US" altLang="en-US" i="1"/>
              <a:t>The Guide for Developing Security Plans for IT Systems </a:t>
            </a:r>
            <a:r>
              <a:rPr lang="en-US" altLang="en-US"/>
              <a:t>is considered the foundation for a comprehensive security blueprint and framework. It provides detailed methods for assessing, designing, and implementing controls and plans for various sized applications. </a:t>
            </a:r>
          </a:p>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 xmlns:a16="http://schemas.microsoft.com/office/drawing/2014/main" id="{90129D25-8BE0-7F89-6AD1-441BF4B5A74F}"/>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2F3ECD-FE8F-4D81-B74F-9265FDA9E64D}" type="slidenum">
              <a:rPr lang="en-US" altLang="en-US">
                <a:latin typeface="Times New Roman" panose="02020603050405020304" pitchFamily="18" charset="0"/>
              </a:rPr>
              <a:pPr eaLnBrk="1" hangingPunct="1"/>
              <a:t>24</a:t>
            </a:fld>
            <a:endParaRPr lang="en-US" altLang="en-US">
              <a:latin typeface="Times New Roman" panose="02020603050405020304" pitchFamily="18" charset="0"/>
            </a:endParaRPr>
          </a:p>
        </p:txBody>
      </p:sp>
      <p:sp>
        <p:nvSpPr>
          <p:cNvPr id="54275" name="Rectangle 2">
            <a:extLst>
              <a:ext uri="{FF2B5EF4-FFF2-40B4-BE49-F238E27FC236}">
                <a16:creationId xmlns="" xmlns:a16="http://schemas.microsoft.com/office/drawing/2014/main" id="{7BA7EC5B-2EF6-73FE-6ED3-327921996D83}"/>
              </a:ext>
            </a:extLst>
          </p:cNvPr>
          <p:cNvSpPr>
            <a:spLocks noGrp="1" noRot="1" noChangeAspect="1" noChangeArrowheads="1" noTextEdit="1"/>
          </p:cNvSpPr>
          <p:nvPr>
            <p:ph type="sldImg"/>
          </p:nvPr>
        </p:nvSpPr>
        <p:spPr>
          <a:ln/>
        </p:spPr>
      </p:sp>
      <p:sp>
        <p:nvSpPr>
          <p:cNvPr id="80900" name="Rectangle 3">
            <a:extLst>
              <a:ext uri="{FF2B5EF4-FFF2-40B4-BE49-F238E27FC236}">
                <a16:creationId xmlns="" xmlns:a16="http://schemas.microsoft.com/office/drawing/2014/main" id="{55FC5BE9-90F7-BFAC-7A17-654A1B66CF40}"/>
              </a:ext>
            </a:extLst>
          </p:cNvPr>
          <p:cNvSpPr>
            <a:spLocks noGrp="1" noChangeArrowheads="1"/>
          </p:cNvSpPr>
          <p:nvPr>
            <p:ph type="body" idx="1"/>
          </p:nvPr>
        </p:nvSpPr>
        <p:spPr/>
        <p:txBody>
          <a:bodyPr/>
          <a:lstStyle/>
          <a:p>
            <a:pPr eaLnBrk="1" hangingPunct="1">
              <a:defRPr/>
            </a:pPr>
            <a:r>
              <a:rPr lang="en-US" altLang="en-US" b="1" dirty="0"/>
              <a:t>NIST SP 800-14 Generally Accepted Principles and Practices</a:t>
            </a:r>
          </a:p>
          <a:p>
            <a:pPr marL="342900" indent="-342900">
              <a:spcBef>
                <a:spcPct val="20000"/>
              </a:spcBef>
              <a:buFontTx/>
              <a:buChar char="•"/>
              <a:defRPr/>
            </a:pPr>
            <a:r>
              <a:rPr lang="en-US" altLang="en-US" sz="2600" kern="0" dirty="0">
                <a:solidFill>
                  <a:srgbClr val="222222"/>
                </a:solidFill>
                <a:latin typeface="Arial"/>
              </a:rPr>
              <a:t>Security supports mission of organization; is an integral element of sound management</a:t>
            </a:r>
          </a:p>
          <a:p>
            <a:pPr marL="342900" indent="-342900">
              <a:spcBef>
                <a:spcPct val="20000"/>
              </a:spcBef>
              <a:buFontTx/>
              <a:buChar char="•"/>
              <a:defRPr/>
            </a:pPr>
            <a:r>
              <a:rPr lang="en-US" altLang="en-US" sz="2600" kern="0" dirty="0">
                <a:solidFill>
                  <a:srgbClr val="222222"/>
                </a:solidFill>
                <a:latin typeface="Arial"/>
              </a:rPr>
              <a:t>Security should be cost effective; owners have security responsibilities outside their own organizations</a:t>
            </a:r>
          </a:p>
          <a:p>
            <a:pPr marL="342900" indent="-342900">
              <a:spcBef>
                <a:spcPct val="20000"/>
              </a:spcBef>
              <a:buFontTx/>
              <a:buChar char="•"/>
              <a:defRPr/>
            </a:pPr>
            <a:r>
              <a:rPr lang="en-US" altLang="en-US" sz="2600" kern="0" dirty="0">
                <a:solidFill>
                  <a:srgbClr val="222222"/>
                </a:solidFill>
                <a:latin typeface="Arial"/>
              </a:rPr>
              <a:t>Security responsibilities and accountability should be made explicit; security requires a comprehensive and integrated approach</a:t>
            </a:r>
          </a:p>
          <a:p>
            <a:pPr marL="342900" indent="-342900">
              <a:spcBef>
                <a:spcPct val="20000"/>
              </a:spcBef>
              <a:buFontTx/>
              <a:buChar char="•"/>
              <a:defRPr/>
            </a:pPr>
            <a:r>
              <a:rPr lang="en-US" altLang="en-US" sz="2600" kern="0" dirty="0">
                <a:solidFill>
                  <a:srgbClr val="222222"/>
                </a:solidFill>
                <a:latin typeface="Arial"/>
              </a:rPr>
              <a:t>Security should be periodically reassessed; security is constrained by societal factors</a:t>
            </a:r>
          </a:p>
          <a:p>
            <a:pPr marL="342900" indent="-342900">
              <a:spcBef>
                <a:spcPct val="20000"/>
              </a:spcBef>
              <a:buFontTx/>
              <a:buChar char="•"/>
              <a:defRPr/>
            </a:pPr>
            <a:r>
              <a:rPr lang="en-US" altLang="en-US" sz="2600" kern="0" dirty="0">
                <a:solidFill>
                  <a:srgbClr val="222222"/>
                </a:solidFill>
                <a:latin typeface="Arial"/>
              </a:rPr>
              <a:t>33 principles for securing systems (see Table 4-5)</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 xmlns:a16="http://schemas.microsoft.com/office/drawing/2014/main" id="{24CFDDAA-61F2-1825-AC9A-904F5ACCEF32}"/>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EC86691A-62AE-6AB3-0C2A-D62E98CBB245}"/>
              </a:ext>
            </a:extLst>
          </p:cNvPr>
          <p:cNvSpPr>
            <a:spLocks noGrp="1"/>
          </p:cNvSpPr>
          <p:nvPr>
            <p:ph type="body" idx="1"/>
          </p:nvPr>
        </p:nvSpPr>
        <p:spPr/>
        <p:txBody>
          <a:bodyPr/>
          <a:lstStyle/>
          <a:p>
            <a:pPr>
              <a:defRPr/>
            </a:pPr>
            <a:r>
              <a:rPr lang="en-US" b="1" dirty="0"/>
              <a:t>NIST Cybersecurity Framework</a:t>
            </a:r>
          </a:p>
          <a:p>
            <a:pPr marL="342900" indent="-342900">
              <a:spcBef>
                <a:spcPct val="20000"/>
              </a:spcBef>
              <a:buFontTx/>
              <a:buChar char="•"/>
              <a:defRPr/>
            </a:pPr>
            <a:r>
              <a:rPr lang="en-US" sz="2600" kern="0" dirty="0">
                <a:solidFill>
                  <a:srgbClr val="222222"/>
                </a:solidFill>
                <a:latin typeface="Arial"/>
              </a:rPr>
              <a:t>Consists of three fundamental components</a:t>
            </a:r>
          </a:p>
          <a:p>
            <a:pPr marL="742950" lvl="1" indent="-285750">
              <a:spcBef>
                <a:spcPct val="20000"/>
              </a:spcBef>
              <a:buFontTx/>
              <a:buChar char="–"/>
              <a:defRPr/>
            </a:pPr>
            <a:r>
              <a:rPr lang="en-US" sz="2400" kern="0" dirty="0">
                <a:solidFill>
                  <a:srgbClr val="222222"/>
                </a:solidFill>
                <a:latin typeface="Arial"/>
              </a:rPr>
              <a:t>Framework core: set of information security activities organization is expected to perform and desired results</a:t>
            </a:r>
          </a:p>
          <a:p>
            <a:pPr marL="742950" lvl="1" indent="-285750">
              <a:spcBef>
                <a:spcPct val="20000"/>
              </a:spcBef>
              <a:buFontTx/>
              <a:buChar char="–"/>
              <a:defRPr/>
            </a:pPr>
            <a:r>
              <a:rPr lang="en-US" sz="2400" kern="0" dirty="0">
                <a:solidFill>
                  <a:srgbClr val="222222"/>
                </a:solidFill>
                <a:latin typeface="Arial"/>
              </a:rPr>
              <a:t>Framework tiers: help relate maturity of security programs and implement corresponding measures and functions</a:t>
            </a:r>
          </a:p>
          <a:p>
            <a:pPr marL="742950" lvl="1" indent="-285750">
              <a:spcBef>
                <a:spcPct val="20000"/>
              </a:spcBef>
              <a:buFontTx/>
              <a:buChar char="–"/>
              <a:defRPr/>
            </a:pPr>
            <a:r>
              <a:rPr lang="en-US" sz="2400" kern="0" dirty="0">
                <a:solidFill>
                  <a:srgbClr val="222222"/>
                </a:solidFill>
                <a:latin typeface="Arial"/>
              </a:rPr>
              <a:t>Framework profile: used to perform gap analysis between current and desired state of information security/risk management</a:t>
            </a:r>
          </a:p>
          <a:p>
            <a:pPr>
              <a:defRPr/>
            </a:pPr>
            <a:endParaRPr lang="en-US" b="1" dirty="0"/>
          </a:p>
        </p:txBody>
      </p:sp>
      <p:sp>
        <p:nvSpPr>
          <p:cNvPr id="56324" name="Slide Number Placeholder 3">
            <a:extLst>
              <a:ext uri="{FF2B5EF4-FFF2-40B4-BE49-F238E27FC236}">
                <a16:creationId xmlns="" xmlns:a16="http://schemas.microsoft.com/office/drawing/2014/main" id="{C590059C-4B11-561D-C9F3-5BF8C1AAF250}"/>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E532445-89EB-4BD0-A16E-E5EFA19FFB05}" type="slidenum">
              <a:rPr lang="en-US" altLang="en-US"/>
              <a:pPr/>
              <a:t>25</a:t>
            </a:fld>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 xmlns:a16="http://schemas.microsoft.com/office/drawing/2014/main" id="{8F33E9A7-D146-3BEE-EBEB-74EBD8EB0239}"/>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39132E42-BB5B-E467-9F0D-4B2A72AA2F4A}"/>
              </a:ext>
            </a:extLst>
          </p:cNvPr>
          <p:cNvSpPr>
            <a:spLocks noGrp="1"/>
          </p:cNvSpPr>
          <p:nvPr>
            <p:ph type="body" idx="1"/>
          </p:nvPr>
        </p:nvSpPr>
        <p:spPr/>
        <p:txBody>
          <a:bodyPr/>
          <a:lstStyle/>
          <a:p>
            <a:pPr>
              <a:defRPr/>
            </a:pPr>
            <a:r>
              <a:rPr lang="en-US" b="1" dirty="0"/>
              <a:t>NIST Cybersecurity Framework</a:t>
            </a:r>
          </a:p>
          <a:p>
            <a:pPr marL="342900" indent="-342900">
              <a:spcBef>
                <a:spcPct val="20000"/>
              </a:spcBef>
              <a:buFontTx/>
              <a:buChar char="•"/>
              <a:defRPr/>
            </a:pPr>
            <a:r>
              <a:rPr lang="en-US" sz="2600" kern="0" dirty="0">
                <a:solidFill>
                  <a:srgbClr val="222222"/>
                </a:solidFill>
                <a:latin typeface="Arial"/>
              </a:rPr>
              <a:t>Seven-step approach to implementing/improving programs:</a:t>
            </a:r>
          </a:p>
          <a:p>
            <a:pPr marL="742950" lvl="1" indent="-285750">
              <a:spcBef>
                <a:spcPct val="20000"/>
              </a:spcBef>
              <a:buFontTx/>
              <a:buChar char="–"/>
              <a:defRPr/>
            </a:pPr>
            <a:r>
              <a:rPr lang="en-US" sz="2400" kern="0" dirty="0">
                <a:solidFill>
                  <a:srgbClr val="222222"/>
                </a:solidFill>
                <a:latin typeface="Arial"/>
              </a:rPr>
              <a:t>Prioritize and scope</a:t>
            </a:r>
          </a:p>
          <a:p>
            <a:pPr marL="742950" lvl="1" indent="-285750">
              <a:spcBef>
                <a:spcPct val="20000"/>
              </a:spcBef>
              <a:buFontTx/>
              <a:buChar char="–"/>
              <a:defRPr/>
            </a:pPr>
            <a:r>
              <a:rPr lang="en-US" sz="2400" kern="0" dirty="0">
                <a:solidFill>
                  <a:srgbClr val="222222"/>
                </a:solidFill>
                <a:latin typeface="Arial"/>
              </a:rPr>
              <a:t>Orient</a:t>
            </a:r>
          </a:p>
          <a:p>
            <a:pPr marL="742950" lvl="1" indent="-285750">
              <a:spcBef>
                <a:spcPct val="20000"/>
              </a:spcBef>
              <a:buFontTx/>
              <a:buChar char="–"/>
              <a:defRPr/>
            </a:pPr>
            <a:r>
              <a:rPr lang="en-US" sz="2400" kern="0" dirty="0">
                <a:solidFill>
                  <a:srgbClr val="222222"/>
                </a:solidFill>
                <a:latin typeface="Arial"/>
              </a:rPr>
              <a:t>Create current profile</a:t>
            </a:r>
          </a:p>
          <a:p>
            <a:pPr marL="742950" lvl="1" indent="-285750">
              <a:spcBef>
                <a:spcPct val="20000"/>
              </a:spcBef>
              <a:buFontTx/>
              <a:buChar char="–"/>
              <a:defRPr/>
            </a:pPr>
            <a:r>
              <a:rPr lang="en-US" sz="2400" kern="0" dirty="0">
                <a:solidFill>
                  <a:srgbClr val="222222"/>
                </a:solidFill>
                <a:latin typeface="Arial"/>
              </a:rPr>
              <a:t>Conduct risk assessment</a:t>
            </a:r>
          </a:p>
          <a:p>
            <a:pPr marL="742950" lvl="1" indent="-285750">
              <a:spcBef>
                <a:spcPct val="20000"/>
              </a:spcBef>
              <a:buFontTx/>
              <a:buChar char="–"/>
              <a:defRPr/>
            </a:pPr>
            <a:r>
              <a:rPr lang="en-US" sz="2400" kern="0" dirty="0">
                <a:solidFill>
                  <a:srgbClr val="222222"/>
                </a:solidFill>
                <a:latin typeface="Arial"/>
              </a:rPr>
              <a:t>Create target profile</a:t>
            </a:r>
          </a:p>
          <a:p>
            <a:pPr marL="742950" lvl="1" indent="-285750">
              <a:spcBef>
                <a:spcPct val="20000"/>
              </a:spcBef>
              <a:buFontTx/>
              <a:buChar char="–"/>
              <a:defRPr/>
            </a:pPr>
            <a:r>
              <a:rPr lang="en-US" sz="2400" kern="0" dirty="0">
                <a:solidFill>
                  <a:srgbClr val="222222"/>
                </a:solidFill>
                <a:latin typeface="Arial"/>
              </a:rPr>
              <a:t>Determine, analyze, prioritize gaps</a:t>
            </a:r>
          </a:p>
          <a:p>
            <a:pPr marL="742950" lvl="1" indent="-285750">
              <a:spcBef>
                <a:spcPct val="20000"/>
              </a:spcBef>
              <a:buFontTx/>
              <a:buChar char="–"/>
              <a:defRPr/>
            </a:pPr>
            <a:r>
              <a:rPr lang="en-US" sz="2400" kern="0" dirty="0">
                <a:solidFill>
                  <a:srgbClr val="222222"/>
                </a:solidFill>
                <a:latin typeface="Arial"/>
              </a:rPr>
              <a:t>Implement action plan</a:t>
            </a:r>
          </a:p>
          <a:p>
            <a:pPr>
              <a:defRPr/>
            </a:pPr>
            <a:endParaRPr lang="en-US" b="1" dirty="0"/>
          </a:p>
        </p:txBody>
      </p:sp>
      <p:sp>
        <p:nvSpPr>
          <p:cNvPr id="58372" name="Slide Number Placeholder 3">
            <a:extLst>
              <a:ext uri="{FF2B5EF4-FFF2-40B4-BE49-F238E27FC236}">
                <a16:creationId xmlns="" xmlns:a16="http://schemas.microsoft.com/office/drawing/2014/main" id="{FAE294F4-BAB9-CB15-04A5-E59CA10DA56C}"/>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759DE442-CC5D-45DA-BDB9-E4BB82ED7592}" type="slidenum">
              <a:rPr lang="en-US" altLang="en-US"/>
              <a:pPr/>
              <a:t>26</a:t>
            </a:fld>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 xmlns:a16="http://schemas.microsoft.com/office/drawing/2014/main" id="{2DFE237A-8E6D-7625-53E7-E067E3C4B59B}"/>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03F30835-44CC-97F8-C03C-B9F2D83E9A51}"/>
              </a:ext>
            </a:extLst>
          </p:cNvPr>
          <p:cNvSpPr>
            <a:spLocks noGrp="1"/>
          </p:cNvSpPr>
          <p:nvPr>
            <p:ph type="body" idx="1"/>
          </p:nvPr>
        </p:nvSpPr>
        <p:spPr/>
        <p:txBody>
          <a:bodyPr/>
          <a:lstStyle/>
          <a:p>
            <a:pPr>
              <a:defRPr/>
            </a:pPr>
            <a:r>
              <a:rPr lang="en-US" b="1" dirty="0"/>
              <a:t>Other Sources of Security Frameworks</a:t>
            </a:r>
          </a:p>
          <a:p>
            <a:pPr marL="342900" indent="-342900">
              <a:spcBef>
                <a:spcPct val="20000"/>
              </a:spcBef>
              <a:buFontTx/>
              <a:buChar char="•"/>
              <a:defRPr/>
            </a:pPr>
            <a:r>
              <a:rPr lang="en-US" sz="2600" kern="0" dirty="0">
                <a:solidFill>
                  <a:srgbClr val="222222"/>
                </a:solidFill>
                <a:latin typeface="Arial"/>
              </a:rPr>
              <a:t>Federal Agency Security Practices (FASP)</a:t>
            </a:r>
          </a:p>
          <a:p>
            <a:pPr marL="342900" indent="-342900">
              <a:spcBef>
                <a:spcPct val="20000"/>
              </a:spcBef>
              <a:buFontTx/>
              <a:buChar char="•"/>
              <a:defRPr/>
            </a:pPr>
            <a:r>
              <a:rPr lang="en-US" sz="2600" kern="0" dirty="0">
                <a:solidFill>
                  <a:srgbClr val="222222"/>
                </a:solidFill>
                <a:latin typeface="Arial"/>
              </a:rPr>
              <a:t>Computer Emergency Response Team Coordination Center (CERT/CC)</a:t>
            </a:r>
          </a:p>
          <a:p>
            <a:pPr marL="342900" indent="-342900">
              <a:spcBef>
                <a:spcPct val="20000"/>
              </a:spcBef>
              <a:buFontTx/>
              <a:buChar char="•"/>
              <a:defRPr/>
            </a:pPr>
            <a:r>
              <a:rPr lang="en-US" sz="2600" kern="0" dirty="0">
                <a:solidFill>
                  <a:srgbClr val="222222"/>
                </a:solidFill>
                <a:latin typeface="Arial"/>
              </a:rPr>
              <a:t>International Association of Professional Security Consultants</a:t>
            </a:r>
          </a:p>
          <a:p>
            <a:pPr>
              <a:defRPr/>
            </a:pPr>
            <a:endParaRPr lang="en-US" b="1" dirty="0"/>
          </a:p>
        </p:txBody>
      </p:sp>
      <p:sp>
        <p:nvSpPr>
          <p:cNvPr id="60420" name="Slide Number Placeholder 3">
            <a:extLst>
              <a:ext uri="{FF2B5EF4-FFF2-40B4-BE49-F238E27FC236}">
                <a16:creationId xmlns="" xmlns:a16="http://schemas.microsoft.com/office/drawing/2014/main" id="{A90DC646-25EA-1DA7-1F98-21B7ECB86CF8}"/>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C7FF99E1-3892-432E-80E0-25442FD51A1A}" type="slidenum">
              <a:rPr lang="en-US" altLang="en-US"/>
              <a:pPr/>
              <a:t>27</a:t>
            </a:fld>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 xmlns:a16="http://schemas.microsoft.com/office/drawing/2014/main" id="{FC4127BF-15AE-783E-E702-62CEDE686129}"/>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E7E960-F5FF-455F-B31F-00953473CBDD}" type="slidenum">
              <a:rPr lang="en-US" altLang="en-US">
                <a:latin typeface="Times New Roman" panose="02020603050405020304" pitchFamily="18" charset="0"/>
              </a:rPr>
              <a:pPr eaLnBrk="1" hangingPunct="1"/>
              <a:t>28</a:t>
            </a:fld>
            <a:endParaRPr lang="en-US" altLang="en-US">
              <a:latin typeface="Times New Roman" panose="02020603050405020304" pitchFamily="18" charset="0"/>
            </a:endParaRPr>
          </a:p>
        </p:txBody>
      </p:sp>
      <p:sp>
        <p:nvSpPr>
          <p:cNvPr id="62467" name="Rectangle 2">
            <a:extLst>
              <a:ext uri="{FF2B5EF4-FFF2-40B4-BE49-F238E27FC236}">
                <a16:creationId xmlns="" xmlns:a16="http://schemas.microsoft.com/office/drawing/2014/main" id="{A475802C-F341-507F-A44E-88409AEE3FFA}"/>
              </a:ext>
            </a:extLst>
          </p:cNvPr>
          <p:cNvSpPr>
            <a:spLocks noGrp="1" noRot="1" noChangeAspect="1" noChangeArrowheads="1" noTextEdit="1"/>
          </p:cNvSpPr>
          <p:nvPr>
            <p:ph type="sldImg"/>
          </p:nvPr>
        </p:nvSpPr>
        <p:spPr>
          <a:ln/>
        </p:spPr>
      </p:sp>
      <p:sp>
        <p:nvSpPr>
          <p:cNvPr id="83972" name="Rectangle 3">
            <a:extLst>
              <a:ext uri="{FF2B5EF4-FFF2-40B4-BE49-F238E27FC236}">
                <a16:creationId xmlns="" xmlns:a16="http://schemas.microsoft.com/office/drawing/2014/main" id="{1249AADB-4D8A-6DB9-FBA5-AC8DC2908BA1}"/>
              </a:ext>
            </a:extLst>
          </p:cNvPr>
          <p:cNvSpPr>
            <a:spLocks noGrp="1" noChangeArrowheads="1"/>
          </p:cNvSpPr>
          <p:nvPr>
            <p:ph type="body" idx="1"/>
          </p:nvPr>
        </p:nvSpPr>
        <p:spPr/>
        <p:txBody>
          <a:bodyPr/>
          <a:lstStyle/>
          <a:p>
            <a:pPr eaLnBrk="1" hangingPunct="1">
              <a:defRPr/>
            </a:pPr>
            <a:r>
              <a:rPr lang="en-US" altLang="en-US" b="1" dirty="0"/>
              <a:t>Design of Security Architecture</a:t>
            </a:r>
          </a:p>
          <a:p>
            <a:pPr marL="342900" indent="-342900">
              <a:spcBef>
                <a:spcPct val="20000"/>
              </a:spcBef>
              <a:buFontTx/>
              <a:buChar char="•"/>
              <a:defRPr/>
            </a:pPr>
            <a:r>
              <a:rPr lang="en-US" altLang="en-US" sz="2600" kern="0" dirty="0">
                <a:solidFill>
                  <a:srgbClr val="222222"/>
                </a:solidFill>
                <a:latin typeface="Arial"/>
              </a:rPr>
              <a:t>Spheres of security: foundation of the security framework</a:t>
            </a:r>
          </a:p>
          <a:p>
            <a:pPr marL="342900" indent="-342900">
              <a:spcBef>
                <a:spcPct val="20000"/>
              </a:spcBef>
              <a:buFontTx/>
              <a:buChar char="•"/>
              <a:defRPr/>
            </a:pPr>
            <a:r>
              <a:rPr lang="en-US" altLang="en-US" sz="2600" kern="0" dirty="0">
                <a:solidFill>
                  <a:srgbClr val="222222"/>
                </a:solidFill>
                <a:latin typeface="Arial"/>
              </a:rPr>
              <a:t>Levels of controls</a:t>
            </a:r>
          </a:p>
          <a:p>
            <a:pPr marL="742950" lvl="1" indent="-285750">
              <a:spcBef>
                <a:spcPct val="20000"/>
              </a:spcBef>
              <a:buFontTx/>
              <a:buChar char="–"/>
              <a:defRPr/>
            </a:pPr>
            <a:r>
              <a:rPr lang="en-US" altLang="en-US" sz="2400" kern="0" dirty="0">
                <a:solidFill>
                  <a:srgbClr val="222222"/>
                </a:solidFill>
                <a:latin typeface="Arial"/>
              </a:rPr>
              <a:t>Management controls set direction and scope of security processes, provide detailed instructions for its conduct</a:t>
            </a:r>
          </a:p>
          <a:p>
            <a:pPr marL="742950" lvl="1" indent="-285750">
              <a:spcBef>
                <a:spcPct val="20000"/>
              </a:spcBef>
              <a:buFontTx/>
              <a:buChar char="–"/>
              <a:defRPr/>
            </a:pPr>
            <a:r>
              <a:rPr lang="en-US" altLang="en-US" sz="2400" kern="0" dirty="0">
                <a:solidFill>
                  <a:srgbClr val="222222"/>
                </a:solidFill>
                <a:latin typeface="Arial"/>
              </a:rPr>
              <a:t>Operational controls address personnel and physical security, and protection of production inputs/outputs</a:t>
            </a:r>
          </a:p>
          <a:p>
            <a:pPr marL="742950" lvl="1" indent="-285750">
              <a:spcBef>
                <a:spcPct val="20000"/>
              </a:spcBef>
              <a:buFontTx/>
              <a:buChar char="–"/>
              <a:defRPr/>
            </a:pPr>
            <a:r>
              <a:rPr lang="en-US" altLang="en-US" sz="2400" kern="0" dirty="0">
                <a:solidFill>
                  <a:srgbClr val="222222"/>
                </a:solidFill>
                <a:latin typeface="Arial"/>
              </a:rPr>
              <a:t>Technical controls are tactical and technical implementations related to designing and integrating security in organization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 xmlns:a16="http://schemas.microsoft.com/office/drawing/2014/main" id="{BE3001A0-6B6D-7A71-F8C6-A1CE5131FAD6}"/>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9A64B96-594F-46DA-ADA3-045F3C67A58B}" type="slidenum">
              <a:rPr lang="en-US" altLang="en-US">
                <a:latin typeface="Times New Roman" panose="02020603050405020304" pitchFamily="18" charset="0"/>
              </a:rPr>
              <a:pPr eaLnBrk="1" hangingPunct="1"/>
              <a:t>29</a:t>
            </a:fld>
            <a:endParaRPr lang="en-US" altLang="en-US">
              <a:latin typeface="Times New Roman" panose="02020603050405020304" pitchFamily="18" charset="0"/>
            </a:endParaRPr>
          </a:p>
        </p:txBody>
      </p:sp>
      <p:sp>
        <p:nvSpPr>
          <p:cNvPr id="64515" name="Rectangle 2">
            <a:extLst>
              <a:ext uri="{FF2B5EF4-FFF2-40B4-BE49-F238E27FC236}">
                <a16:creationId xmlns="" xmlns:a16="http://schemas.microsoft.com/office/drawing/2014/main" id="{41A5F6E5-DF55-24B8-8349-2FB79A9A5B71}"/>
              </a:ext>
            </a:extLst>
          </p:cNvPr>
          <p:cNvSpPr>
            <a:spLocks noGrp="1" noRot="1" noChangeAspect="1" noChangeArrowheads="1" noTextEdit="1"/>
          </p:cNvSpPr>
          <p:nvPr>
            <p:ph type="sldImg"/>
          </p:nvPr>
        </p:nvSpPr>
        <p:spPr>
          <a:ln/>
        </p:spPr>
      </p:sp>
      <p:sp>
        <p:nvSpPr>
          <p:cNvPr id="64516" name="Rectangle 3">
            <a:extLst>
              <a:ext uri="{FF2B5EF4-FFF2-40B4-BE49-F238E27FC236}">
                <a16:creationId xmlns="" xmlns:a16="http://schemas.microsoft.com/office/drawing/2014/main" id="{99B33D9A-ECC2-2C42-16C0-9D9DD9295EB7}"/>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a:t>Figure 6-16, showing the sphere of security, is the foundation of the security framework.</a:t>
            </a:r>
          </a:p>
          <a:p>
            <a:pPr eaLnBrk="1" hangingPunct="1"/>
            <a:r>
              <a:rPr lang="en-US" altLang="en-US"/>
              <a:t>Generally speaking, the sphere of security represents the fact that information is under attack from a variety of sources. The sphere of use, at the left of the figure, illustrates the ways in which people can directly access information; for example, people read hard copies of documents; they also access information through systems, such as the electronic storage of information. </a:t>
            </a:r>
          </a:p>
          <a:p>
            <a:pPr eaLnBrk="1" hangingPunct="1"/>
            <a:r>
              <a:rPr lang="en-US" altLang="en-US"/>
              <a:t>Information, as the most important asset to security, is illustrated at the core of the sphere. Information is always at risk from attacks through the people and computer systems that have direct access to the information. Networks and the Internet represent indirect threats, as exemplified by the fact that a person attempting to access information from the Internet must first go through the local networks and then access systems that contain the information. The sphere of protection, at the right of the figure, illustrates that between each layer of the sphere of use there must exist a layer of protection to prevent access to the inner layer from the outer layer. Each shaded band is a layer of protection and control. For example, the layer labeled “policy education and training” is located between people and the information.</a:t>
            </a:r>
          </a:p>
          <a:p>
            <a:pPr eaLnBrk="1" hangingPunct="1"/>
            <a:r>
              <a:rPr lang="en-US" altLang="en-US"/>
              <a:t>Controls are also implemented between systems and the information, between networks and the computer systems, and between the Internet and internal networks. This reinforces the concept of defense in depth.</a:t>
            </a:r>
          </a:p>
          <a:p>
            <a:pPr eaLnBrk="1" hangingPunct="1"/>
            <a:r>
              <a:rPr lang="en-US" altLang="en-US"/>
              <a:t>As illustrated in the sphere of protection portion of Figure 6-16, a variety of controls can be used to protect the information. The list in the figure is not intended to be comprehensive but illustrates individual safeguards that protect the various systems that are located closer to the center of the sphere. However, as people can directly access each ring as well as the information at the core of the model, people require unique approaches to security.</a:t>
            </a:r>
          </a:p>
          <a:p>
            <a:pPr eaLnBrk="1" hangingPunct="1"/>
            <a:r>
              <a:rPr lang="en-US" altLang="en-US"/>
              <a:t>In fact, the resource of people must become a layer of security, a human firewall that protects the information from unauthorized access and use. The members of the organization must become a safeguard, which is effectively trained, implemented, and maintained, or else they, too, become a threat to the information.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 xmlns:a16="http://schemas.microsoft.com/office/drawing/2014/main" id="{89D49763-37BD-24EB-3BD6-2DA78BF1D457}"/>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5995939-214C-464E-913B-28CFEFD6C389}" type="slidenum">
              <a:rPr lang="en-US" altLang="en-US">
                <a:latin typeface="Times New Roman" panose="02020603050405020304" pitchFamily="18" charset="0"/>
              </a:rPr>
              <a:pPr eaLnBrk="1" hangingPunct="1"/>
              <a:t>30</a:t>
            </a:fld>
            <a:endParaRPr lang="en-US" altLang="en-US">
              <a:latin typeface="Times New Roman" panose="02020603050405020304" pitchFamily="18" charset="0"/>
            </a:endParaRPr>
          </a:p>
        </p:txBody>
      </p:sp>
      <p:sp>
        <p:nvSpPr>
          <p:cNvPr id="66563" name="Rectangle 2">
            <a:extLst>
              <a:ext uri="{FF2B5EF4-FFF2-40B4-BE49-F238E27FC236}">
                <a16:creationId xmlns="" xmlns:a16="http://schemas.microsoft.com/office/drawing/2014/main" id="{F2B8EAB5-0A3E-949F-FE95-E33C41C0238F}"/>
              </a:ext>
            </a:extLst>
          </p:cNvPr>
          <p:cNvSpPr>
            <a:spLocks noGrp="1" noRot="1" noChangeAspect="1" noChangeArrowheads="1" noTextEdit="1"/>
          </p:cNvSpPr>
          <p:nvPr>
            <p:ph type="sldImg"/>
          </p:nvPr>
        </p:nvSpPr>
        <p:spPr>
          <a:ln/>
        </p:spPr>
      </p:sp>
      <p:sp>
        <p:nvSpPr>
          <p:cNvPr id="66564" name="Rectangle 3">
            <a:extLst>
              <a:ext uri="{FF2B5EF4-FFF2-40B4-BE49-F238E27FC236}">
                <a16:creationId xmlns="" xmlns:a16="http://schemas.microsoft.com/office/drawing/2014/main" id="{287B6BB3-9329-CB87-C669-CC6EA1B2FC14}"/>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The Design of Security Architecture</a:t>
            </a:r>
          </a:p>
          <a:p>
            <a:pPr eaLnBrk="1" hangingPunct="1"/>
            <a:r>
              <a:rPr lang="en-US" altLang="en-US"/>
              <a:t>Defense in Depth – One of the foundations of security architectures is the requirement to implement security in layers. Defense in depth requires that the organization establish sufficient security controls and safeguards, so that an intruder faces multiple layers of controls. </a:t>
            </a:r>
          </a:p>
          <a:p>
            <a:pPr eaLnBrk="1" hangingPunct="1"/>
            <a:r>
              <a:rPr lang="en-US" altLang="en-US"/>
              <a:t>Security Perimeter – The point at which an organization’s security protection ends and the outside world begins is referred to as the security perimeter.  Unfortunately, the perimeter does not apply to internal attacks from employee threats or on-site physical threats.  </a:t>
            </a:r>
          </a:p>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 xmlns:a16="http://schemas.microsoft.com/office/drawing/2014/main" id="{A8AA01B6-97D6-4450-E69B-7A1D60B906FF}"/>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 xmlns:a16="http://schemas.microsoft.com/office/drawing/2014/main" id="{2DDC2C30-E69D-2813-5FF3-552E4C55F29D}"/>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p>
        </p:txBody>
      </p:sp>
      <p:sp>
        <p:nvSpPr>
          <p:cNvPr id="68612" name="Slide Number Placeholder 3">
            <a:extLst>
              <a:ext uri="{FF2B5EF4-FFF2-40B4-BE49-F238E27FC236}">
                <a16:creationId xmlns="" xmlns:a16="http://schemas.microsoft.com/office/drawing/2014/main" id="{395E266F-6F9D-B74F-038E-F7AC7FB7F30F}"/>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2250C99-8EC7-4E11-AEC1-C51508C77691}" type="slidenum">
              <a:rPr lang="en-US" altLang="en-US">
                <a:latin typeface="Times New Roman" panose="02020603050405020304" pitchFamily="18" charset="0"/>
              </a:rPr>
              <a:pPr eaLnBrk="1" hangingPunct="1"/>
              <a:t>31</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 xmlns:a16="http://schemas.microsoft.com/office/drawing/2014/main" id="{4A2D8A11-77FA-4973-C2E1-334AD9469ECD}"/>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9E2CF7-165E-4551-A6BF-7DF1F61F227C}" type="slidenum">
              <a:rPr lang="en-US" altLang="en-US">
                <a:latin typeface="Times New Roman" panose="02020603050405020304" pitchFamily="18" charset="0"/>
              </a:rPr>
              <a:pPr eaLnBrk="1" hangingPunct="1"/>
              <a:t>33</a:t>
            </a:fld>
            <a:endParaRPr lang="en-US" altLang="en-US">
              <a:latin typeface="Times New Roman" panose="02020603050405020304" pitchFamily="18" charset="0"/>
            </a:endParaRPr>
          </a:p>
        </p:txBody>
      </p:sp>
      <p:sp>
        <p:nvSpPr>
          <p:cNvPr id="71683" name="Rectangle 2">
            <a:extLst>
              <a:ext uri="{FF2B5EF4-FFF2-40B4-BE49-F238E27FC236}">
                <a16:creationId xmlns="" xmlns:a16="http://schemas.microsoft.com/office/drawing/2014/main" id="{0484D675-9355-D3DA-3411-E10C47AF2019}"/>
              </a:ext>
            </a:extLst>
          </p:cNvPr>
          <p:cNvSpPr>
            <a:spLocks noGrp="1" noRot="1" noChangeAspect="1" noChangeArrowheads="1" noTextEdit="1"/>
          </p:cNvSpPr>
          <p:nvPr>
            <p:ph type="sldImg"/>
          </p:nvPr>
        </p:nvSpPr>
        <p:spPr>
          <a:ln/>
        </p:spPr>
      </p:sp>
      <p:sp>
        <p:nvSpPr>
          <p:cNvPr id="89092" name="Rectangle 3">
            <a:extLst>
              <a:ext uri="{FF2B5EF4-FFF2-40B4-BE49-F238E27FC236}">
                <a16:creationId xmlns="" xmlns:a16="http://schemas.microsoft.com/office/drawing/2014/main" id="{C4D2CCD6-21C2-01A7-44A8-52361FE30D35}"/>
              </a:ext>
            </a:extLst>
          </p:cNvPr>
          <p:cNvSpPr>
            <a:spLocks noGrp="1" noChangeArrowheads="1"/>
          </p:cNvSpPr>
          <p:nvPr>
            <p:ph type="body" idx="1"/>
          </p:nvPr>
        </p:nvSpPr>
        <p:spPr/>
        <p:txBody>
          <a:bodyPr/>
          <a:lstStyle/>
          <a:p>
            <a:pPr eaLnBrk="1" hangingPunct="1">
              <a:defRPr/>
            </a:pPr>
            <a:r>
              <a:rPr lang="en-US" altLang="en-US" b="1" dirty="0"/>
              <a:t>Security Education, Training, and Awareness Program</a:t>
            </a:r>
          </a:p>
          <a:p>
            <a:pPr marL="342900" indent="-342900">
              <a:spcBef>
                <a:spcPct val="20000"/>
              </a:spcBef>
              <a:buFontTx/>
              <a:buChar char="•"/>
              <a:defRPr/>
            </a:pPr>
            <a:r>
              <a:rPr lang="en-US" altLang="en-US" sz="2600" kern="0" dirty="0">
                <a:solidFill>
                  <a:srgbClr val="222222"/>
                </a:solidFill>
                <a:latin typeface="Arial"/>
              </a:rPr>
              <a:t>Once general security policy exists, implement security education, training, and awareness (SETA) program </a:t>
            </a:r>
          </a:p>
          <a:p>
            <a:pPr marL="342900" indent="-342900">
              <a:spcBef>
                <a:spcPct val="20000"/>
              </a:spcBef>
              <a:buFontTx/>
              <a:buChar char="•"/>
              <a:defRPr/>
            </a:pPr>
            <a:r>
              <a:rPr lang="en-US" altLang="en-US" sz="2600" kern="0" dirty="0">
                <a:solidFill>
                  <a:srgbClr val="222222"/>
                </a:solidFill>
                <a:latin typeface="Arial"/>
              </a:rPr>
              <a:t>SETA is a control measure designed to reduce accidental security breaches</a:t>
            </a:r>
          </a:p>
          <a:p>
            <a:pPr marL="342900" indent="-342900">
              <a:spcBef>
                <a:spcPct val="20000"/>
              </a:spcBef>
              <a:buFontTx/>
              <a:buChar char="•"/>
              <a:defRPr/>
            </a:pPr>
            <a:r>
              <a:rPr lang="en-US" altLang="en-US" sz="2600" kern="0" dirty="0">
                <a:solidFill>
                  <a:srgbClr val="222222"/>
                </a:solidFill>
                <a:latin typeface="Arial"/>
              </a:rPr>
              <a:t>The SETA program consists of: security education; security training; and security awareness</a:t>
            </a:r>
          </a:p>
          <a:p>
            <a:pPr marL="342900" indent="-342900">
              <a:spcBef>
                <a:spcPct val="20000"/>
              </a:spcBef>
              <a:buFontTx/>
              <a:buChar char="•"/>
              <a:defRPr/>
            </a:pPr>
            <a:r>
              <a:rPr lang="en-US" altLang="en-US" sz="2600" kern="0" dirty="0">
                <a:solidFill>
                  <a:srgbClr val="222222"/>
                </a:solidFill>
                <a:latin typeface="Arial"/>
              </a:rPr>
              <a:t>Enhances security by improving awareness, developing skills and knowledge, and building in-depth knowledge</a:t>
            </a:r>
          </a:p>
          <a:p>
            <a:pPr eaLnBrk="1" hangingPunct="1">
              <a:defRPr/>
            </a:pPr>
            <a:endParaRPr lang="en-US"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 xmlns:a16="http://schemas.microsoft.com/office/drawing/2014/main" id="{0F282905-35D6-F106-E6EB-CD4DC2E44388}"/>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7B1C21-7BB1-42CC-88C9-D3566C49C5A9}" type="slidenum">
              <a:rPr lang="en-US" altLang="en-US">
                <a:latin typeface="Times New Roman" panose="02020603050405020304" pitchFamily="18" charset="0"/>
              </a:rPr>
              <a:pPr eaLnBrk="1" hangingPunct="1"/>
              <a:t>34</a:t>
            </a:fld>
            <a:endParaRPr lang="en-US" altLang="en-US">
              <a:latin typeface="Times New Roman" panose="02020603050405020304" pitchFamily="18" charset="0"/>
            </a:endParaRPr>
          </a:p>
        </p:txBody>
      </p:sp>
      <p:sp>
        <p:nvSpPr>
          <p:cNvPr id="73731" name="Rectangle 2">
            <a:extLst>
              <a:ext uri="{FF2B5EF4-FFF2-40B4-BE49-F238E27FC236}">
                <a16:creationId xmlns="" xmlns:a16="http://schemas.microsoft.com/office/drawing/2014/main" id="{B839BC5F-86FE-4246-7665-BA2DABE513B0}"/>
              </a:ext>
            </a:extLst>
          </p:cNvPr>
          <p:cNvSpPr>
            <a:spLocks noGrp="1" noRot="1" noChangeAspect="1" noChangeArrowheads="1" noTextEdit="1"/>
          </p:cNvSpPr>
          <p:nvPr>
            <p:ph type="sldImg"/>
          </p:nvPr>
        </p:nvSpPr>
        <p:spPr>
          <a:ln/>
        </p:spPr>
      </p:sp>
      <p:sp>
        <p:nvSpPr>
          <p:cNvPr id="90116" name="Rectangle 3">
            <a:extLst>
              <a:ext uri="{FF2B5EF4-FFF2-40B4-BE49-F238E27FC236}">
                <a16:creationId xmlns="" xmlns:a16="http://schemas.microsoft.com/office/drawing/2014/main" id="{AF78A6C1-86A2-1B4A-C004-ABBA5E66B5D8}"/>
              </a:ext>
            </a:extLst>
          </p:cNvPr>
          <p:cNvSpPr>
            <a:spLocks noGrp="1" noChangeArrowheads="1"/>
          </p:cNvSpPr>
          <p:nvPr>
            <p:ph type="body" idx="1"/>
          </p:nvPr>
        </p:nvSpPr>
        <p:spPr/>
        <p:txBody>
          <a:bodyPr/>
          <a:lstStyle/>
          <a:p>
            <a:pPr eaLnBrk="1" hangingPunct="1">
              <a:defRPr/>
            </a:pPr>
            <a:r>
              <a:rPr lang="en-US" altLang="en-US" b="1" dirty="0"/>
              <a:t>Security Education</a:t>
            </a:r>
          </a:p>
          <a:p>
            <a:pPr marL="342900" indent="-342900">
              <a:spcBef>
                <a:spcPct val="20000"/>
              </a:spcBef>
              <a:buFontTx/>
              <a:buChar char="•"/>
              <a:defRPr/>
            </a:pPr>
            <a:r>
              <a:rPr lang="en-US" altLang="en-US" sz="2600" kern="0" dirty="0">
                <a:solidFill>
                  <a:srgbClr val="222222"/>
                </a:solidFill>
                <a:latin typeface="Arial"/>
              </a:rPr>
              <a:t>Everyone in an organization needs to be trained and aware of information security; not every member needs formal degree or certificate in information security</a:t>
            </a:r>
          </a:p>
          <a:p>
            <a:pPr marL="342900" indent="-342900">
              <a:spcBef>
                <a:spcPct val="20000"/>
              </a:spcBef>
              <a:buFontTx/>
              <a:buChar char="•"/>
              <a:defRPr/>
            </a:pPr>
            <a:r>
              <a:rPr lang="en-US" altLang="en-US" sz="2600" kern="0" dirty="0">
                <a:solidFill>
                  <a:srgbClr val="222222"/>
                </a:solidFill>
                <a:latin typeface="Arial"/>
              </a:rPr>
              <a:t>When formal education is deemed appropriate, an employee can investigate courses in continuing education from local institutions of higher learning</a:t>
            </a:r>
          </a:p>
          <a:p>
            <a:pPr marL="342900" indent="-342900">
              <a:spcBef>
                <a:spcPct val="20000"/>
              </a:spcBef>
              <a:buFontTx/>
              <a:buChar char="•"/>
              <a:defRPr/>
            </a:pPr>
            <a:r>
              <a:rPr lang="en-US" altLang="en-US" sz="2600" kern="0" dirty="0">
                <a:solidFill>
                  <a:srgbClr val="222222"/>
                </a:solidFill>
                <a:latin typeface="Arial"/>
              </a:rPr>
              <a:t>A number of universities have formal coursework in information security</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 xmlns:a16="http://schemas.microsoft.com/office/drawing/2014/main" id="{BF03AF15-3D85-10CC-2C44-6663D2B43945}"/>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E8CB09-FB56-49D2-AE1B-B90DCC631159}" type="slidenum">
              <a:rPr lang="en-US" altLang="en-US">
                <a:latin typeface="Times New Roman" panose="02020603050405020304" pitchFamily="18" charset="0"/>
              </a:rPr>
              <a:pPr eaLnBrk="1" hangingPunct="1"/>
              <a:t>35</a:t>
            </a:fld>
            <a:endParaRPr lang="en-US" altLang="en-US">
              <a:latin typeface="Times New Roman" panose="02020603050405020304" pitchFamily="18" charset="0"/>
            </a:endParaRPr>
          </a:p>
        </p:txBody>
      </p:sp>
      <p:sp>
        <p:nvSpPr>
          <p:cNvPr id="75779" name="Rectangle 2">
            <a:extLst>
              <a:ext uri="{FF2B5EF4-FFF2-40B4-BE49-F238E27FC236}">
                <a16:creationId xmlns="" xmlns:a16="http://schemas.microsoft.com/office/drawing/2014/main" id="{54D94BFF-7160-B3EB-8CA6-37573016D1D3}"/>
              </a:ext>
            </a:extLst>
          </p:cNvPr>
          <p:cNvSpPr>
            <a:spLocks noGrp="1" noRot="1" noChangeAspect="1" noChangeArrowheads="1" noTextEdit="1"/>
          </p:cNvSpPr>
          <p:nvPr>
            <p:ph type="sldImg"/>
          </p:nvPr>
        </p:nvSpPr>
        <p:spPr>
          <a:ln/>
        </p:spPr>
      </p:sp>
      <p:sp>
        <p:nvSpPr>
          <p:cNvPr id="91140" name="Rectangle 3">
            <a:extLst>
              <a:ext uri="{FF2B5EF4-FFF2-40B4-BE49-F238E27FC236}">
                <a16:creationId xmlns="" xmlns:a16="http://schemas.microsoft.com/office/drawing/2014/main" id="{2AB15505-5337-3B62-EF2B-07A33824148C}"/>
              </a:ext>
            </a:extLst>
          </p:cNvPr>
          <p:cNvSpPr>
            <a:spLocks noGrp="1" noChangeArrowheads="1"/>
          </p:cNvSpPr>
          <p:nvPr>
            <p:ph type="body" idx="1"/>
          </p:nvPr>
        </p:nvSpPr>
        <p:spPr/>
        <p:txBody>
          <a:bodyPr/>
          <a:lstStyle/>
          <a:p>
            <a:pPr eaLnBrk="1" hangingPunct="1">
              <a:defRPr/>
            </a:pPr>
            <a:r>
              <a:rPr lang="en-US" altLang="en-US" b="1" dirty="0"/>
              <a:t>Security Training</a:t>
            </a:r>
          </a:p>
          <a:p>
            <a:pPr marL="342900" indent="-342900">
              <a:spcBef>
                <a:spcPct val="20000"/>
              </a:spcBef>
              <a:buFontTx/>
              <a:buChar char="•"/>
              <a:defRPr/>
            </a:pPr>
            <a:r>
              <a:rPr lang="en-US" altLang="en-US" sz="2600" kern="0" dirty="0">
                <a:solidFill>
                  <a:srgbClr val="222222"/>
                </a:solidFill>
                <a:latin typeface="Arial"/>
              </a:rPr>
              <a:t>Provides members of organization with detailed information and hands-on instruction to prepare them to perform their duties securely</a:t>
            </a:r>
          </a:p>
          <a:p>
            <a:pPr marL="342900" indent="-342900">
              <a:spcBef>
                <a:spcPct val="20000"/>
              </a:spcBef>
              <a:buFontTx/>
              <a:buChar char="•"/>
              <a:defRPr/>
            </a:pPr>
            <a:r>
              <a:rPr lang="en-US" altLang="en-US" sz="2600" kern="0" dirty="0">
                <a:solidFill>
                  <a:srgbClr val="222222"/>
                </a:solidFill>
                <a:latin typeface="Arial"/>
              </a:rPr>
              <a:t>Management of information security can develop customized in-house training or outsource the training program</a:t>
            </a:r>
          </a:p>
          <a:p>
            <a:pPr marL="342900" indent="-342900">
              <a:spcBef>
                <a:spcPct val="20000"/>
              </a:spcBef>
              <a:buFontTx/>
              <a:buChar char="•"/>
              <a:defRPr/>
            </a:pPr>
            <a:r>
              <a:rPr lang="en-US" altLang="en-US" sz="2600" kern="0" dirty="0">
                <a:solidFill>
                  <a:srgbClr val="222222"/>
                </a:solidFill>
                <a:latin typeface="Arial"/>
              </a:rPr>
              <a:t>Alternatives to formal training include conferences and programs offered through professional organizations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 xmlns:a16="http://schemas.microsoft.com/office/drawing/2014/main" id="{BE1DDCC6-D1FD-252C-B114-CFAD0A0B5A30}"/>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15B43C6-FA15-471E-A1C5-73E7A26C5704}" type="slidenum">
              <a:rPr lang="en-US" altLang="en-US">
                <a:latin typeface="Times New Roman" panose="02020603050405020304" pitchFamily="18" charset="0"/>
              </a:rPr>
              <a:pPr eaLnBrk="1" hangingPunct="1"/>
              <a:t>36</a:t>
            </a:fld>
            <a:endParaRPr lang="en-US" altLang="en-US">
              <a:latin typeface="Times New Roman" panose="02020603050405020304" pitchFamily="18" charset="0"/>
            </a:endParaRPr>
          </a:p>
        </p:txBody>
      </p:sp>
      <p:sp>
        <p:nvSpPr>
          <p:cNvPr id="77827" name="Rectangle 2">
            <a:extLst>
              <a:ext uri="{FF2B5EF4-FFF2-40B4-BE49-F238E27FC236}">
                <a16:creationId xmlns="" xmlns:a16="http://schemas.microsoft.com/office/drawing/2014/main" id="{98E49EAC-20DB-37DB-8CC6-E0EAF8E11524}"/>
              </a:ext>
            </a:extLst>
          </p:cNvPr>
          <p:cNvSpPr>
            <a:spLocks noGrp="1" noRot="1" noChangeAspect="1" noChangeArrowheads="1" noTextEdit="1"/>
          </p:cNvSpPr>
          <p:nvPr>
            <p:ph type="sldImg"/>
          </p:nvPr>
        </p:nvSpPr>
        <p:spPr>
          <a:ln/>
        </p:spPr>
      </p:sp>
      <p:sp>
        <p:nvSpPr>
          <p:cNvPr id="92164" name="Rectangle 3">
            <a:extLst>
              <a:ext uri="{FF2B5EF4-FFF2-40B4-BE49-F238E27FC236}">
                <a16:creationId xmlns="" xmlns:a16="http://schemas.microsoft.com/office/drawing/2014/main" id="{B5697859-C917-1632-2E35-BA629E1EF407}"/>
              </a:ext>
            </a:extLst>
          </p:cNvPr>
          <p:cNvSpPr>
            <a:spLocks noGrp="1" noChangeArrowheads="1"/>
          </p:cNvSpPr>
          <p:nvPr>
            <p:ph type="body" idx="1"/>
          </p:nvPr>
        </p:nvSpPr>
        <p:spPr/>
        <p:txBody>
          <a:bodyPr/>
          <a:lstStyle/>
          <a:p>
            <a:pPr eaLnBrk="1" hangingPunct="1">
              <a:defRPr/>
            </a:pPr>
            <a:r>
              <a:rPr lang="en-US" altLang="en-US" b="1" dirty="0"/>
              <a:t>Security Awareness</a:t>
            </a:r>
          </a:p>
          <a:p>
            <a:pPr marL="342900" indent="-342900">
              <a:spcBef>
                <a:spcPct val="20000"/>
              </a:spcBef>
              <a:buFontTx/>
              <a:buChar char="•"/>
              <a:defRPr/>
            </a:pPr>
            <a:r>
              <a:rPr lang="en-US" altLang="en-US" sz="2600" kern="0" dirty="0">
                <a:solidFill>
                  <a:srgbClr val="222222"/>
                </a:solidFill>
                <a:latin typeface="Arial"/>
              </a:rPr>
              <a:t>One of least frequently implemented but most beneficial programs is the security awareness program</a:t>
            </a:r>
          </a:p>
          <a:p>
            <a:pPr marL="342900" indent="-342900">
              <a:spcBef>
                <a:spcPct val="20000"/>
              </a:spcBef>
              <a:buFontTx/>
              <a:buChar char="•"/>
              <a:defRPr/>
            </a:pPr>
            <a:r>
              <a:rPr lang="en-US" altLang="en-US" sz="2600" kern="0" dirty="0">
                <a:solidFill>
                  <a:srgbClr val="222222"/>
                </a:solidFill>
                <a:latin typeface="Arial"/>
              </a:rPr>
              <a:t>Designed to keep information security at the forefront of users’ minds </a:t>
            </a:r>
          </a:p>
          <a:p>
            <a:pPr marL="342900" indent="-342900">
              <a:spcBef>
                <a:spcPct val="20000"/>
              </a:spcBef>
              <a:buFontTx/>
              <a:buChar char="•"/>
              <a:defRPr/>
            </a:pPr>
            <a:r>
              <a:rPr lang="en-US" altLang="en-US" sz="2600" kern="0" dirty="0">
                <a:solidFill>
                  <a:srgbClr val="222222"/>
                </a:solidFill>
                <a:latin typeface="Arial"/>
              </a:rPr>
              <a:t>Need not be complicated or expensive</a:t>
            </a:r>
          </a:p>
          <a:p>
            <a:pPr marL="342900" indent="-342900">
              <a:spcBef>
                <a:spcPct val="20000"/>
              </a:spcBef>
              <a:buFontTx/>
              <a:buChar char="•"/>
              <a:defRPr/>
            </a:pPr>
            <a:r>
              <a:rPr lang="en-US" altLang="en-US" sz="2600" kern="0" dirty="0">
                <a:solidFill>
                  <a:srgbClr val="222222"/>
                </a:solidFill>
                <a:latin typeface="Arial"/>
              </a:rPr>
              <a:t>If the program is not actively implemented, employees may begin to neglect security matters and risk of employee accidents and failures likely to increase</a:t>
            </a:r>
          </a:p>
          <a:p>
            <a:pPr eaLnBrk="1" hangingPunct="1">
              <a:defRPr/>
            </a:pPr>
            <a:endParaRPr lang="en-US"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 xmlns:a16="http://schemas.microsoft.com/office/drawing/2014/main" id="{90E33C1A-5F0D-0C2B-EA4F-1F442D883D16}"/>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BA54E5-3D9A-4BC8-B7BC-78C9CA4DC491}" type="slidenum">
              <a:rPr lang="en-US" altLang="en-US">
                <a:latin typeface="Times New Roman" panose="02020603050405020304" pitchFamily="18" charset="0"/>
              </a:rPr>
              <a:pPr eaLnBrk="1" hangingPunct="1"/>
              <a:t>38</a:t>
            </a:fld>
            <a:endParaRPr lang="en-US" altLang="en-US">
              <a:latin typeface="Times New Roman" panose="02020603050405020304" pitchFamily="18" charset="0"/>
            </a:endParaRPr>
          </a:p>
        </p:txBody>
      </p:sp>
      <p:sp>
        <p:nvSpPr>
          <p:cNvPr id="80899" name="Rectangle 2">
            <a:extLst>
              <a:ext uri="{FF2B5EF4-FFF2-40B4-BE49-F238E27FC236}">
                <a16:creationId xmlns="" xmlns:a16="http://schemas.microsoft.com/office/drawing/2014/main" id="{9C3616BE-304B-9A27-2706-9E8B6FC7FA82}"/>
              </a:ext>
            </a:extLst>
          </p:cNvPr>
          <p:cNvSpPr>
            <a:spLocks noGrp="1" noRot="1" noChangeAspect="1" noChangeArrowheads="1" noTextEdit="1"/>
          </p:cNvSpPr>
          <p:nvPr>
            <p:ph type="sldImg"/>
          </p:nvPr>
        </p:nvSpPr>
        <p:spPr>
          <a:ln/>
        </p:spPr>
      </p:sp>
      <p:sp>
        <p:nvSpPr>
          <p:cNvPr id="80900" name="Rectangle 3">
            <a:extLst>
              <a:ext uri="{FF2B5EF4-FFF2-40B4-BE49-F238E27FC236}">
                <a16:creationId xmlns="" xmlns:a16="http://schemas.microsoft.com/office/drawing/2014/main" id="{75801119-2166-9CC9-7679-50565A535186}"/>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ltLang="en-US" b="1"/>
              <a:t>Continuity Strategies</a:t>
            </a:r>
          </a:p>
          <a:p>
            <a:r>
              <a:rPr lang="en-US" altLang="en-US"/>
              <a:t>Incident response plans (IRPs); disaster recovery plans (DRPs); business continuity plans (BCPs)</a:t>
            </a:r>
          </a:p>
          <a:p>
            <a:r>
              <a:rPr lang="en-US" altLang="en-US"/>
              <a:t>Primary functions of above plans </a:t>
            </a:r>
          </a:p>
          <a:p>
            <a:pPr lvl="1"/>
            <a:r>
              <a:rPr lang="en-US" altLang="en-US"/>
              <a:t>IRP focuses on immediate response; if attack escalates or is disastrous, process changes to disaster recovery and BCP</a:t>
            </a:r>
          </a:p>
          <a:p>
            <a:pPr lvl="1"/>
            <a:r>
              <a:rPr lang="en-US" altLang="en-US"/>
              <a:t>DRP typically focuses on restoring systems after disasters occur; as such, is closely associated with BCP</a:t>
            </a:r>
          </a:p>
          <a:p>
            <a:pPr lvl="1"/>
            <a:r>
              <a:rPr lang="en-US" altLang="en-US"/>
              <a:t>BCP occurs concurrently with DRP when damage is major or ongoing, requiring more than simple restoration of information and information resources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 xmlns:a16="http://schemas.microsoft.com/office/drawing/2014/main" id="{41D5CF53-E092-785C-972B-10E773D7451B}"/>
              </a:ext>
            </a:extLst>
          </p:cNvPr>
          <p:cNvSpPr>
            <a:spLocks noGrp="1" noRot="1" noChangeAspect="1" noChangeArrowheads="1" noTextEdit="1"/>
          </p:cNvSpPr>
          <p:nvPr>
            <p:ph type="sldImg"/>
          </p:nvPr>
        </p:nvSpPr>
        <p:spPr>
          <a:ln/>
        </p:spPr>
      </p:sp>
      <p:sp>
        <p:nvSpPr>
          <p:cNvPr id="82947" name="Notes Placeholder 2">
            <a:extLst>
              <a:ext uri="{FF2B5EF4-FFF2-40B4-BE49-F238E27FC236}">
                <a16:creationId xmlns="" xmlns:a16="http://schemas.microsoft.com/office/drawing/2014/main" id="{398271FE-EC49-9E5A-D150-F42952E19850}"/>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p>
        </p:txBody>
      </p:sp>
      <p:sp>
        <p:nvSpPr>
          <p:cNvPr id="82948" name="Slide Number Placeholder 3">
            <a:extLst>
              <a:ext uri="{FF2B5EF4-FFF2-40B4-BE49-F238E27FC236}">
                <a16:creationId xmlns="" xmlns:a16="http://schemas.microsoft.com/office/drawing/2014/main" id="{C50DF702-74E5-9F04-94C4-DB3C77959C2E}"/>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BC041A4-7F9F-4779-831B-04CA2FA0E1E2}" type="slidenum">
              <a:rPr lang="en-US" altLang="en-US">
                <a:latin typeface="Times New Roman" panose="02020603050405020304" pitchFamily="18" charset="0"/>
              </a:rPr>
              <a:pPr eaLnBrk="1" hangingPunct="1"/>
              <a:t>39</a:t>
            </a:fld>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 xmlns:a16="http://schemas.microsoft.com/office/drawing/2014/main" id="{AAA241F4-E555-AD52-3082-29CAEF741E5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275CD5-1A7B-41F7-9CB6-62DA4CC1C479}" type="slidenum">
              <a:rPr lang="en-US" altLang="en-US">
                <a:latin typeface="Times New Roman" panose="02020603050405020304" pitchFamily="18" charset="0"/>
              </a:rPr>
              <a:pPr eaLnBrk="1" hangingPunct="1"/>
              <a:t>40</a:t>
            </a:fld>
            <a:endParaRPr lang="en-US" altLang="en-US">
              <a:latin typeface="Times New Roman" panose="02020603050405020304" pitchFamily="18" charset="0"/>
            </a:endParaRPr>
          </a:p>
        </p:txBody>
      </p:sp>
      <p:sp>
        <p:nvSpPr>
          <p:cNvPr id="84995" name="Rectangle 2">
            <a:extLst>
              <a:ext uri="{FF2B5EF4-FFF2-40B4-BE49-F238E27FC236}">
                <a16:creationId xmlns="" xmlns:a16="http://schemas.microsoft.com/office/drawing/2014/main" id="{E849AB41-3DE9-932E-C83B-849CA1A09C9D}"/>
              </a:ext>
            </a:extLst>
          </p:cNvPr>
          <p:cNvSpPr>
            <a:spLocks noGrp="1" noRot="1" noChangeAspect="1" noChangeArrowheads="1" noTextEdit="1"/>
          </p:cNvSpPr>
          <p:nvPr>
            <p:ph type="sldImg"/>
          </p:nvPr>
        </p:nvSpPr>
        <p:spPr>
          <a:ln/>
        </p:spPr>
      </p:sp>
      <p:sp>
        <p:nvSpPr>
          <p:cNvPr id="84996" name="Rectangle 3">
            <a:extLst>
              <a:ext uri="{FF2B5EF4-FFF2-40B4-BE49-F238E27FC236}">
                <a16:creationId xmlns="" xmlns:a16="http://schemas.microsoft.com/office/drawing/2014/main" id="{9C3906C5-09D4-9F97-B932-B88413699DF4}"/>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Contingency Planning Team</a:t>
            </a:r>
          </a:p>
          <a:p>
            <a:pPr eaLnBrk="1" hangingPunct="1"/>
            <a:r>
              <a:rPr lang="en-US" altLang="en-US"/>
              <a:t>Before any planning can begin, a team has to plan the effort and prepare the resulting documents</a:t>
            </a:r>
          </a:p>
          <a:p>
            <a:pPr eaLnBrk="1" hangingPunct="1"/>
            <a:r>
              <a:rPr lang="en-US" altLang="en-US"/>
              <a:t>Champion - A high-level manager to support, promote, and endorse the findings of the project</a:t>
            </a:r>
          </a:p>
          <a:p>
            <a:pPr eaLnBrk="1" hangingPunct="1"/>
            <a:r>
              <a:rPr lang="en-US" altLang="en-US"/>
              <a:t>Project Manager - Leads the project and makes sure a sound project planning process is used, a complete and useful project plan is developed, and project resources are prudently managed</a:t>
            </a:r>
          </a:p>
          <a:p>
            <a:pPr eaLnBrk="1" hangingPunct="1"/>
            <a:r>
              <a:rPr lang="en-US" altLang="en-US"/>
              <a:t>Team Members - Should be the managers or their representatives from the various communities of interest: business, IT, and information security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 xmlns:a16="http://schemas.microsoft.com/office/drawing/2014/main" id="{C3D6E37B-6FED-722C-59B0-24237971FC9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9378E1-49FE-401E-B61D-CD1A9DBFC7E8}" type="slidenum">
              <a:rPr lang="en-US" altLang="en-US">
                <a:latin typeface="Times New Roman" panose="02020603050405020304" pitchFamily="18" charset="0"/>
              </a:rPr>
              <a:pPr eaLnBrk="1" hangingPunct="1"/>
              <a:t>41</a:t>
            </a:fld>
            <a:endParaRPr lang="en-US" altLang="en-US">
              <a:latin typeface="Times New Roman" panose="02020603050405020304" pitchFamily="18" charset="0"/>
            </a:endParaRPr>
          </a:p>
        </p:txBody>
      </p:sp>
      <p:sp>
        <p:nvSpPr>
          <p:cNvPr id="87043" name="Rectangle 2">
            <a:extLst>
              <a:ext uri="{FF2B5EF4-FFF2-40B4-BE49-F238E27FC236}">
                <a16:creationId xmlns="" xmlns:a16="http://schemas.microsoft.com/office/drawing/2014/main" id="{F812B552-F6BA-069C-1A39-0B3869EA94A9}"/>
              </a:ext>
            </a:extLst>
          </p:cNvPr>
          <p:cNvSpPr>
            <a:spLocks noGrp="1" noRot="1" noChangeAspect="1" noChangeArrowheads="1" noTextEdit="1"/>
          </p:cNvSpPr>
          <p:nvPr>
            <p:ph type="sldImg"/>
          </p:nvPr>
        </p:nvSpPr>
        <p:spPr>
          <a:ln/>
        </p:spPr>
      </p:sp>
      <p:sp>
        <p:nvSpPr>
          <p:cNvPr id="87044" name="Rectangle 3">
            <a:extLst>
              <a:ext uri="{FF2B5EF4-FFF2-40B4-BE49-F238E27FC236}">
                <a16:creationId xmlns="" xmlns:a16="http://schemas.microsoft.com/office/drawing/2014/main" id="{48C80ADC-0B13-B28E-5FD0-67837697D320}"/>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28600" indent="-228600" eaLnBrk="1" hangingPunct="1">
              <a:lnSpc>
                <a:spcPct val="80000"/>
              </a:lnSpc>
            </a:pPr>
            <a:endParaRPr lang="en-US" altLang="en-US"/>
          </a:p>
          <a:p>
            <a:pPr marL="228600" indent="-228600" eaLnBrk="1" hangingPunct="1">
              <a:lnSpc>
                <a:spcPct val="80000"/>
              </a:lnSpc>
            </a:pPr>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a:extLst>
              <a:ext uri="{FF2B5EF4-FFF2-40B4-BE49-F238E27FC236}">
                <a16:creationId xmlns="" xmlns:a16="http://schemas.microsoft.com/office/drawing/2014/main" id="{E4854C74-A1B5-AA90-0FE1-7CBC34596D56}"/>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4709EBB7-869C-1F98-35F5-9E10D10EBD24}"/>
              </a:ext>
            </a:extLst>
          </p:cNvPr>
          <p:cNvSpPr>
            <a:spLocks noGrp="1"/>
          </p:cNvSpPr>
          <p:nvPr>
            <p:ph type="body" idx="1"/>
          </p:nvPr>
        </p:nvSpPr>
        <p:spPr/>
        <p:txBody>
          <a:bodyPr/>
          <a:lstStyle/>
          <a:p>
            <a:pPr>
              <a:defRPr/>
            </a:pPr>
            <a:r>
              <a:rPr lang="en-US" b="1" dirty="0"/>
              <a:t>Contingency Planning Process</a:t>
            </a:r>
          </a:p>
          <a:p>
            <a:pPr marL="342900" indent="-342900">
              <a:spcBef>
                <a:spcPct val="20000"/>
              </a:spcBef>
              <a:buFontTx/>
              <a:buChar char="•"/>
              <a:defRPr/>
            </a:pPr>
            <a:r>
              <a:rPr lang="en-US" sz="2600" kern="0" dirty="0">
                <a:solidFill>
                  <a:srgbClr val="222222"/>
                </a:solidFill>
                <a:latin typeface="Arial"/>
              </a:rPr>
              <a:t>Includes following steps:</a:t>
            </a:r>
          </a:p>
          <a:p>
            <a:pPr marL="742950" lvl="1" indent="-285750">
              <a:spcBef>
                <a:spcPct val="20000"/>
              </a:spcBef>
              <a:buFontTx/>
              <a:buChar char="–"/>
              <a:defRPr/>
            </a:pPr>
            <a:r>
              <a:rPr lang="en-US" sz="2400" kern="0" dirty="0">
                <a:solidFill>
                  <a:srgbClr val="222222"/>
                </a:solidFill>
                <a:latin typeface="Arial"/>
              </a:rPr>
              <a:t>Develop CP policy statement</a:t>
            </a:r>
          </a:p>
          <a:p>
            <a:pPr marL="742950" lvl="1" indent="-285750">
              <a:spcBef>
                <a:spcPct val="20000"/>
              </a:spcBef>
              <a:buFontTx/>
              <a:buChar char="–"/>
              <a:defRPr/>
            </a:pPr>
            <a:r>
              <a:rPr lang="en-US" sz="2400" kern="0" dirty="0">
                <a:solidFill>
                  <a:srgbClr val="222222"/>
                </a:solidFill>
                <a:latin typeface="Arial"/>
              </a:rPr>
              <a:t>Conduct business impact analysis</a:t>
            </a:r>
          </a:p>
          <a:p>
            <a:pPr marL="742950" lvl="1" indent="-285750">
              <a:spcBef>
                <a:spcPct val="20000"/>
              </a:spcBef>
              <a:buFontTx/>
              <a:buChar char="–"/>
              <a:defRPr/>
            </a:pPr>
            <a:r>
              <a:rPr lang="en-US" sz="2400" kern="0" dirty="0">
                <a:solidFill>
                  <a:srgbClr val="222222"/>
                </a:solidFill>
                <a:latin typeface="Arial"/>
              </a:rPr>
              <a:t>Identify preventive controls </a:t>
            </a:r>
          </a:p>
          <a:p>
            <a:pPr marL="742950" lvl="1" indent="-285750">
              <a:spcBef>
                <a:spcPct val="20000"/>
              </a:spcBef>
              <a:buFontTx/>
              <a:buChar char="–"/>
              <a:defRPr/>
            </a:pPr>
            <a:r>
              <a:rPr lang="en-US" sz="2400" kern="0" dirty="0">
                <a:solidFill>
                  <a:srgbClr val="222222"/>
                </a:solidFill>
                <a:latin typeface="Arial"/>
              </a:rPr>
              <a:t>Create contingency strategies</a:t>
            </a:r>
          </a:p>
          <a:p>
            <a:pPr marL="742950" lvl="1" indent="-285750">
              <a:spcBef>
                <a:spcPct val="20000"/>
              </a:spcBef>
              <a:buFontTx/>
              <a:buChar char="–"/>
              <a:defRPr/>
            </a:pPr>
            <a:r>
              <a:rPr lang="en-US" sz="2400" kern="0" dirty="0">
                <a:solidFill>
                  <a:srgbClr val="222222"/>
                </a:solidFill>
                <a:latin typeface="Arial"/>
              </a:rPr>
              <a:t>Develop contingency plan</a:t>
            </a:r>
          </a:p>
          <a:p>
            <a:pPr marL="742950" lvl="1" indent="-285750">
              <a:spcBef>
                <a:spcPct val="20000"/>
              </a:spcBef>
              <a:buFontTx/>
              <a:buChar char="–"/>
              <a:defRPr/>
            </a:pPr>
            <a:r>
              <a:rPr lang="en-US" sz="2400" kern="0" dirty="0">
                <a:solidFill>
                  <a:srgbClr val="222222"/>
                </a:solidFill>
                <a:latin typeface="Arial"/>
              </a:rPr>
              <a:t>Ensure plan testing, training, and exercises</a:t>
            </a:r>
          </a:p>
          <a:p>
            <a:pPr marL="742950" lvl="1" indent="-285750">
              <a:spcBef>
                <a:spcPct val="20000"/>
              </a:spcBef>
              <a:buFontTx/>
              <a:buChar char="–"/>
              <a:defRPr/>
            </a:pPr>
            <a:r>
              <a:rPr lang="en-US" sz="2400" kern="0" dirty="0">
                <a:solidFill>
                  <a:srgbClr val="222222"/>
                </a:solidFill>
                <a:latin typeface="Arial"/>
              </a:rPr>
              <a:t>Ensure plan maintenance</a:t>
            </a:r>
          </a:p>
          <a:p>
            <a:pPr>
              <a:defRPr/>
            </a:pPr>
            <a:endParaRPr lang="en-US" b="1" dirty="0"/>
          </a:p>
        </p:txBody>
      </p:sp>
      <p:sp>
        <p:nvSpPr>
          <p:cNvPr id="89092" name="Slide Number Placeholder 3">
            <a:extLst>
              <a:ext uri="{FF2B5EF4-FFF2-40B4-BE49-F238E27FC236}">
                <a16:creationId xmlns="" xmlns:a16="http://schemas.microsoft.com/office/drawing/2014/main" id="{DF6EFF82-3578-606E-7076-53182DA93245}"/>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F5CE49A-7600-4B54-81BA-3AE1C3B4175A}" type="slidenum">
              <a:rPr lang="en-US" altLang="en-US"/>
              <a:pPr/>
              <a:t>42</a:t>
            </a:fld>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 xmlns:a16="http://schemas.microsoft.com/office/drawing/2014/main" id="{617E3793-5E59-DAD9-D312-71E0242D4D2B}"/>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470060EF-1F2F-50D8-4C8B-2C4B2EA7F8C4}"/>
              </a:ext>
            </a:extLst>
          </p:cNvPr>
          <p:cNvSpPr>
            <a:spLocks noGrp="1"/>
          </p:cNvSpPr>
          <p:nvPr>
            <p:ph type="body" idx="1"/>
          </p:nvPr>
        </p:nvSpPr>
        <p:spPr/>
        <p:txBody>
          <a:bodyPr/>
          <a:lstStyle/>
          <a:p>
            <a:pPr>
              <a:defRPr/>
            </a:pPr>
            <a:r>
              <a:rPr lang="en-US" b="1" dirty="0"/>
              <a:t>CP Policy</a:t>
            </a:r>
          </a:p>
          <a:p>
            <a:pPr marL="342900" indent="-342900">
              <a:spcBef>
                <a:spcPct val="20000"/>
              </a:spcBef>
              <a:buFontTx/>
              <a:buChar char="•"/>
              <a:defRPr/>
            </a:pPr>
            <a:r>
              <a:rPr lang="en-US" sz="2400" kern="0" dirty="0">
                <a:solidFill>
                  <a:srgbClr val="222222"/>
                </a:solidFill>
                <a:latin typeface="Arial"/>
              </a:rPr>
              <a:t>Should contain following sections:</a:t>
            </a:r>
          </a:p>
          <a:p>
            <a:pPr marL="742950" lvl="1" indent="-285750">
              <a:spcBef>
                <a:spcPct val="20000"/>
              </a:spcBef>
              <a:buFontTx/>
              <a:buChar char="–"/>
              <a:defRPr/>
            </a:pPr>
            <a:r>
              <a:rPr lang="en-US" sz="2000" kern="0" dirty="0">
                <a:solidFill>
                  <a:srgbClr val="222222"/>
                </a:solidFill>
                <a:latin typeface="Arial"/>
              </a:rPr>
              <a:t>Introductory statement of philosophical perspective</a:t>
            </a:r>
          </a:p>
          <a:p>
            <a:pPr marL="742950" lvl="1" indent="-285750">
              <a:spcBef>
                <a:spcPct val="20000"/>
              </a:spcBef>
              <a:buFontTx/>
              <a:buChar char="–"/>
              <a:defRPr/>
            </a:pPr>
            <a:r>
              <a:rPr lang="en-US" sz="2000" kern="0" dirty="0">
                <a:solidFill>
                  <a:srgbClr val="222222"/>
                </a:solidFill>
                <a:latin typeface="Arial"/>
              </a:rPr>
              <a:t>Statement of scope/purpose</a:t>
            </a:r>
          </a:p>
          <a:p>
            <a:pPr marL="742950" lvl="1" indent="-285750">
              <a:spcBef>
                <a:spcPct val="20000"/>
              </a:spcBef>
              <a:buFontTx/>
              <a:buChar char="–"/>
              <a:defRPr/>
            </a:pPr>
            <a:r>
              <a:rPr lang="en-US" sz="2000" kern="0" dirty="0">
                <a:solidFill>
                  <a:srgbClr val="222222"/>
                </a:solidFill>
                <a:latin typeface="Arial"/>
              </a:rPr>
              <a:t>Call for periodic risk assessment/BIA</a:t>
            </a:r>
          </a:p>
          <a:p>
            <a:pPr marL="742950" lvl="1" indent="-285750">
              <a:spcBef>
                <a:spcPct val="20000"/>
              </a:spcBef>
              <a:buFontTx/>
              <a:buChar char="–"/>
              <a:defRPr/>
            </a:pPr>
            <a:r>
              <a:rPr lang="en-US" sz="2000" kern="0" dirty="0">
                <a:solidFill>
                  <a:srgbClr val="222222"/>
                </a:solidFill>
                <a:latin typeface="Arial"/>
              </a:rPr>
              <a:t>Specification of CP’s major components</a:t>
            </a:r>
          </a:p>
          <a:p>
            <a:pPr marL="742950" lvl="1" indent="-285750">
              <a:spcBef>
                <a:spcPct val="20000"/>
              </a:spcBef>
              <a:buFontTx/>
              <a:buChar char="–"/>
              <a:defRPr/>
            </a:pPr>
            <a:r>
              <a:rPr lang="en-US" sz="2000" kern="0" dirty="0">
                <a:solidFill>
                  <a:srgbClr val="222222"/>
                </a:solidFill>
                <a:latin typeface="Arial"/>
              </a:rPr>
              <a:t>Call for/guidance in selection of recover options</a:t>
            </a:r>
          </a:p>
          <a:p>
            <a:pPr marL="742950" lvl="1" indent="-285750">
              <a:spcBef>
                <a:spcPct val="20000"/>
              </a:spcBef>
              <a:buFontTx/>
              <a:buChar char="–"/>
              <a:defRPr/>
            </a:pPr>
            <a:r>
              <a:rPr lang="en-US" sz="2000" kern="0" dirty="0">
                <a:solidFill>
                  <a:srgbClr val="222222"/>
                </a:solidFill>
                <a:latin typeface="Arial"/>
              </a:rPr>
              <a:t>Requirement to test various plans regularly</a:t>
            </a:r>
          </a:p>
          <a:p>
            <a:pPr marL="742950" lvl="1" indent="-285750">
              <a:spcBef>
                <a:spcPct val="20000"/>
              </a:spcBef>
              <a:buFontTx/>
              <a:buChar char="–"/>
              <a:defRPr/>
            </a:pPr>
            <a:r>
              <a:rPr lang="en-US" sz="2000" kern="0" dirty="0">
                <a:solidFill>
                  <a:srgbClr val="222222"/>
                </a:solidFill>
                <a:latin typeface="Arial"/>
              </a:rPr>
              <a:t>Identification of key regulations and standards</a:t>
            </a:r>
          </a:p>
          <a:p>
            <a:pPr marL="742950" lvl="1" indent="-285750">
              <a:spcBef>
                <a:spcPct val="20000"/>
              </a:spcBef>
              <a:buFontTx/>
              <a:buChar char="–"/>
              <a:defRPr/>
            </a:pPr>
            <a:r>
              <a:rPr lang="en-US" sz="2000" kern="0" dirty="0">
                <a:solidFill>
                  <a:srgbClr val="222222"/>
                </a:solidFill>
                <a:latin typeface="Arial"/>
              </a:rPr>
              <a:t>Identification of key people responsible for CP operations</a:t>
            </a:r>
          </a:p>
          <a:p>
            <a:pPr marL="742950" lvl="1" indent="-285750">
              <a:spcBef>
                <a:spcPct val="20000"/>
              </a:spcBef>
              <a:buFontTx/>
              <a:buChar char="–"/>
              <a:defRPr/>
            </a:pPr>
            <a:r>
              <a:rPr lang="en-US" sz="2000" kern="0" dirty="0">
                <a:solidFill>
                  <a:srgbClr val="222222"/>
                </a:solidFill>
                <a:latin typeface="Arial"/>
              </a:rPr>
              <a:t>Challenge to organization members for support</a:t>
            </a:r>
          </a:p>
          <a:p>
            <a:pPr marL="742950" lvl="1" indent="-285750">
              <a:spcBef>
                <a:spcPct val="20000"/>
              </a:spcBef>
              <a:buFontTx/>
              <a:buChar char="–"/>
              <a:defRPr/>
            </a:pPr>
            <a:r>
              <a:rPr lang="en-US" sz="2000" kern="0" dirty="0">
                <a:solidFill>
                  <a:srgbClr val="222222"/>
                </a:solidFill>
                <a:latin typeface="Arial"/>
              </a:rPr>
              <a:t>Administrative information</a:t>
            </a:r>
          </a:p>
          <a:p>
            <a:pPr>
              <a:defRPr/>
            </a:pPr>
            <a:endParaRPr lang="en-US" b="1" dirty="0"/>
          </a:p>
        </p:txBody>
      </p:sp>
      <p:sp>
        <p:nvSpPr>
          <p:cNvPr id="92164" name="Slide Number Placeholder 3">
            <a:extLst>
              <a:ext uri="{FF2B5EF4-FFF2-40B4-BE49-F238E27FC236}">
                <a16:creationId xmlns="" xmlns:a16="http://schemas.microsoft.com/office/drawing/2014/main" id="{01DBD825-FAB0-2B77-6DC2-A3A91ACC8962}"/>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29A12719-1AD2-4E21-80D3-5484A7D6A731}" type="slidenum">
              <a:rPr lang="en-US" altLang="en-US"/>
              <a:pPr/>
              <a:t>44</a:t>
            </a:fld>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 xmlns:a16="http://schemas.microsoft.com/office/drawing/2014/main" id="{65014FD8-AE24-C257-8C40-85034ABEF772}"/>
              </a:ext>
            </a:extLst>
          </p:cNvPr>
          <p:cNvSpPr>
            <a:spLocks noGrp="1" noRot="1" noChangeAspect="1" noChangeArrowheads="1" noTextEdit="1"/>
          </p:cNvSpPr>
          <p:nvPr>
            <p:ph type="sldImg"/>
          </p:nvPr>
        </p:nvSpPr>
        <p:spPr>
          <a:ln/>
        </p:spPr>
      </p:sp>
      <p:sp>
        <p:nvSpPr>
          <p:cNvPr id="94211" name="Notes Placeholder 2">
            <a:extLst>
              <a:ext uri="{FF2B5EF4-FFF2-40B4-BE49-F238E27FC236}">
                <a16:creationId xmlns="" xmlns:a16="http://schemas.microsoft.com/office/drawing/2014/main" id="{7FC79798-D5F0-2CA6-370B-9E08089CE262}"/>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p>
        </p:txBody>
      </p:sp>
      <p:sp>
        <p:nvSpPr>
          <p:cNvPr id="94212" name="Slide Number Placeholder 3">
            <a:extLst>
              <a:ext uri="{FF2B5EF4-FFF2-40B4-BE49-F238E27FC236}">
                <a16:creationId xmlns="" xmlns:a16="http://schemas.microsoft.com/office/drawing/2014/main" id="{F94F989C-8544-2E7F-818A-0E297C28200B}"/>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784FB8-AA9D-4205-81BE-94F42B45D96C}" type="slidenum">
              <a:rPr lang="en-US" altLang="en-US">
                <a:latin typeface="Times New Roman" panose="02020603050405020304" pitchFamily="18" charset="0"/>
              </a:rPr>
              <a:pPr eaLnBrk="1" hangingPunct="1"/>
              <a:t>45</a:t>
            </a:fld>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 xmlns:a16="http://schemas.microsoft.com/office/drawing/2014/main" id="{4C7B9AD5-9016-EA53-F76E-51B1A0F7CD7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567185-7D96-4398-B73F-565FE60807A9}" type="slidenum">
              <a:rPr lang="en-US" altLang="en-US">
                <a:latin typeface="Times New Roman" panose="02020603050405020304" pitchFamily="18" charset="0"/>
              </a:rPr>
              <a:pPr eaLnBrk="1" hangingPunct="1"/>
              <a:t>47</a:t>
            </a:fld>
            <a:endParaRPr lang="en-US" altLang="en-US">
              <a:latin typeface="Times New Roman" panose="02020603050405020304" pitchFamily="18" charset="0"/>
            </a:endParaRPr>
          </a:p>
        </p:txBody>
      </p:sp>
      <p:sp>
        <p:nvSpPr>
          <p:cNvPr id="97283" name="Rectangle 2">
            <a:extLst>
              <a:ext uri="{FF2B5EF4-FFF2-40B4-BE49-F238E27FC236}">
                <a16:creationId xmlns="" xmlns:a16="http://schemas.microsoft.com/office/drawing/2014/main" id="{DA5CF3D7-45F4-C63F-2E9F-D0E25F77E842}"/>
              </a:ext>
            </a:extLst>
          </p:cNvPr>
          <p:cNvSpPr>
            <a:spLocks noGrp="1" noRot="1" noChangeAspect="1" noChangeArrowheads="1" noTextEdit="1"/>
          </p:cNvSpPr>
          <p:nvPr>
            <p:ph type="sldImg"/>
          </p:nvPr>
        </p:nvSpPr>
        <p:spPr>
          <a:ln/>
        </p:spPr>
      </p:sp>
      <p:sp>
        <p:nvSpPr>
          <p:cNvPr id="97284" name="Rectangle 3">
            <a:extLst>
              <a:ext uri="{FF2B5EF4-FFF2-40B4-BE49-F238E27FC236}">
                <a16:creationId xmlns="" xmlns:a16="http://schemas.microsoft.com/office/drawing/2014/main" id="{58C47C1F-EAAE-C78E-5EE3-CF919E2843BD}"/>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Incident Response Planning</a:t>
            </a:r>
          </a:p>
          <a:p>
            <a:pPr eaLnBrk="1" hangingPunct="1">
              <a:lnSpc>
                <a:spcPct val="80000"/>
              </a:lnSpc>
            </a:pPr>
            <a:r>
              <a:rPr lang="en-US" altLang="en-US"/>
              <a:t>Incident response planning covers the identification of, classification of, and response to an incident. </a:t>
            </a:r>
          </a:p>
          <a:p>
            <a:pPr eaLnBrk="1" hangingPunct="1">
              <a:lnSpc>
                <a:spcPct val="80000"/>
              </a:lnSpc>
            </a:pPr>
            <a:r>
              <a:rPr lang="en-US" altLang="en-US"/>
              <a:t>The IRP is made up of activities that are to be performed when an incident has been identified.</a:t>
            </a:r>
          </a:p>
          <a:p>
            <a:pPr eaLnBrk="1" hangingPunct="1">
              <a:lnSpc>
                <a:spcPct val="80000"/>
              </a:lnSpc>
            </a:pPr>
            <a:r>
              <a:rPr lang="en-US" altLang="en-US"/>
              <a:t>An incident is an attack against an information asset that poses a clear threat to the confidentiality, integrity, or availability of information resources. </a:t>
            </a:r>
          </a:p>
          <a:p>
            <a:pPr eaLnBrk="1" hangingPunct="1">
              <a:lnSpc>
                <a:spcPct val="80000"/>
              </a:lnSpc>
            </a:pPr>
            <a:r>
              <a:rPr lang="en-US" altLang="en-US"/>
              <a:t>Attacks are only classified as incidents if they have the following characteristics:</a:t>
            </a:r>
          </a:p>
          <a:p>
            <a:pPr eaLnBrk="1" hangingPunct="1">
              <a:lnSpc>
                <a:spcPct val="80000"/>
              </a:lnSpc>
              <a:buFontTx/>
              <a:buChar char="•"/>
            </a:pPr>
            <a:r>
              <a:rPr lang="en-US" altLang="en-US"/>
              <a:t>Are directed against information assets</a:t>
            </a:r>
          </a:p>
          <a:p>
            <a:pPr eaLnBrk="1" hangingPunct="1">
              <a:lnSpc>
                <a:spcPct val="80000"/>
              </a:lnSpc>
              <a:buFontTx/>
              <a:buChar char="•"/>
            </a:pPr>
            <a:r>
              <a:rPr lang="en-US" altLang="en-US"/>
              <a:t>Have a realistic chance of success</a:t>
            </a:r>
          </a:p>
          <a:p>
            <a:pPr eaLnBrk="1" hangingPunct="1">
              <a:lnSpc>
                <a:spcPct val="80000"/>
              </a:lnSpc>
              <a:buFontTx/>
              <a:buChar char="•"/>
            </a:pPr>
            <a:r>
              <a:rPr lang="en-US" altLang="en-US"/>
              <a:t>Could threaten the confidentiality, integrity, or availability of information resources.</a:t>
            </a:r>
          </a:p>
          <a:p>
            <a:pPr eaLnBrk="1" hangingPunct="1"/>
            <a:r>
              <a:rPr lang="en-US" altLang="en-US"/>
              <a:t>Incident response (IR) is the set of activities taken to plan for, detect, and correct the impact of an incident on information resources. </a:t>
            </a:r>
          </a:p>
          <a:p>
            <a:pPr eaLnBrk="1" hangingPunct="1"/>
            <a:r>
              <a:rPr lang="en-US" altLang="en-US"/>
              <a:t>IR is more reactive than proactive, with the exception of the planning that must occur to prepare the IR teams to be ready to react to an incident.</a:t>
            </a:r>
          </a:p>
          <a:p>
            <a:pPr eaLnBrk="1" hangingPunct="1"/>
            <a:r>
              <a:rPr lang="en-US" altLang="en-US"/>
              <a:t>Planning for an incident requires a detailed understanding of the scenarios developed for the BIA.</a:t>
            </a:r>
          </a:p>
          <a:p>
            <a:pPr eaLnBrk="1" hangingPunct="1"/>
            <a:endParaRPr lang="en-US" altLang="en-US"/>
          </a:p>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a:extLst>
              <a:ext uri="{FF2B5EF4-FFF2-40B4-BE49-F238E27FC236}">
                <a16:creationId xmlns="" xmlns:a16="http://schemas.microsoft.com/office/drawing/2014/main" id="{69831C3A-28BE-61EE-688D-1075A01B149E}"/>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0ED51670-3E91-C804-83B4-F5EA62F1B9A8}"/>
              </a:ext>
            </a:extLst>
          </p:cNvPr>
          <p:cNvSpPr>
            <a:spLocks noGrp="1"/>
          </p:cNvSpPr>
          <p:nvPr>
            <p:ph type="body" idx="1"/>
          </p:nvPr>
        </p:nvSpPr>
        <p:spPr/>
        <p:txBody>
          <a:bodyPr/>
          <a:lstStyle/>
          <a:p>
            <a:pPr>
              <a:defRPr/>
            </a:pPr>
            <a:r>
              <a:rPr lang="en-US" b="1" dirty="0"/>
              <a:t>IR Planning</a:t>
            </a:r>
          </a:p>
          <a:p>
            <a:pPr marL="342900" indent="-342900">
              <a:spcBef>
                <a:spcPct val="20000"/>
              </a:spcBef>
              <a:buFontTx/>
              <a:buChar char="•"/>
              <a:defRPr/>
            </a:pPr>
            <a:r>
              <a:rPr lang="en-US" sz="2600" kern="0" dirty="0">
                <a:solidFill>
                  <a:srgbClr val="222222"/>
                </a:solidFill>
                <a:latin typeface="Arial"/>
              </a:rPr>
              <a:t>Incident response policy identifies following key components</a:t>
            </a:r>
          </a:p>
          <a:p>
            <a:pPr marL="742950" lvl="1" indent="-285750">
              <a:spcBef>
                <a:spcPct val="20000"/>
              </a:spcBef>
              <a:buFontTx/>
              <a:buChar char="–"/>
              <a:defRPr/>
            </a:pPr>
            <a:r>
              <a:rPr lang="en-US" sz="2400" kern="0" dirty="0">
                <a:solidFill>
                  <a:srgbClr val="222222"/>
                </a:solidFill>
                <a:latin typeface="Arial"/>
              </a:rPr>
              <a:t>Statement of management commitment </a:t>
            </a:r>
          </a:p>
          <a:p>
            <a:pPr marL="742950" lvl="1" indent="-285750">
              <a:spcBef>
                <a:spcPct val="20000"/>
              </a:spcBef>
              <a:buFontTx/>
              <a:buChar char="–"/>
              <a:defRPr/>
            </a:pPr>
            <a:r>
              <a:rPr lang="en-US" sz="2400" kern="0" dirty="0">
                <a:solidFill>
                  <a:srgbClr val="222222"/>
                </a:solidFill>
                <a:latin typeface="Arial"/>
              </a:rPr>
              <a:t>Purpose/objectives of policy</a:t>
            </a:r>
          </a:p>
          <a:p>
            <a:pPr marL="742950" lvl="1" indent="-285750">
              <a:spcBef>
                <a:spcPct val="20000"/>
              </a:spcBef>
              <a:buFontTx/>
              <a:buChar char="–"/>
              <a:defRPr/>
            </a:pPr>
            <a:r>
              <a:rPr lang="en-US" sz="2400" kern="0" dirty="0">
                <a:solidFill>
                  <a:srgbClr val="222222"/>
                </a:solidFill>
                <a:latin typeface="Arial"/>
              </a:rPr>
              <a:t>Scope of policy</a:t>
            </a:r>
          </a:p>
          <a:p>
            <a:pPr marL="742950" lvl="1" indent="-285750">
              <a:spcBef>
                <a:spcPct val="20000"/>
              </a:spcBef>
              <a:buFontTx/>
              <a:buChar char="–"/>
              <a:defRPr/>
            </a:pPr>
            <a:r>
              <a:rPr lang="en-US" sz="2400" kern="0" dirty="0">
                <a:solidFill>
                  <a:srgbClr val="222222"/>
                </a:solidFill>
                <a:latin typeface="Arial"/>
              </a:rPr>
              <a:t>Definition of InfoSec incidents and related terms</a:t>
            </a:r>
          </a:p>
          <a:p>
            <a:pPr marL="742950" lvl="1" indent="-285750">
              <a:spcBef>
                <a:spcPct val="20000"/>
              </a:spcBef>
              <a:buFontTx/>
              <a:buChar char="–"/>
              <a:defRPr/>
            </a:pPr>
            <a:r>
              <a:rPr lang="en-US" sz="2400" kern="0" dirty="0">
                <a:solidFill>
                  <a:srgbClr val="222222"/>
                </a:solidFill>
                <a:latin typeface="Arial"/>
              </a:rPr>
              <a:t>Organizational structure</a:t>
            </a:r>
          </a:p>
          <a:p>
            <a:pPr marL="742950" lvl="1" indent="-285750">
              <a:spcBef>
                <a:spcPct val="20000"/>
              </a:spcBef>
              <a:buFontTx/>
              <a:buChar char="–"/>
              <a:defRPr/>
            </a:pPr>
            <a:r>
              <a:rPr lang="en-US" sz="2400" kern="0" dirty="0">
                <a:solidFill>
                  <a:srgbClr val="222222"/>
                </a:solidFill>
                <a:latin typeface="Arial"/>
              </a:rPr>
              <a:t>Prioritization or severity ratings of incidents</a:t>
            </a:r>
          </a:p>
          <a:p>
            <a:pPr marL="742950" lvl="1" indent="-285750">
              <a:spcBef>
                <a:spcPct val="20000"/>
              </a:spcBef>
              <a:buFontTx/>
              <a:buChar char="–"/>
              <a:defRPr/>
            </a:pPr>
            <a:r>
              <a:rPr lang="en-US" sz="2400" kern="0" dirty="0">
                <a:solidFill>
                  <a:srgbClr val="222222"/>
                </a:solidFill>
                <a:latin typeface="Arial"/>
              </a:rPr>
              <a:t>Performance measures</a:t>
            </a:r>
          </a:p>
          <a:p>
            <a:pPr marL="742950" lvl="1" indent="-285750">
              <a:spcBef>
                <a:spcPct val="20000"/>
              </a:spcBef>
              <a:buFontTx/>
              <a:buChar char="–"/>
              <a:defRPr/>
            </a:pPr>
            <a:r>
              <a:rPr lang="en-US" sz="2400" kern="0" dirty="0">
                <a:solidFill>
                  <a:srgbClr val="222222"/>
                </a:solidFill>
                <a:latin typeface="Arial"/>
              </a:rPr>
              <a:t>Reporting and contact forms</a:t>
            </a:r>
          </a:p>
          <a:p>
            <a:pPr>
              <a:defRPr/>
            </a:pPr>
            <a:endParaRPr lang="en-US" b="1" dirty="0"/>
          </a:p>
        </p:txBody>
      </p:sp>
      <p:sp>
        <p:nvSpPr>
          <p:cNvPr id="99332" name="Slide Number Placeholder 3">
            <a:extLst>
              <a:ext uri="{FF2B5EF4-FFF2-40B4-BE49-F238E27FC236}">
                <a16:creationId xmlns="" xmlns:a16="http://schemas.microsoft.com/office/drawing/2014/main" id="{EC170B9E-A448-568B-5C53-049289FB1523}"/>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4A5DE959-53F7-4832-A26F-FD5B18F428F3}" type="slidenum">
              <a:rPr lang="en-US" altLang="en-US"/>
              <a:pPr/>
              <a:t>48</a:t>
            </a:fld>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 xmlns:a16="http://schemas.microsoft.com/office/drawing/2014/main" id="{15033BE0-17EE-14DD-A5FF-7CEFD4EA893A}"/>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930CF5-908B-495B-AACA-0CD73F163D22}" type="slidenum">
              <a:rPr lang="en-US" altLang="en-US">
                <a:latin typeface="Times New Roman" panose="02020603050405020304" pitchFamily="18" charset="0"/>
              </a:rPr>
              <a:pPr eaLnBrk="1" hangingPunct="1"/>
              <a:t>49</a:t>
            </a:fld>
            <a:endParaRPr lang="en-US" altLang="en-US">
              <a:latin typeface="Times New Roman" panose="02020603050405020304" pitchFamily="18" charset="0"/>
            </a:endParaRPr>
          </a:p>
        </p:txBody>
      </p:sp>
      <p:sp>
        <p:nvSpPr>
          <p:cNvPr id="101379" name="Rectangle 2">
            <a:extLst>
              <a:ext uri="{FF2B5EF4-FFF2-40B4-BE49-F238E27FC236}">
                <a16:creationId xmlns="" xmlns:a16="http://schemas.microsoft.com/office/drawing/2014/main" id="{9CF31D0D-3BAD-0C26-3973-A645D5B112E8}"/>
              </a:ext>
            </a:extLst>
          </p:cNvPr>
          <p:cNvSpPr>
            <a:spLocks noGrp="1" noRot="1" noChangeAspect="1" noChangeArrowheads="1" noTextEdit="1"/>
          </p:cNvSpPr>
          <p:nvPr>
            <p:ph type="sldImg"/>
          </p:nvPr>
        </p:nvSpPr>
        <p:spPr>
          <a:ln/>
        </p:spPr>
      </p:sp>
      <p:sp>
        <p:nvSpPr>
          <p:cNvPr id="99332" name="Rectangle 3">
            <a:extLst>
              <a:ext uri="{FF2B5EF4-FFF2-40B4-BE49-F238E27FC236}">
                <a16:creationId xmlns="" xmlns:a16="http://schemas.microsoft.com/office/drawing/2014/main" id="{6322A1CC-35D5-A064-9DAA-317E7460C5D3}"/>
              </a:ext>
            </a:extLst>
          </p:cNvPr>
          <p:cNvSpPr>
            <a:spLocks noGrp="1" noChangeArrowheads="1"/>
          </p:cNvSpPr>
          <p:nvPr>
            <p:ph type="body" idx="1"/>
          </p:nvPr>
        </p:nvSpPr>
        <p:spPr/>
        <p:txBody>
          <a:bodyPr/>
          <a:lstStyle/>
          <a:p>
            <a:pPr eaLnBrk="1" hangingPunct="1">
              <a:defRPr/>
            </a:pPr>
            <a:r>
              <a:rPr lang="en-US" altLang="en-US" b="1" dirty="0"/>
              <a:t>Incident Response Planning</a:t>
            </a:r>
          </a:p>
          <a:p>
            <a:pPr marL="342900" indent="-342900">
              <a:spcBef>
                <a:spcPct val="20000"/>
              </a:spcBef>
              <a:buFontTx/>
              <a:buChar char="•"/>
              <a:defRPr/>
            </a:pPr>
            <a:r>
              <a:rPr lang="en-US" altLang="en-US" sz="2600" kern="0" dirty="0">
                <a:solidFill>
                  <a:srgbClr val="222222"/>
                </a:solidFill>
                <a:latin typeface="Arial"/>
              </a:rPr>
              <a:t>Incident Planning</a:t>
            </a:r>
          </a:p>
          <a:p>
            <a:pPr marL="742950" lvl="1" indent="-285750">
              <a:spcBef>
                <a:spcPct val="20000"/>
              </a:spcBef>
              <a:buFontTx/>
              <a:buChar char="–"/>
              <a:defRPr/>
            </a:pPr>
            <a:r>
              <a:rPr lang="en-US" altLang="en-US" sz="2400" kern="0" dirty="0">
                <a:solidFill>
                  <a:srgbClr val="222222"/>
                </a:solidFill>
                <a:latin typeface="Arial"/>
              </a:rPr>
              <a:t>Predefined responses enable organization to react quickly and effectively to detected incident if:</a:t>
            </a:r>
          </a:p>
          <a:p>
            <a:pPr marL="1143000" lvl="2" indent="-228600">
              <a:spcBef>
                <a:spcPct val="20000"/>
              </a:spcBef>
              <a:buFontTx/>
              <a:buChar char="•"/>
              <a:defRPr/>
            </a:pPr>
            <a:r>
              <a:rPr lang="en-US" altLang="en-US" sz="2200" kern="0" dirty="0">
                <a:solidFill>
                  <a:srgbClr val="222222"/>
                </a:solidFill>
                <a:latin typeface="Arial"/>
              </a:rPr>
              <a:t>Organization has IR team </a:t>
            </a:r>
          </a:p>
          <a:p>
            <a:pPr marL="1143000" lvl="2" indent="-228600">
              <a:spcBef>
                <a:spcPct val="20000"/>
              </a:spcBef>
              <a:buFontTx/>
              <a:buChar char="•"/>
              <a:defRPr/>
            </a:pPr>
            <a:r>
              <a:rPr lang="en-US" altLang="en-US" sz="2200" kern="0" dirty="0">
                <a:solidFill>
                  <a:srgbClr val="222222"/>
                </a:solidFill>
                <a:latin typeface="Arial"/>
              </a:rPr>
              <a:t>Organization can detect incident</a:t>
            </a:r>
          </a:p>
          <a:p>
            <a:pPr marL="742950" lvl="1" indent="-285750">
              <a:spcBef>
                <a:spcPct val="20000"/>
              </a:spcBef>
              <a:buFontTx/>
              <a:buChar char="–"/>
              <a:defRPr/>
            </a:pPr>
            <a:r>
              <a:rPr lang="en-US" altLang="en-US" sz="2400" kern="0" dirty="0">
                <a:solidFill>
                  <a:srgbClr val="222222"/>
                </a:solidFill>
                <a:latin typeface="Arial"/>
              </a:rPr>
              <a:t>IR team consists of individuals needed to handle systems as incident takes place</a:t>
            </a:r>
          </a:p>
          <a:p>
            <a:pPr marL="342900" indent="-342900">
              <a:spcBef>
                <a:spcPct val="20000"/>
              </a:spcBef>
              <a:buFontTx/>
              <a:buChar char="•"/>
              <a:defRPr/>
            </a:pPr>
            <a:r>
              <a:rPr lang="en-US" altLang="en-US" sz="2600" kern="0" dirty="0">
                <a:solidFill>
                  <a:srgbClr val="222222"/>
                </a:solidFill>
                <a:latin typeface="Arial"/>
              </a:rPr>
              <a:t>Incident response plan</a:t>
            </a:r>
          </a:p>
          <a:p>
            <a:pPr marL="742950" lvl="1" indent="-285750">
              <a:spcBef>
                <a:spcPct val="20000"/>
              </a:spcBef>
              <a:buFontTx/>
              <a:buChar char="–"/>
              <a:defRPr/>
            </a:pPr>
            <a:r>
              <a:rPr lang="en-US" altLang="en-US" sz="2400" kern="0" dirty="0">
                <a:solidFill>
                  <a:srgbClr val="222222"/>
                </a:solidFill>
                <a:latin typeface="Arial"/>
              </a:rPr>
              <a:t>Format and content</a:t>
            </a:r>
          </a:p>
          <a:p>
            <a:pPr marL="742950" lvl="1" indent="-285750">
              <a:spcBef>
                <a:spcPct val="20000"/>
              </a:spcBef>
              <a:buFontTx/>
              <a:buChar char="–"/>
              <a:defRPr/>
            </a:pPr>
            <a:r>
              <a:rPr lang="en-US" altLang="en-US" sz="2400" kern="0" dirty="0">
                <a:solidFill>
                  <a:srgbClr val="222222"/>
                </a:solidFill>
                <a:latin typeface="Arial"/>
              </a:rPr>
              <a:t>Storage</a:t>
            </a:r>
          </a:p>
          <a:p>
            <a:pPr marL="742950" lvl="1" indent="-285750">
              <a:spcBef>
                <a:spcPct val="20000"/>
              </a:spcBef>
              <a:buFontTx/>
              <a:buChar char="–"/>
              <a:defRPr/>
            </a:pPr>
            <a:r>
              <a:rPr lang="en-US" altLang="en-US" sz="2400" kern="0" dirty="0">
                <a:solidFill>
                  <a:srgbClr val="222222"/>
                </a:solidFill>
                <a:latin typeface="Arial"/>
              </a:rPr>
              <a:t>Testing</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 xmlns:a16="http://schemas.microsoft.com/office/drawing/2014/main" id="{252FE7E7-45EB-DB25-1B85-75D3B5EFE7E7}"/>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991FBB-6A77-49A7-BF8C-23746221D24C}" type="slidenum">
              <a:rPr lang="en-US" altLang="en-US">
                <a:latin typeface="Times New Roman" panose="02020603050405020304" pitchFamily="18" charset="0"/>
              </a:rPr>
              <a:pPr eaLnBrk="1" hangingPunct="1"/>
              <a:t>50</a:t>
            </a:fld>
            <a:endParaRPr lang="en-US" altLang="en-US">
              <a:latin typeface="Times New Roman" panose="02020603050405020304" pitchFamily="18" charset="0"/>
            </a:endParaRPr>
          </a:p>
        </p:txBody>
      </p:sp>
      <p:sp>
        <p:nvSpPr>
          <p:cNvPr id="103427" name="Rectangle 2">
            <a:extLst>
              <a:ext uri="{FF2B5EF4-FFF2-40B4-BE49-F238E27FC236}">
                <a16:creationId xmlns="" xmlns:a16="http://schemas.microsoft.com/office/drawing/2014/main" id="{1B3B6381-8CA5-3D34-EA89-0EEF2AC7A7BB}"/>
              </a:ext>
            </a:extLst>
          </p:cNvPr>
          <p:cNvSpPr>
            <a:spLocks noGrp="1" noRot="1" noChangeAspect="1" noChangeArrowheads="1" noTextEdit="1"/>
          </p:cNvSpPr>
          <p:nvPr>
            <p:ph type="sldImg"/>
          </p:nvPr>
        </p:nvSpPr>
        <p:spPr>
          <a:ln/>
        </p:spPr>
      </p:sp>
      <p:sp>
        <p:nvSpPr>
          <p:cNvPr id="100356" name="Rectangle 3">
            <a:extLst>
              <a:ext uri="{FF2B5EF4-FFF2-40B4-BE49-F238E27FC236}">
                <a16:creationId xmlns="" xmlns:a16="http://schemas.microsoft.com/office/drawing/2014/main" id="{CA6C8E55-E716-C75F-495D-FFFA281AFE53}"/>
              </a:ext>
            </a:extLst>
          </p:cNvPr>
          <p:cNvSpPr>
            <a:spLocks noGrp="1" noChangeArrowheads="1"/>
          </p:cNvSpPr>
          <p:nvPr>
            <p:ph type="body" idx="1"/>
          </p:nvPr>
        </p:nvSpPr>
        <p:spPr/>
        <p:txBody>
          <a:bodyPr/>
          <a:lstStyle/>
          <a:p>
            <a:pPr eaLnBrk="1" hangingPunct="1">
              <a:defRPr/>
            </a:pPr>
            <a:r>
              <a:rPr lang="en-US" altLang="en-US" b="1" dirty="0"/>
              <a:t>Incident Response Planning</a:t>
            </a:r>
          </a:p>
          <a:p>
            <a:pPr marL="342900" indent="-342900">
              <a:spcBef>
                <a:spcPct val="20000"/>
              </a:spcBef>
              <a:buFontTx/>
              <a:buChar char="•"/>
              <a:defRPr/>
            </a:pPr>
            <a:r>
              <a:rPr lang="en-US" altLang="en-US" sz="2600" kern="0" dirty="0">
                <a:solidFill>
                  <a:srgbClr val="222222"/>
                </a:solidFill>
                <a:latin typeface="Arial"/>
              </a:rPr>
              <a:t>Incident detection</a:t>
            </a:r>
          </a:p>
          <a:p>
            <a:pPr marL="742950" lvl="1" indent="-285750">
              <a:spcBef>
                <a:spcPct val="20000"/>
              </a:spcBef>
              <a:buFontTx/>
              <a:buChar char="–"/>
              <a:defRPr/>
            </a:pPr>
            <a:r>
              <a:rPr lang="en-US" altLang="en-US" sz="2400" kern="0" dirty="0">
                <a:solidFill>
                  <a:srgbClr val="222222"/>
                </a:solidFill>
                <a:latin typeface="Arial"/>
              </a:rPr>
              <a:t>Most common occurrence is complaint about technology support, often delivered to help desk</a:t>
            </a:r>
          </a:p>
          <a:p>
            <a:pPr marL="742950" lvl="1" indent="-285750">
              <a:spcBef>
                <a:spcPct val="20000"/>
              </a:spcBef>
              <a:buFontTx/>
              <a:buChar char="–"/>
              <a:defRPr/>
            </a:pPr>
            <a:r>
              <a:rPr lang="en-US" altLang="en-US" sz="2400" kern="0" dirty="0">
                <a:solidFill>
                  <a:srgbClr val="222222"/>
                </a:solidFill>
                <a:latin typeface="Arial"/>
              </a:rPr>
              <a:t>Careful training needed to quickly identify and classify an incident</a:t>
            </a:r>
          </a:p>
          <a:p>
            <a:pPr marL="742950" lvl="1" indent="-285750">
              <a:spcBef>
                <a:spcPct val="20000"/>
              </a:spcBef>
              <a:buFontTx/>
              <a:buChar char="–"/>
              <a:defRPr/>
            </a:pPr>
            <a:r>
              <a:rPr lang="en-US" altLang="en-US" sz="2400" kern="0" dirty="0">
                <a:solidFill>
                  <a:srgbClr val="222222"/>
                </a:solidFill>
                <a:latin typeface="Arial"/>
              </a:rPr>
              <a:t>Once incident is properly identified, organization can respond</a:t>
            </a:r>
          </a:p>
          <a:p>
            <a:pPr marL="742950" lvl="1" indent="-285750">
              <a:spcBef>
                <a:spcPct val="20000"/>
              </a:spcBef>
              <a:buFontTx/>
              <a:buChar char="–"/>
              <a:defRPr/>
            </a:pPr>
            <a:r>
              <a:rPr lang="en-US" altLang="en-US" sz="2400" kern="0" dirty="0">
                <a:solidFill>
                  <a:srgbClr val="222222"/>
                </a:solidFill>
                <a:latin typeface="Arial"/>
              </a:rPr>
              <a:t>Incident indicators vary</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 xmlns:a16="http://schemas.microsoft.com/office/drawing/2014/main" id="{5E8281EB-4235-205B-77B3-6D13437802C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1E86283-0598-4BB0-A661-B73D3EB5B80D}" type="slidenum">
              <a:rPr lang="en-US" altLang="en-US">
                <a:latin typeface="Times New Roman" panose="02020603050405020304" pitchFamily="18" charset="0"/>
              </a:rPr>
              <a:pPr eaLnBrk="1" hangingPunct="1"/>
              <a:t>51</a:t>
            </a:fld>
            <a:endParaRPr lang="en-US" altLang="en-US">
              <a:latin typeface="Times New Roman" panose="02020603050405020304" pitchFamily="18" charset="0"/>
            </a:endParaRPr>
          </a:p>
        </p:txBody>
      </p:sp>
      <p:sp>
        <p:nvSpPr>
          <p:cNvPr id="105475" name="Rectangle 2">
            <a:extLst>
              <a:ext uri="{FF2B5EF4-FFF2-40B4-BE49-F238E27FC236}">
                <a16:creationId xmlns="" xmlns:a16="http://schemas.microsoft.com/office/drawing/2014/main" id="{7405EE84-45A8-4EBE-A4C1-EA9451DF629A}"/>
              </a:ext>
            </a:extLst>
          </p:cNvPr>
          <p:cNvSpPr>
            <a:spLocks noGrp="1" noRot="1" noChangeAspect="1" noChangeArrowheads="1" noTextEdit="1"/>
          </p:cNvSpPr>
          <p:nvPr>
            <p:ph type="sldImg"/>
          </p:nvPr>
        </p:nvSpPr>
        <p:spPr>
          <a:ln/>
        </p:spPr>
      </p:sp>
      <p:sp>
        <p:nvSpPr>
          <p:cNvPr id="101380" name="Rectangle 3">
            <a:extLst>
              <a:ext uri="{FF2B5EF4-FFF2-40B4-BE49-F238E27FC236}">
                <a16:creationId xmlns="" xmlns:a16="http://schemas.microsoft.com/office/drawing/2014/main" id="{79BA750F-F88A-7079-327A-9C3CD0BCB8C6}"/>
              </a:ext>
            </a:extLst>
          </p:cNvPr>
          <p:cNvSpPr>
            <a:spLocks noGrp="1" noChangeArrowheads="1"/>
          </p:cNvSpPr>
          <p:nvPr>
            <p:ph type="body" idx="1"/>
          </p:nvPr>
        </p:nvSpPr>
        <p:spPr/>
        <p:txBody>
          <a:bodyPr/>
          <a:lstStyle/>
          <a:p>
            <a:pPr eaLnBrk="1" hangingPunct="1">
              <a:defRPr/>
            </a:pPr>
            <a:r>
              <a:rPr lang="en-US" altLang="en-US" b="1" dirty="0"/>
              <a:t>Incident Response Planning</a:t>
            </a:r>
          </a:p>
          <a:p>
            <a:pPr marL="342900" indent="-342900">
              <a:spcBef>
                <a:spcPct val="20000"/>
              </a:spcBef>
              <a:buFontTx/>
              <a:buChar char="•"/>
              <a:defRPr/>
            </a:pPr>
            <a:r>
              <a:rPr lang="en-US" altLang="en-US" sz="2400" kern="0" dirty="0">
                <a:solidFill>
                  <a:srgbClr val="222222"/>
                </a:solidFill>
                <a:latin typeface="Arial"/>
              </a:rPr>
              <a:t>Incident reaction</a:t>
            </a:r>
          </a:p>
          <a:p>
            <a:pPr marL="742950" lvl="1" indent="-285750">
              <a:spcBef>
                <a:spcPct val="20000"/>
              </a:spcBef>
              <a:buFontTx/>
              <a:buChar char="–"/>
              <a:defRPr/>
            </a:pPr>
            <a:r>
              <a:rPr lang="en-US" altLang="en-US" sz="2000" kern="0" dirty="0">
                <a:solidFill>
                  <a:srgbClr val="222222"/>
                </a:solidFill>
                <a:latin typeface="Arial"/>
              </a:rPr>
              <a:t>Consists of actions that guide organization to stop incident, mitigate its impact, and provide information for recovery </a:t>
            </a:r>
          </a:p>
          <a:p>
            <a:pPr marL="742950" lvl="1" indent="-285750">
              <a:spcBef>
                <a:spcPct val="20000"/>
              </a:spcBef>
              <a:buFontTx/>
              <a:buChar char="–"/>
              <a:defRPr/>
            </a:pPr>
            <a:r>
              <a:rPr lang="en-US" altLang="en-US" sz="2000" kern="0" dirty="0">
                <a:solidFill>
                  <a:srgbClr val="222222"/>
                </a:solidFill>
                <a:latin typeface="Arial"/>
              </a:rPr>
              <a:t>Actions that must occur quickly:</a:t>
            </a:r>
          </a:p>
          <a:p>
            <a:pPr marL="1143000" lvl="2" indent="-228600">
              <a:spcBef>
                <a:spcPct val="20000"/>
              </a:spcBef>
              <a:buFontTx/>
              <a:buChar char="•"/>
              <a:defRPr/>
            </a:pPr>
            <a:r>
              <a:rPr lang="en-US" altLang="en-US" sz="2000" kern="0" dirty="0">
                <a:solidFill>
                  <a:srgbClr val="222222"/>
                </a:solidFill>
                <a:latin typeface="Arial"/>
              </a:rPr>
              <a:t>Notification of key personnel</a:t>
            </a:r>
          </a:p>
          <a:p>
            <a:pPr marL="1143000" lvl="2" indent="-228600">
              <a:spcBef>
                <a:spcPct val="20000"/>
              </a:spcBef>
              <a:buFontTx/>
              <a:buChar char="•"/>
              <a:defRPr/>
            </a:pPr>
            <a:r>
              <a:rPr lang="en-US" altLang="en-US" sz="2000" kern="0" dirty="0">
                <a:solidFill>
                  <a:srgbClr val="222222"/>
                </a:solidFill>
                <a:latin typeface="Arial"/>
              </a:rPr>
              <a:t>Documentation of incident</a:t>
            </a:r>
          </a:p>
          <a:p>
            <a:pPr marL="342900" indent="-342900">
              <a:spcBef>
                <a:spcPct val="20000"/>
              </a:spcBef>
              <a:buFontTx/>
              <a:buChar char="•"/>
              <a:defRPr/>
            </a:pPr>
            <a:r>
              <a:rPr lang="en-US" altLang="en-US" sz="2400" kern="0" dirty="0">
                <a:solidFill>
                  <a:srgbClr val="222222"/>
                </a:solidFill>
                <a:latin typeface="Arial"/>
              </a:rPr>
              <a:t>Incident containment strategies</a:t>
            </a:r>
          </a:p>
          <a:p>
            <a:pPr marL="742950" lvl="1" indent="-285750">
              <a:spcBef>
                <a:spcPct val="20000"/>
              </a:spcBef>
              <a:buFontTx/>
              <a:buChar char="–"/>
              <a:defRPr/>
            </a:pPr>
            <a:r>
              <a:rPr lang="en-US" altLang="en-US" sz="2000" kern="0" dirty="0">
                <a:solidFill>
                  <a:srgbClr val="222222"/>
                </a:solidFill>
                <a:latin typeface="Arial"/>
              </a:rPr>
              <a:t>Containment of incident’s scope or impact first priority; must then determine which information systems affected</a:t>
            </a:r>
          </a:p>
          <a:p>
            <a:pPr marL="742950" lvl="1" indent="-285750">
              <a:spcBef>
                <a:spcPct val="20000"/>
              </a:spcBef>
              <a:buFontTx/>
              <a:buChar char="–"/>
              <a:defRPr/>
            </a:pPr>
            <a:r>
              <a:rPr lang="en-US" altLang="en-US" sz="2000" kern="0" dirty="0">
                <a:solidFill>
                  <a:srgbClr val="222222"/>
                </a:solidFill>
                <a:latin typeface="Arial"/>
              </a:rPr>
              <a:t>Organization can stop incident and attempt to recover control through a number or strategies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 xmlns:a16="http://schemas.microsoft.com/office/drawing/2014/main" id="{51257A2B-3406-4961-9E84-DE8EEA7022C3}"/>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CA1AE0-9CD5-44EC-B680-B0DF8F04B0B3}" type="slidenum">
              <a:rPr lang="en-US" altLang="en-US">
                <a:latin typeface="Times New Roman" panose="02020603050405020304" pitchFamily="18" charset="0"/>
              </a:rPr>
              <a:pPr eaLnBrk="1" hangingPunct="1"/>
              <a:t>52</a:t>
            </a:fld>
            <a:endParaRPr lang="en-US" altLang="en-US">
              <a:latin typeface="Times New Roman" panose="02020603050405020304" pitchFamily="18" charset="0"/>
            </a:endParaRPr>
          </a:p>
        </p:txBody>
      </p:sp>
      <p:sp>
        <p:nvSpPr>
          <p:cNvPr id="107523" name="Rectangle 2">
            <a:extLst>
              <a:ext uri="{FF2B5EF4-FFF2-40B4-BE49-F238E27FC236}">
                <a16:creationId xmlns="" xmlns:a16="http://schemas.microsoft.com/office/drawing/2014/main" id="{0C6800E1-CA4A-7DB7-9749-65182791C24C}"/>
              </a:ext>
            </a:extLst>
          </p:cNvPr>
          <p:cNvSpPr>
            <a:spLocks noGrp="1" noRot="1" noChangeAspect="1" noChangeArrowheads="1" noTextEdit="1"/>
          </p:cNvSpPr>
          <p:nvPr>
            <p:ph type="sldImg"/>
          </p:nvPr>
        </p:nvSpPr>
        <p:spPr>
          <a:ln/>
        </p:spPr>
      </p:sp>
      <p:sp>
        <p:nvSpPr>
          <p:cNvPr id="107524" name="Rectangle 3">
            <a:extLst>
              <a:ext uri="{FF2B5EF4-FFF2-40B4-BE49-F238E27FC236}">
                <a16:creationId xmlns="" xmlns:a16="http://schemas.microsoft.com/office/drawing/2014/main" id="{2BC9C937-19A7-2C9E-BEC9-D3EFF28F0A6A}"/>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Incident Recovery</a:t>
            </a:r>
          </a:p>
          <a:p>
            <a:pPr eaLnBrk="1" hangingPunct="1"/>
            <a:r>
              <a:rPr lang="en-US" altLang="en-US"/>
              <a:t>Once the incident has been contained and control of the systems regained, the next stage is recovery. </a:t>
            </a:r>
          </a:p>
          <a:p>
            <a:pPr eaLnBrk="1" hangingPunct="1"/>
            <a:r>
              <a:rPr lang="en-US" altLang="en-US"/>
              <a:t>As with reaction to the incident, the first task is to identify the human resources needed for the recovery and launch them into action. </a:t>
            </a:r>
          </a:p>
          <a:p>
            <a:pPr eaLnBrk="1" hangingPunct="1"/>
            <a:r>
              <a:rPr lang="en-US" altLang="en-US"/>
              <a:t>The full extent of the damage must be assessed. </a:t>
            </a:r>
          </a:p>
          <a:p>
            <a:pPr eaLnBrk="1" hangingPunct="1"/>
            <a:r>
              <a:rPr lang="en-US" altLang="en-US"/>
              <a:t>The process of computer forensics entails determining how the incident occurred and what happened. </a:t>
            </a:r>
          </a:p>
          <a:p>
            <a:pPr eaLnBrk="1" hangingPunct="1"/>
            <a:r>
              <a:rPr lang="en-US" altLang="en-US"/>
              <a:t>The organization repairs vulnerabilities, addresses any shortcomings in safeguards, and restores the data and services of the systems.</a:t>
            </a:r>
          </a:p>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 xmlns:a16="http://schemas.microsoft.com/office/drawing/2014/main" id="{7BEA4305-EAFC-99E6-ED31-1538678880E3}"/>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B84C839-8B14-4BC3-A050-61D429740C6A}" type="slidenum">
              <a:rPr lang="en-US" altLang="en-US">
                <a:latin typeface="Times New Roman" panose="02020603050405020304" pitchFamily="18" charset="0"/>
              </a:rPr>
              <a:pPr eaLnBrk="1" hangingPunct="1"/>
              <a:t>53</a:t>
            </a:fld>
            <a:endParaRPr lang="en-US" altLang="en-US">
              <a:latin typeface="Times New Roman" panose="02020603050405020304" pitchFamily="18" charset="0"/>
            </a:endParaRPr>
          </a:p>
        </p:txBody>
      </p:sp>
      <p:sp>
        <p:nvSpPr>
          <p:cNvPr id="109571" name="Rectangle 2">
            <a:extLst>
              <a:ext uri="{FF2B5EF4-FFF2-40B4-BE49-F238E27FC236}">
                <a16:creationId xmlns="" xmlns:a16="http://schemas.microsoft.com/office/drawing/2014/main" id="{CF87FBC7-CCF3-2348-7C95-9D3E0B80532B}"/>
              </a:ext>
            </a:extLst>
          </p:cNvPr>
          <p:cNvSpPr>
            <a:spLocks noGrp="1" noRot="1" noChangeAspect="1" noChangeArrowheads="1" noTextEdit="1"/>
          </p:cNvSpPr>
          <p:nvPr>
            <p:ph type="sldImg"/>
          </p:nvPr>
        </p:nvSpPr>
        <p:spPr>
          <a:ln/>
        </p:spPr>
      </p:sp>
      <p:sp>
        <p:nvSpPr>
          <p:cNvPr id="103428" name="Rectangle 3">
            <a:extLst>
              <a:ext uri="{FF2B5EF4-FFF2-40B4-BE49-F238E27FC236}">
                <a16:creationId xmlns="" xmlns:a16="http://schemas.microsoft.com/office/drawing/2014/main" id="{69717BEC-D292-BEF3-7D05-FB8C58BBE4F0}"/>
              </a:ext>
            </a:extLst>
          </p:cNvPr>
          <p:cNvSpPr>
            <a:spLocks noGrp="1" noChangeArrowheads="1"/>
          </p:cNvSpPr>
          <p:nvPr>
            <p:ph type="body" idx="1"/>
          </p:nvPr>
        </p:nvSpPr>
        <p:spPr/>
        <p:txBody>
          <a:bodyPr/>
          <a:lstStyle/>
          <a:p>
            <a:pPr eaLnBrk="1" hangingPunct="1">
              <a:defRPr/>
            </a:pPr>
            <a:r>
              <a:rPr lang="en-US" altLang="en-US" b="1" dirty="0"/>
              <a:t>Damage Assessment</a:t>
            </a:r>
          </a:p>
          <a:p>
            <a:pPr marL="342900" indent="-342900">
              <a:spcBef>
                <a:spcPct val="20000"/>
              </a:spcBef>
              <a:buFontTx/>
              <a:buChar char="•"/>
              <a:defRPr/>
            </a:pPr>
            <a:r>
              <a:rPr lang="en-US" altLang="en-US" sz="2600" kern="0" dirty="0">
                <a:solidFill>
                  <a:srgbClr val="222222"/>
                </a:solidFill>
                <a:latin typeface="Arial"/>
              </a:rPr>
              <a:t>Damage assessment</a:t>
            </a:r>
          </a:p>
          <a:p>
            <a:pPr marL="742950" lvl="1" indent="-285750">
              <a:spcBef>
                <a:spcPct val="20000"/>
              </a:spcBef>
              <a:buFontTx/>
              <a:buChar char="–"/>
              <a:defRPr/>
            </a:pPr>
            <a:r>
              <a:rPr lang="en-US" altLang="en-US" sz="2400" kern="0" dirty="0">
                <a:solidFill>
                  <a:srgbClr val="222222"/>
                </a:solidFill>
                <a:latin typeface="Arial"/>
              </a:rPr>
              <a:t>Several sources of information on damage, including system logs; intrusion detection logs; configuration logs and documents; documentation from incident response; and results of detailed assessment of systems and data storage</a:t>
            </a:r>
          </a:p>
          <a:p>
            <a:pPr marL="742950" lvl="1" indent="-285750">
              <a:spcBef>
                <a:spcPct val="20000"/>
              </a:spcBef>
              <a:buFontTx/>
              <a:buChar char="–"/>
              <a:defRPr/>
            </a:pPr>
            <a:r>
              <a:rPr lang="en-US" altLang="en-US" sz="2400" kern="0" dirty="0">
                <a:solidFill>
                  <a:srgbClr val="222222"/>
                </a:solidFill>
                <a:latin typeface="Arial"/>
              </a:rPr>
              <a:t>Computer evidence must be carefully collected, documented, and maintained to be usable in formal or informal proceedings</a:t>
            </a:r>
          </a:p>
          <a:p>
            <a:pPr marL="742950" lvl="1" indent="-285750">
              <a:spcBef>
                <a:spcPct val="20000"/>
              </a:spcBef>
              <a:buFontTx/>
              <a:buChar char="–"/>
              <a:defRPr/>
            </a:pPr>
            <a:r>
              <a:rPr lang="en-US" altLang="en-US" sz="2400" kern="0" dirty="0">
                <a:solidFill>
                  <a:srgbClr val="222222"/>
                </a:solidFill>
                <a:latin typeface="Arial"/>
              </a:rPr>
              <a:t>Individuals who assess damage need special training</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 xmlns:a16="http://schemas.microsoft.com/office/drawing/2014/main" id="{0A628E78-5006-8836-0B87-5017D0109ED8}"/>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A2841D-9DE7-498E-B0A8-DFE1AB7B96F1}" type="slidenum">
              <a:rPr lang="en-US" altLang="en-US">
                <a:latin typeface="Times New Roman" panose="02020603050405020304" pitchFamily="18" charset="0"/>
              </a:rPr>
              <a:pPr eaLnBrk="1" hangingPunct="1"/>
              <a:t>54</a:t>
            </a:fld>
            <a:endParaRPr lang="en-US" altLang="en-US">
              <a:latin typeface="Times New Roman" panose="02020603050405020304" pitchFamily="18" charset="0"/>
            </a:endParaRPr>
          </a:p>
        </p:txBody>
      </p:sp>
      <p:sp>
        <p:nvSpPr>
          <p:cNvPr id="111619" name="Rectangle 2">
            <a:extLst>
              <a:ext uri="{FF2B5EF4-FFF2-40B4-BE49-F238E27FC236}">
                <a16:creationId xmlns="" xmlns:a16="http://schemas.microsoft.com/office/drawing/2014/main" id="{6A6CF87B-AE1B-C219-8236-C3A0225CDF8C}"/>
              </a:ext>
            </a:extLst>
          </p:cNvPr>
          <p:cNvSpPr>
            <a:spLocks noGrp="1" noRot="1" noChangeAspect="1" noChangeArrowheads="1" noTextEdit="1"/>
          </p:cNvSpPr>
          <p:nvPr>
            <p:ph type="sldImg"/>
          </p:nvPr>
        </p:nvSpPr>
        <p:spPr>
          <a:ln/>
        </p:spPr>
      </p:sp>
      <p:sp>
        <p:nvSpPr>
          <p:cNvPr id="111620" name="Rectangle 3">
            <a:extLst>
              <a:ext uri="{FF2B5EF4-FFF2-40B4-BE49-F238E27FC236}">
                <a16:creationId xmlns="" xmlns:a16="http://schemas.microsoft.com/office/drawing/2014/main" id="{ADC44FA5-C8CA-6C60-EF4A-F722BE7167C5}"/>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lnSpc>
                <a:spcPct val="90000"/>
              </a:lnSpc>
            </a:pPr>
            <a:r>
              <a:rPr lang="en-US" altLang="en-US" b="1"/>
              <a:t>Automated Response</a:t>
            </a:r>
          </a:p>
          <a:p>
            <a:pPr eaLnBrk="1" hangingPunct="1">
              <a:lnSpc>
                <a:spcPct val="80000"/>
              </a:lnSpc>
            </a:pPr>
            <a:r>
              <a:rPr lang="en-US" altLang="en-US"/>
              <a:t>While traditional systems were configured to detect incidences and then notify the human administrator, new systems can respond to the incident threat autonomously.  </a:t>
            </a:r>
          </a:p>
          <a:p>
            <a:pPr eaLnBrk="1" hangingPunct="1">
              <a:lnSpc>
                <a:spcPct val="80000"/>
              </a:lnSpc>
            </a:pPr>
            <a:r>
              <a:rPr lang="en-US" altLang="en-US"/>
              <a:t>These systems, referred to as trap and trace, use a combination of resources to detect an intrusion and then trace incidents back to their sources. </a:t>
            </a:r>
          </a:p>
          <a:p>
            <a:pPr eaLnBrk="1" hangingPunct="1">
              <a:lnSpc>
                <a:spcPct val="80000"/>
              </a:lnSpc>
            </a:pPr>
            <a:r>
              <a:rPr lang="en-US" altLang="en-US"/>
              <a:t>Unfortunately, some less scrupulous administrators might even be tempted to back hack or hack into a hacker’s system to find out as much as possible about the hacker.</a:t>
            </a:r>
          </a:p>
          <a:p>
            <a:pPr eaLnBrk="1" hangingPunct="1">
              <a:lnSpc>
                <a:spcPct val="80000"/>
              </a:lnSpc>
            </a:pPr>
            <a:r>
              <a:rPr lang="en-US" altLang="en-US"/>
              <a:t>The problem is that the hacker may actually move into and out of a number of organizations’ systems, and by tracking the hacker, administrators may wander through other organizations’ systems.</a:t>
            </a:r>
          </a:p>
          <a:p>
            <a:pPr eaLnBrk="1" hangingPunct="1">
              <a:lnSpc>
                <a:spcPct val="90000"/>
              </a:lnSpc>
            </a:pPr>
            <a:r>
              <a:rPr lang="en-US" altLang="en-US"/>
              <a:t>The trap portion frequently involves the use of honey pots or honey nets.  </a:t>
            </a:r>
          </a:p>
          <a:p>
            <a:pPr eaLnBrk="1" hangingPunct="1">
              <a:lnSpc>
                <a:spcPct val="90000"/>
              </a:lnSpc>
            </a:pPr>
            <a:r>
              <a:rPr lang="en-US" altLang="en-US"/>
              <a:t>Honey pots are computer servers configured to resemble production systems. If a hacker stumbles into the system, alarms are set off and the administrator is notified.  </a:t>
            </a:r>
          </a:p>
          <a:p>
            <a:pPr eaLnBrk="1" hangingPunct="1">
              <a:lnSpc>
                <a:spcPct val="90000"/>
              </a:lnSpc>
            </a:pPr>
            <a:r>
              <a:rPr lang="en-US" altLang="en-US"/>
              <a:t>Honey nets consist of networks or subnets of systems that operate similarly.</a:t>
            </a:r>
          </a:p>
          <a:p>
            <a:pPr eaLnBrk="1" hangingPunct="1">
              <a:lnSpc>
                <a:spcPct val="90000"/>
              </a:lnSpc>
            </a:pPr>
            <a:r>
              <a:rPr lang="en-US" altLang="en-US"/>
              <a:t>Enticement is the process of attracting attention to a system by placing tantalizing bits of information in key locations.  </a:t>
            </a:r>
          </a:p>
          <a:p>
            <a:pPr eaLnBrk="1" hangingPunct="1">
              <a:lnSpc>
                <a:spcPct val="90000"/>
              </a:lnSpc>
            </a:pPr>
            <a:r>
              <a:rPr lang="en-US" altLang="en-US"/>
              <a:t>Entrapment is the action of luring an individual into committing a crime to get a conviction.  </a:t>
            </a:r>
          </a:p>
          <a:p>
            <a:pPr eaLnBrk="1" hangingPunct="1">
              <a:lnSpc>
                <a:spcPct val="90000"/>
              </a:lnSpc>
            </a:pPr>
            <a:r>
              <a:rPr lang="en-US" altLang="en-US"/>
              <a:t>Enticement is legal and ethical, while entrapment is not.</a:t>
            </a:r>
          </a:p>
          <a:p>
            <a:pPr eaLnBrk="1" hangingPunct="1">
              <a:lnSpc>
                <a:spcPct val="90000"/>
              </a:lnSpc>
            </a:pPr>
            <a:endParaRPr lang="en-US" altLang="en-US"/>
          </a:p>
          <a:p>
            <a:pPr eaLnBrk="1" hangingPunct="1">
              <a:lnSpc>
                <a:spcPct val="90000"/>
              </a:lnSpc>
            </a:pPr>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 xmlns:a16="http://schemas.microsoft.com/office/drawing/2014/main" id="{0C0DF1D7-887C-0014-4C31-DC0A0BE91BF0}"/>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34CCE91-92A5-441E-98CD-7A6483CAFF67}" type="slidenum">
              <a:rPr lang="en-US" altLang="en-US">
                <a:latin typeface="Times New Roman" panose="02020603050405020304" pitchFamily="18" charset="0"/>
              </a:rPr>
              <a:pPr eaLnBrk="1" hangingPunct="1"/>
              <a:t>55</a:t>
            </a:fld>
            <a:endParaRPr lang="en-US" altLang="en-US">
              <a:latin typeface="Times New Roman" panose="02020603050405020304" pitchFamily="18" charset="0"/>
            </a:endParaRPr>
          </a:p>
        </p:txBody>
      </p:sp>
      <p:sp>
        <p:nvSpPr>
          <p:cNvPr id="113667" name="Rectangle 2">
            <a:extLst>
              <a:ext uri="{FF2B5EF4-FFF2-40B4-BE49-F238E27FC236}">
                <a16:creationId xmlns="" xmlns:a16="http://schemas.microsoft.com/office/drawing/2014/main" id="{DA4BFE87-CE66-A7E8-275B-23DE46C57F37}"/>
              </a:ext>
            </a:extLst>
          </p:cNvPr>
          <p:cNvSpPr>
            <a:spLocks noGrp="1" noRot="1" noChangeAspect="1" noChangeArrowheads="1" noTextEdit="1"/>
          </p:cNvSpPr>
          <p:nvPr>
            <p:ph type="sldImg"/>
          </p:nvPr>
        </p:nvSpPr>
        <p:spPr>
          <a:ln/>
        </p:spPr>
      </p:sp>
      <p:sp>
        <p:nvSpPr>
          <p:cNvPr id="105476" name="Rectangle 3">
            <a:extLst>
              <a:ext uri="{FF2B5EF4-FFF2-40B4-BE49-F238E27FC236}">
                <a16:creationId xmlns="" xmlns:a16="http://schemas.microsoft.com/office/drawing/2014/main" id="{3651D231-736B-895E-695A-0C2FBFF0692C}"/>
              </a:ext>
            </a:extLst>
          </p:cNvPr>
          <p:cNvSpPr>
            <a:spLocks noGrp="1" noChangeArrowheads="1"/>
          </p:cNvSpPr>
          <p:nvPr>
            <p:ph type="body" idx="1"/>
          </p:nvPr>
        </p:nvSpPr>
        <p:spPr/>
        <p:txBody>
          <a:bodyPr/>
          <a:lstStyle/>
          <a:p>
            <a:pPr eaLnBrk="1" hangingPunct="1">
              <a:lnSpc>
                <a:spcPct val="90000"/>
              </a:lnSpc>
              <a:defRPr/>
            </a:pPr>
            <a:r>
              <a:rPr lang="en-US" altLang="en-US" b="1" dirty="0"/>
              <a:t>Disaster Recovery Planning</a:t>
            </a:r>
          </a:p>
          <a:p>
            <a:pPr marL="342900" indent="-342900">
              <a:spcBef>
                <a:spcPct val="20000"/>
              </a:spcBef>
              <a:buFontTx/>
              <a:buChar char="•"/>
              <a:defRPr/>
            </a:pPr>
            <a:r>
              <a:rPr lang="en-US" altLang="en-US" sz="2600" kern="0" dirty="0">
                <a:solidFill>
                  <a:srgbClr val="222222"/>
                </a:solidFill>
                <a:latin typeface="Arial"/>
              </a:rPr>
              <a:t>Disaster recovery planning (DRP) is planning the preparation for and recovery from a disaster</a:t>
            </a:r>
          </a:p>
          <a:p>
            <a:pPr marL="342900" indent="-342900">
              <a:spcBef>
                <a:spcPct val="20000"/>
              </a:spcBef>
              <a:buFontTx/>
              <a:buChar char="•"/>
              <a:defRPr/>
            </a:pPr>
            <a:r>
              <a:rPr lang="en-US" altLang="en-US" sz="2600" kern="0" dirty="0">
                <a:solidFill>
                  <a:srgbClr val="222222"/>
                </a:solidFill>
                <a:latin typeface="Arial"/>
              </a:rPr>
              <a:t>The contingency planning team must decide which actions constitute disasters and which constitute incidents</a:t>
            </a:r>
          </a:p>
          <a:p>
            <a:pPr marL="342900" indent="-342900">
              <a:spcBef>
                <a:spcPct val="20000"/>
              </a:spcBef>
              <a:buFontTx/>
              <a:buChar char="•"/>
              <a:defRPr/>
            </a:pPr>
            <a:r>
              <a:rPr lang="en-US" altLang="en-US" sz="2600" kern="0" dirty="0">
                <a:solidFill>
                  <a:srgbClr val="222222"/>
                </a:solidFill>
                <a:latin typeface="Arial"/>
              </a:rPr>
              <a:t>When situations classified as disasters, plans change as to how to respond; take action to secure most valuable assets to preserve value for the longer term</a:t>
            </a:r>
          </a:p>
          <a:p>
            <a:pPr marL="342900" indent="-342900">
              <a:spcBef>
                <a:spcPct val="20000"/>
              </a:spcBef>
              <a:buFontTx/>
              <a:buChar char="•"/>
              <a:defRPr/>
            </a:pPr>
            <a:r>
              <a:rPr lang="en-US" altLang="en-US" sz="2600" kern="0" dirty="0">
                <a:solidFill>
                  <a:srgbClr val="222222"/>
                </a:solidFill>
                <a:latin typeface="Arial"/>
              </a:rPr>
              <a:t>DRP strives to reestablish operations at the primary site</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 xmlns:a16="http://schemas.microsoft.com/office/drawing/2014/main" id="{E9869C38-03BF-6A0C-7BE1-51C50635EED9}"/>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808F23-1EBA-4E46-98D6-2F9AE26804D3}" type="slidenum">
              <a:rPr lang="en-US" altLang="en-US">
                <a:latin typeface="Times New Roman" panose="02020603050405020304" pitchFamily="18" charset="0"/>
              </a:rPr>
              <a:pPr eaLnBrk="1" hangingPunct="1"/>
              <a:t>56</a:t>
            </a:fld>
            <a:endParaRPr lang="en-US" altLang="en-US">
              <a:latin typeface="Times New Roman" panose="02020603050405020304" pitchFamily="18" charset="0"/>
            </a:endParaRPr>
          </a:p>
        </p:txBody>
      </p:sp>
      <p:sp>
        <p:nvSpPr>
          <p:cNvPr id="115715" name="Rectangle 2">
            <a:extLst>
              <a:ext uri="{FF2B5EF4-FFF2-40B4-BE49-F238E27FC236}">
                <a16:creationId xmlns="" xmlns:a16="http://schemas.microsoft.com/office/drawing/2014/main" id="{2FBB16B7-B2B3-8ECC-747F-12018E8B00B7}"/>
              </a:ext>
            </a:extLst>
          </p:cNvPr>
          <p:cNvSpPr>
            <a:spLocks noGrp="1" noRot="1" noChangeAspect="1" noChangeArrowheads="1" noTextEdit="1"/>
          </p:cNvSpPr>
          <p:nvPr>
            <p:ph type="sldImg"/>
          </p:nvPr>
        </p:nvSpPr>
        <p:spPr>
          <a:ln/>
        </p:spPr>
      </p:sp>
      <p:sp>
        <p:nvSpPr>
          <p:cNvPr id="106500" name="Rectangle 3">
            <a:extLst>
              <a:ext uri="{FF2B5EF4-FFF2-40B4-BE49-F238E27FC236}">
                <a16:creationId xmlns="" xmlns:a16="http://schemas.microsoft.com/office/drawing/2014/main" id="{A4E75852-2632-5523-1D7A-61C06305888A}"/>
              </a:ext>
            </a:extLst>
          </p:cNvPr>
          <p:cNvSpPr>
            <a:spLocks noGrp="1" noChangeArrowheads="1"/>
          </p:cNvSpPr>
          <p:nvPr>
            <p:ph type="body" idx="1"/>
          </p:nvPr>
        </p:nvSpPr>
        <p:spPr/>
        <p:txBody>
          <a:bodyPr/>
          <a:lstStyle/>
          <a:p>
            <a:pPr eaLnBrk="1" hangingPunct="1">
              <a:defRPr/>
            </a:pPr>
            <a:r>
              <a:rPr lang="en-US" altLang="en-US" b="1" dirty="0"/>
              <a:t>Business Continuity Planning</a:t>
            </a:r>
          </a:p>
          <a:p>
            <a:pPr marL="342900" indent="-342900">
              <a:spcBef>
                <a:spcPct val="20000"/>
              </a:spcBef>
              <a:buFontTx/>
              <a:buChar char="•"/>
              <a:defRPr/>
            </a:pPr>
            <a:r>
              <a:rPr lang="en-US" altLang="en-US" sz="2600" kern="0" dirty="0">
                <a:solidFill>
                  <a:srgbClr val="222222"/>
                </a:solidFill>
                <a:latin typeface="Arial"/>
              </a:rPr>
              <a:t>Prepares organization to reestablish or relocate critical business operations during a disaster that affects operations at the primary site</a:t>
            </a:r>
          </a:p>
          <a:p>
            <a:pPr marL="342900" indent="-342900">
              <a:spcBef>
                <a:spcPct val="20000"/>
              </a:spcBef>
              <a:buFontTx/>
              <a:buChar char="•"/>
              <a:defRPr/>
            </a:pPr>
            <a:r>
              <a:rPr lang="en-US" altLang="en-US" sz="2600" kern="0" dirty="0">
                <a:solidFill>
                  <a:srgbClr val="222222"/>
                </a:solidFill>
                <a:latin typeface="Arial"/>
              </a:rPr>
              <a:t>If disaster has rendered current location unusable, there must be a plan to allow business to continue functioning</a:t>
            </a:r>
          </a:p>
          <a:p>
            <a:pPr marL="342900" indent="-342900">
              <a:spcBef>
                <a:spcPct val="20000"/>
              </a:spcBef>
              <a:buFontTx/>
              <a:buChar char="•"/>
              <a:defRPr/>
            </a:pPr>
            <a:r>
              <a:rPr lang="en-US" altLang="en-US" sz="2600" kern="0" dirty="0">
                <a:solidFill>
                  <a:srgbClr val="222222"/>
                </a:solidFill>
                <a:latin typeface="Arial"/>
              </a:rPr>
              <a:t>Development of BCP is somewhat simpler than IRP or DRP</a:t>
            </a:r>
          </a:p>
          <a:p>
            <a:pPr marL="742950" lvl="1" indent="-285750">
              <a:spcBef>
                <a:spcPct val="20000"/>
              </a:spcBef>
              <a:buFontTx/>
              <a:buChar char="–"/>
              <a:defRPr/>
            </a:pPr>
            <a:r>
              <a:rPr lang="en-US" altLang="en-US" sz="2400" kern="0" dirty="0">
                <a:solidFill>
                  <a:srgbClr val="222222"/>
                </a:solidFill>
                <a:latin typeface="Arial"/>
              </a:rPr>
              <a:t>Consists primarily of selecting a continuity strategy and integrating off-site data storage and recovery functions into this strategy</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 xmlns:a16="http://schemas.microsoft.com/office/drawing/2014/main" id="{DAF1BB23-2B29-5DCC-D7A5-58FE25D8E3C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9020B4-CB08-477B-91B2-A7AD85A0DEAD}" type="slidenum">
              <a:rPr lang="en-US" altLang="en-US">
                <a:latin typeface="Times New Roman" panose="02020603050405020304" pitchFamily="18" charset="0"/>
              </a:rPr>
              <a:pPr eaLnBrk="1" hangingPunct="1"/>
              <a:t>57</a:t>
            </a:fld>
            <a:endParaRPr lang="en-US" altLang="en-US">
              <a:latin typeface="Times New Roman" panose="02020603050405020304" pitchFamily="18" charset="0"/>
            </a:endParaRPr>
          </a:p>
        </p:txBody>
      </p:sp>
      <p:sp>
        <p:nvSpPr>
          <p:cNvPr id="117763" name="Rectangle 2">
            <a:extLst>
              <a:ext uri="{FF2B5EF4-FFF2-40B4-BE49-F238E27FC236}">
                <a16:creationId xmlns="" xmlns:a16="http://schemas.microsoft.com/office/drawing/2014/main" id="{81D8E41B-753E-9424-349F-F3DD0300C148}"/>
              </a:ext>
            </a:extLst>
          </p:cNvPr>
          <p:cNvSpPr>
            <a:spLocks noGrp="1" noRot="1" noChangeAspect="1" noChangeArrowheads="1" noTextEdit="1"/>
          </p:cNvSpPr>
          <p:nvPr>
            <p:ph type="sldImg"/>
          </p:nvPr>
        </p:nvSpPr>
        <p:spPr>
          <a:ln/>
        </p:spPr>
      </p:sp>
      <p:sp>
        <p:nvSpPr>
          <p:cNvPr id="107524" name="Rectangle 3">
            <a:extLst>
              <a:ext uri="{FF2B5EF4-FFF2-40B4-BE49-F238E27FC236}">
                <a16:creationId xmlns="" xmlns:a16="http://schemas.microsoft.com/office/drawing/2014/main" id="{B17D04DF-B6B2-6223-9F39-28F251003A6F}"/>
              </a:ext>
            </a:extLst>
          </p:cNvPr>
          <p:cNvSpPr>
            <a:spLocks noGrp="1" noChangeArrowheads="1"/>
          </p:cNvSpPr>
          <p:nvPr>
            <p:ph type="body" idx="1"/>
          </p:nvPr>
        </p:nvSpPr>
        <p:spPr/>
        <p:txBody>
          <a:bodyPr/>
          <a:lstStyle/>
          <a:p>
            <a:pPr eaLnBrk="1" hangingPunct="1">
              <a:defRPr/>
            </a:pPr>
            <a:r>
              <a:rPr lang="en-US" altLang="en-US" b="1" dirty="0"/>
              <a:t>Continuity Strategies</a:t>
            </a:r>
          </a:p>
          <a:p>
            <a:pPr marL="342900" indent="-342900">
              <a:spcBef>
                <a:spcPct val="20000"/>
              </a:spcBef>
              <a:buFontTx/>
              <a:buChar char="•"/>
              <a:defRPr/>
            </a:pPr>
            <a:r>
              <a:rPr lang="en-US" altLang="en-US" sz="2600" kern="0" dirty="0">
                <a:solidFill>
                  <a:srgbClr val="222222"/>
                </a:solidFill>
                <a:latin typeface="Arial"/>
              </a:rPr>
              <a:t>Continuity strategies</a:t>
            </a:r>
          </a:p>
          <a:p>
            <a:pPr marL="742950" lvl="1" indent="-285750">
              <a:spcBef>
                <a:spcPct val="20000"/>
              </a:spcBef>
              <a:buFontTx/>
              <a:buChar char="–"/>
              <a:defRPr/>
            </a:pPr>
            <a:r>
              <a:rPr lang="en-US" altLang="en-US" sz="2400" kern="0" dirty="0">
                <a:solidFill>
                  <a:srgbClr val="222222"/>
                </a:solidFill>
                <a:latin typeface="Arial"/>
              </a:rPr>
              <a:t>There are a number of strategies for planning for business continuity</a:t>
            </a:r>
          </a:p>
          <a:p>
            <a:pPr marL="742950" lvl="1" indent="-285750">
              <a:spcBef>
                <a:spcPct val="20000"/>
              </a:spcBef>
              <a:buFontTx/>
              <a:buChar char="–"/>
              <a:defRPr/>
            </a:pPr>
            <a:r>
              <a:rPr lang="en-US" altLang="en-US" sz="2400" kern="0" dirty="0">
                <a:solidFill>
                  <a:srgbClr val="222222"/>
                </a:solidFill>
                <a:latin typeface="Arial"/>
              </a:rPr>
              <a:t>Determining factor in selecting between options is usually cost</a:t>
            </a:r>
          </a:p>
          <a:p>
            <a:pPr marL="742950" lvl="1" indent="-285750">
              <a:spcBef>
                <a:spcPct val="20000"/>
              </a:spcBef>
              <a:buFontTx/>
              <a:buChar char="–"/>
              <a:defRPr/>
            </a:pPr>
            <a:r>
              <a:rPr lang="en-US" altLang="en-US" sz="2400" kern="0" dirty="0">
                <a:solidFill>
                  <a:srgbClr val="222222"/>
                </a:solidFill>
                <a:latin typeface="Arial"/>
              </a:rPr>
              <a:t>In general there are three exclusive options: hot sites, warm sites, and cold sites</a:t>
            </a:r>
          </a:p>
          <a:p>
            <a:pPr marL="742950" lvl="1" indent="-285750">
              <a:spcBef>
                <a:spcPct val="20000"/>
              </a:spcBef>
              <a:buFontTx/>
              <a:buChar char="–"/>
              <a:defRPr/>
            </a:pPr>
            <a:r>
              <a:rPr lang="en-US" altLang="en-US" sz="2400" kern="0" dirty="0">
                <a:solidFill>
                  <a:srgbClr val="222222"/>
                </a:solidFill>
                <a:latin typeface="Arial"/>
              </a:rPr>
              <a:t>Three shared functions: time-share, service bureaus, and mutual agreements</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 xmlns:a16="http://schemas.microsoft.com/office/drawing/2014/main" id="{46BB56DF-CB10-D878-C125-7713939B81F2}"/>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D47F03-819E-4D5D-BDD7-C0909AE8C9AC}" type="slidenum">
              <a:rPr lang="en-US" altLang="en-US">
                <a:latin typeface="Times New Roman" panose="02020603050405020304" pitchFamily="18" charset="0"/>
              </a:rPr>
              <a:pPr eaLnBrk="1" hangingPunct="1"/>
              <a:t>58</a:t>
            </a:fld>
            <a:endParaRPr lang="en-US" altLang="en-US">
              <a:latin typeface="Times New Roman" panose="02020603050405020304" pitchFamily="18" charset="0"/>
            </a:endParaRPr>
          </a:p>
        </p:txBody>
      </p:sp>
      <p:sp>
        <p:nvSpPr>
          <p:cNvPr id="119811" name="Rectangle 2">
            <a:extLst>
              <a:ext uri="{FF2B5EF4-FFF2-40B4-BE49-F238E27FC236}">
                <a16:creationId xmlns="" xmlns:a16="http://schemas.microsoft.com/office/drawing/2014/main" id="{031B6D08-0B9C-726C-750D-8B2917500506}"/>
              </a:ext>
            </a:extLst>
          </p:cNvPr>
          <p:cNvSpPr>
            <a:spLocks noGrp="1" noRot="1" noChangeAspect="1" noChangeArrowheads="1" noTextEdit="1"/>
          </p:cNvSpPr>
          <p:nvPr>
            <p:ph type="sldImg"/>
          </p:nvPr>
        </p:nvSpPr>
        <p:spPr>
          <a:ln/>
        </p:spPr>
      </p:sp>
      <p:sp>
        <p:nvSpPr>
          <p:cNvPr id="108548" name="Rectangle 3">
            <a:extLst>
              <a:ext uri="{FF2B5EF4-FFF2-40B4-BE49-F238E27FC236}">
                <a16:creationId xmlns="" xmlns:a16="http://schemas.microsoft.com/office/drawing/2014/main" id="{7F0EF118-9D66-F7C6-95F5-E9136A1153C6}"/>
              </a:ext>
            </a:extLst>
          </p:cNvPr>
          <p:cNvSpPr>
            <a:spLocks noGrp="1" noChangeArrowheads="1"/>
          </p:cNvSpPr>
          <p:nvPr>
            <p:ph type="body" idx="1"/>
          </p:nvPr>
        </p:nvSpPr>
        <p:spPr/>
        <p:txBody>
          <a:bodyPr/>
          <a:lstStyle/>
          <a:p>
            <a:pPr eaLnBrk="1" hangingPunct="1">
              <a:defRPr/>
            </a:pPr>
            <a:r>
              <a:rPr lang="en-US" altLang="en-US" b="1" dirty="0"/>
              <a:t>Off-Site Disaster Data Storage</a:t>
            </a:r>
          </a:p>
          <a:p>
            <a:pPr marL="342900" indent="-342900">
              <a:spcBef>
                <a:spcPct val="20000"/>
              </a:spcBef>
              <a:buFontTx/>
              <a:buChar char="•"/>
              <a:defRPr/>
            </a:pPr>
            <a:r>
              <a:rPr lang="en-US" altLang="en-US" sz="2600" kern="0" dirty="0">
                <a:solidFill>
                  <a:srgbClr val="222222"/>
                </a:solidFill>
                <a:latin typeface="Arial"/>
              </a:rPr>
              <a:t>Off-Site disaster data storage</a:t>
            </a:r>
          </a:p>
          <a:p>
            <a:pPr marL="742950" lvl="1" indent="-285750">
              <a:spcBef>
                <a:spcPct val="20000"/>
              </a:spcBef>
              <a:buFontTx/>
              <a:buChar char="–"/>
              <a:defRPr/>
            </a:pPr>
            <a:r>
              <a:rPr lang="en-US" altLang="en-US" sz="2400" kern="0" dirty="0">
                <a:solidFill>
                  <a:srgbClr val="222222"/>
                </a:solidFill>
                <a:latin typeface="Arial"/>
              </a:rPr>
              <a:t>To get sites up and running quickly, an organization must have the ability to move data into new site’s systems</a:t>
            </a:r>
          </a:p>
          <a:p>
            <a:pPr marL="742950" lvl="1" indent="-285750">
              <a:spcBef>
                <a:spcPct val="20000"/>
              </a:spcBef>
              <a:buFontTx/>
              <a:buChar char="–"/>
              <a:defRPr/>
            </a:pPr>
            <a:r>
              <a:rPr lang="en-US" altLang="en-US" sz="2400" kern="0" dirty="0">
                <a:solidFill>
                  <a:srgbClr val="222222"/>
                </a:solidFill>
                <a:latin typeface="Arial"/>
              </a:rPr>
              <a:t>Options for getting operations up and running include:  </a:t>
            </a:r>
          </a:p>
          <a:p>
            <a:pPr marL="1143000" lvl="2" indent="-228600">
              <a:spcBef>
                <a:spcPct val="20000"/>
              </a:spcBef>
              <a:buFontTx/>
              <a:buChar char="•"/>
              <a:defRPr/>
            </a:pPr>
            <a:r>
              <a:rPr lang="en-US" altLang="en-US" sz="2200" kern="0" dirty="0">
                <a:solidFill>
                  <a:srgbClr val="222222"/>
                </a:solidFill>
                <a:latin typeface="Arial"/>
              </a:rPr>
              <a:t>Electronic vaulting </a:t>
            </a:r>
          </a:p>
          <a:p>
            <a:pPr marL="1143000" lvl="2" indent="-228600">
              <a:spcBef>
                <a:spcPct val="20000"/>
              </a:spcBef>
              <a:buFontTx/>
              <a:buChar char="•"/>
              <a:defRPr/>
            </a:pPr>
            <a:r>
              <a:rPr lang="en-US" altLang="en-US" sz="2200" kern="0" dirty="0">
                <a:solidFill>
                  <a:srgbClr val="222222"/>
                </a:solidFill>
                <a:latin typeface="Arial"/>
              </a:rPr>
              <a:t>Remote journaling</a:t>
            </a:r>
          </a:p>
          <a:p>
            <a:pPr marL="1143000" lvl="2" indent="-228600">
              <a:spcBef>
                <a:spcPct val="20000"/>
              </a:spcBef>
              <a:buFontTx/>
              <a:buChar char="•"/>
              <a:defRPr/>
            </a:pPr>
            <a:r>
              <a:rPr lang="en-US" altLang="en-US" sz="2200" kern="0" dirty="0">
                <a:solidFill>
                  <a:srgbClr val="222222"/>
                </a:solidFill>
                <a:latin typeface="Arial"/>
              </a:rPr>
              <a:t>Database shadowing</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 xmlns:a16="http://schemas.microsoft.com/office/drawing/2014/main" id="{840D7AA8-2B1C-A051-67E8-1373A9FE96F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35D3416-628C-4C1B-8416-7DFB3E7878F7}" type="slidenum">
              <a:rPr lang="en-US" altLang="en-US">
                <a:latin typeface="Times New Roman" panose="02020603050405020304" pitchFamily="18" charset="0"/>
              </a:rPr>
              <a:pPr eaLnBrk="1" hangingPunct="1"/>
              <a:t>59</a:t>
            </a:fld>
            <a:endParaRPr lang="en-US" altLang="en-US">
              <a:latin typeface="Times New Roman" panose="02020603050405020304" pitchFamily="18" charset="0"/>
            </a:endParaRPr>
          </a:p>
        </p:txBody>
      </p:sp>
      <p:sp>
        <p:nvSpPr>
          <p:cNvPr id="121859" name="Rectangle 2">
            <a:extLst>
              <a:ext uri="{FF2B5EF4-FFF2-40B4-BE49-F238E27FC236}">
                <a16:creationId xmlns="" xmlns:a16="http://schemas.microsoft.com/office/drawing/2014/main" id="{D792A504-63AD-A844-D585-B9DF4399DD80}"/>
              </a:ext>
            </a:extLst>
          </p:cNvPr>
          <p:cNvSpPr>
            <a:spLocks noGrp="1" noRot="1" noChangeAspect="1" noChangeArrowheads="1" noTextEdit="1"/>
          </p:cNvSpPr>
          <p:nvPr>
            <p:ph type="sldImg"/>
          </p:nvPr>
        </p:nvSpPr>
        <p:spPr>
          <a:ln/>
        </p:spPr>
      </p:sp>
      <p:sp>
        <p:nvSpPr>
          <p:cNvPr id="109572" name="Rectangle 3">
            <a:extLst>
              <a:ext uri="{FF2B5EF4-FFF2-40B4-BE49-F238E27FC236}">
                <a16:creationId xmlns="" xmlns:a16="http://schemas.microsoft.com/office/drawing/2014/main" id="{24302113-8E24-8271-AD64-9D60BEB4A8B1}"/>
              </a:ext>
            </a:extLst>
          </p:cNvPr>
          <p:cNvSpPr>
            <a:spLocks noGrp="1" noChangeArrowheads="1"/>
          </p:cNvSpPr>
          <p:nvPr>
            <p:ph type="body" idx="1"/>
          </p:nvPr>
        </p:nvSpPr>
        <p:spPr/>
        <p:txBody>
          <a:bodyPr/>
          <a:lstStyle/>
          <a:p>
            <a:pPr eaLnBrk="1" hangingPunct="1">
              <a:defRPr/>
            </a:pPr>
            <a:r>
              <a:rPr lang="en-US" altLang="en-US" b="1" dirty="0"/>
              <a:t>Crisis Management</a:t>
            </a:r>
          </a:p>
          <a:p>
            <a:pPr marL="342900" indent="-342900">
              <a:spcBef>
                <a:spcPct val="20000"/>
              </a:spcBef>
              <a:buFontTx/>
              <a:buChar char="•"/>
              <a:defRPr/>
            </a:pPr>
            <a:r>
              <a:rPr lang="en-US" altLang="en-US" sz="2600" kern="0" dirty="0">
                <a:solidFill>
                  <a:srgbClr val="222222"/>
                </a:solidFill>
                <a:latin typeface="Arial"/>
              </a:rPr>
              <a:t>Actions taken in response to an emergency to minimize injury/loss of life, preserve organization’s image/market share, and complement disaster recovery/business continuity processes </a:t>
            </a:r>
          </a:p>
          <a:p>
            <a:pPr marL="342900" indent="-342900">
              <a:spcBef>
                <a:spcPct val="20000"/>
              </a:spcBef>
              <a:buFontTx/>
              <a:buChar char="•"/>
              <a:defRPr/>
            </a:pPr>
            <a:r>
              <a:rPr lang="en-US" altLang="en-US" sz="2600" kern="0" dirty="0">
                <a:solidFill>
                  <a:srgbClr val="222222"/>
                </a:solidFill>
                <a:latin typeface="Arial"/>
              </a:rPr>
              <a:t>What may truly distinguish an incident from a disaster are the actions of the response teams</a:t>
            </a:r>
          </a:p>
          <a:p>
            <a:pPr marL="342900" indent="-342900">
              <a:spcBef>
                <a:spcPct val="20000"/>
              </a:spcBef>
              <a:buFontTx/>
              <a:buChar char="•"/>
              <a:defRPr/>
            </a:pPr>
            <a:r>
              <a:rPr lang="en-US" altLang="en-US" sz="2600" kern="0" dirty="0">
                <a:solidFill>
                  <a:srgbClr val="222222"/>
                </a:solidFill>
                <a:latin typeface="Arial"/>
              </a:rPr>
              <a:t>Disaster recovery personnel must know their roles without any supporting documentation</a:t>
            </a:r>
          </a:p>
          <a:p>
            <a:pPr marL="742950" lvl="1" indent="-285750">
              <a:spcBef>
                <a:spcPct val="20000"/>
              </a:spcBef>
              <a:buFontTx/>
              <a:buChar char="–"/>
              <a:defRPr/>
            </a:pPr>
            <a:r>
              <a:rPr lang="en-US" altLang="en-US" sz="2400" kern="0" dirty="0">
                <a:solidFill>
                  <a:srgbClr val="222222"/>
                </a:solidFill>
                <a:latin typeface="Arial"/>
              </a:rPr>
              <a:t>Preparation</a:t>
            </a:r>
          </a:p>
          <a:p>
            <a:pPr marL="742950" lvl="1" indent="-285750">
              <a:spcBef>
                <a:spcPct val="20000"/>
              </a:spcBef>
              <a:buFontTx/>
              <a:buChar char="–"/>
              <a:defRPr/>
            </a:pPr>
            <a:r>
              <a:rPr lang="en-US" altLang="en-US" sz="2400" kern="0" dirty="0">
                <a:solidFill>
                  <a:srgbClr val="222222"/>
                </a:solidFill>
                <a:latin typeface="Arial"/>
              </a:rPr>
              <a:t>Training</a:t>
            </a:r>
          </a:p>
          <a:p>
            <a:pPr marL="742950" lvl="1" indent="-285750">
              <a:spcBef>
                <a:spcPct val="20000"/>
              </a:spcBef>
              <a:buFontTx/>
              <a:buChar char="–"/>
              <a:defRPr/>
            </a:pPr>
            <a:r>
              <a:rPr lang="en-US" altLang="en-US" sz="2400" kern="0" dirty="0">
                <a:solidFill>
                  <a:srgbClr val="222222"/>
                </a:solidFill>
                <a:latin typeface="Arial"/>
              </a:rPr>
              <a:t>Rehearsal</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a:extLst>
              <a:ext uri="{FF2B5EF4-FFF2-40B4-BE49-F238E27FC236}">
                <a16:creationId xmlns="" xmlns:a16="http://schemas.microsoft.com/office/drawing/2014/main" id="{864939DA-616C-03B4-7D08-7463EF911FA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 xmlns:a16="http://schemas.microsoft.com/office/drawing/2014/main" id="{49D28A1E-3DB7-1D83-D0D5-30FB9AB464D7}"/>
              </a:ext>
            </a:extLst>
          </p:cNvPr>
          <p:cNvSpPr>
            <a:spLocks noGrp="1"/>
          </p:cNvSpPr>
          <p:nvPr>
            <p:ph type="body" idx="1"/>
          </p:nvPr>
        </p:nvSpPr>
        <p:spPr/>
        <p:txBody>
          <a:bodyPr/>
          <a:lstStyle/>
          <a:p>
            <a:pPr>
              <a:defRPr/>
            </a:pPr>
            <a:r>
              <a:rPr lang="en-US" b="1" dirty="0"/>
              <a:t>Crisis Management</a:t>
            </a:r>
          </a:p>
          <a:p>
            <a:pPr marL="342900" indent="-342900">
              <a:spcBef>
                <a:spcPct val="20000"/>
              </a:spcBef>
              <a:buFontTx/>
              <a:buChar char="•"/>
              <a:defRPr/>
            </a:pPr>
            <a:r>
              <a:rPr lang="en-US" altLang="en-US" sz="2600" kern="0" dirty="0">
                <a:solidFill>
                  <a:srgbClr val="222222"/>
                </a:solidFill>
                <a:latin typeface="Arial"/>
              </a:rPr>
              <a:t>Crisis management team is responsible for managing event from an enterprise perspective and covers: </a:t>
            </a:r>
          </a:p>
          <a:p>
            <a:pPr marL="742950" lvl="1" indent="-285750">
              <a:spcBef>
                <a:spcPct val="20000"/>
              </a:spcBef>
              <a:buFontTx/>
              <a:buChar char="–"/>
              <a:defRPr/>
            </a:pPr>
            <a:r>
              <a:rPr lang="en-US" altLang="en-US" sz="2400" kern="0" dirty="0">
                <a:solidFill>
                  <a:srgbClr val="222222"/>
                </a:solidFill>
                <a:latin typeface="Arial"/>
              </a:rPr>
              <a:t>Supporting personnel and families during crisis </a:t>
            </a:r>
          </a:p>
          <a:p>
            <a:pPr marL="742950" lvl="1" indent="-285750">
              <a:spcBef>
                <a:spcPct val="20000"/>
              </a:spcBef>
              <a:buFontTx/>
              <a:buChar char="–"/>
              <a:defRPr/>
            </a:pPr>
            <a:r>
              <a:rPr lang="en-US" altLang="en-US" sz="2400" kern="0" dirty="0">
                <a:solidFill>
                  <a:srgbClr val="222222"/>
                </a:solidFill>
                <a:latin typeface="Arial"/>
              </a:rPr>
              <a:t>Determining impact on normal business operations and, if necessary, making disaster declaration</a:t>
            </a:r>
          </a:p>
          <a:p>
            <a:pPr marL="742950" lvl="1" indent="-285750">
              <a:spcBef>
                <a:spcPct val="20000"/>
              </a:spcBef>
              <a:buFontTx/>
              <a:buChar char="–"/>
              <a:defRPr/>
            </a:pPr>
            <a:r>
              <a:rPr lang="en-US" altLang="en-US" sz="2400" kern="0" dirty="0">
                <a:solidFill>
                  <a:srgbClr val="222222"/>
                </a:solidFill>
                <a:latin typeface="Arial"/>
              </a:rPr>
              <a:t>Keeping the public informed</a:t>
            </a:r>
          </a:p>
          <a:p>
            <a:pPr marL="742950" lvl="1" indent="-285750">
              <a:spcBef>
                <a:spcPct val="20000"/>
              </a:spcBef>
              <a:buFontTx/>
              <a:buChar char="–"/>
              <a:defRPr/>
            </a:pPr>
            <a:r>
              <a:rPr lang="en-US" altLang="en-US" sz="2400" kern="0" dirty="0">
                <a:solidFill>
                  <a:srgbClr val="222222"/>
                </a:solidFill>
                <a:latin typeface="Arial"/>
              </a:rPr>
              <a:t>Communicating with major customers, suppliers, partners, regulatory agencies, industry organizations, the media, and other interested parties</a:t>
            </a:r>
          </a:p>
          <a:p>
            <a:pPr>
              <a:defRPr/>
            </a:pPr>
            <a:endParaRPr lang="en-US" b="1" dirty="0"/>
          </a:p>
        </p:txBody>
      </p:sp>
      <p:sp>
        <p:nvSpPr>
          <p:cNvPr id="123908" name="Slide Number Placeholder 3">
            <a:extLst>
              <a:ext uri="{FF2B5EF4-FFF2-40B4-BE49-F238E27FC236}">
                <a16:creationId xmlns="" xmlns:a16="http://schemas.microsoft.com/office/drawing/2014/main" id="{F82CBDBC-0A43-CF7C-0A6D-4CEA116FE0FF}"/>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fld id="{16638F8D-6398-484C-BAF1-07DFE49C2BC1}" type="slidenum">
              <a:rPr lang="en-US" altLang="en-US"/>
              <a:pPr/>
              <a:t>60</a:t>
            </a:fld>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 xmlns:a16="http://schemas.microsoft.com/office/drawing/2014/main" id="{05062921-3F14-01DF-7A6B-62DE7E22F9A2}"/>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8B041B-A24E-4C41-B32B-C81BC3CD38BB}" type="slidenum">
              <a:rPr lang="en-US" altLang="en-US">
                <a:latin typeface="Times New Roman" panose="02020603050405020304" pitchFamily="18" charset="0"/>
              </a:rPr>
              <a:pPr eaLnBrk="1" hangingPunct="1"/>
              <a:t>61</a:t>
            </a:fld>
            <a:endParaRPr lang="en-US" altLang="en-US">
              <a:latin typeface="Times New Roman" panose="02020603050405020304" pitchFamily="18" charset="0"/>
            </a:endParaRPr>
          </a:p>
        </p:txBody>
      </p:sp>
      <p:sp>
        <p:nvSpPr>
          <p:cNvPr id="125955" name="Rectangle 2">
            <a:extLst>
              <a:ext uri="{FF2B5EF4-FFF2-40B4-BE49-F238E27FC236}">
                <a16:creationId xmlns="" xmlns:a16="http://schemas.microsoft.com/office/drawing/2014/main" id="{784B9D25-30ED-D5EB-EA7E-A42750E783E8}"/>
              </a:ext>
            </a:extLst>
          </p:cNvPr>
          <p:cNvSpPr>
            <a:spLocks noGrp="1" noRot="1" noChangeAspect="1" noChangeArrowheads="1" noTextEdit="1"/>
          </p:cNvSpPr>
          <p:nvPr>
            <p:ph type="sldImg"/>
          </p:nvPr>
        </p:nvSpPr>
        <p:spPr>
          <a:ln/>
        </p:spPr>
      </p:sp>
      <p:sp>
        <p:nvSpPr>
          <p:cNvPr id="111620" name="Rectangle 3">
            <a:extLst>
              <a:ext uri="{FF2B5EF4-FFF2-40B4-BE49-F238E27FC236}">
                <a16:creationId xmlns="" xmlns:a16="http://schemas.microsoft.com/office/drawing/2014/main" id="{5F31BC03-1689-F698-5E40-CAA974E4CB98}"/>
              </a:ext>
            </a:extLst>
          </p:cNvPr>
          <p:cNvSpPr>
            <a:spLocks noGrp="1" noChangeArrowheads="1"/>
          </p:cNvSpPr>
          <p:nvPr>
            <p:ph type="body" idx="1"/>
          </p:nvPr>
        </p:nvSpPr>
        <p:spPr/>
        <p:txBody>
          <a:bodyPr/>
          <a:lstStyle/>
          <a:p>
            <a:pPr eaLnBrk="1" hangingPunct="1">
              <a:defRPr/>
            </a:pPr>
            <a:r>
              <a:rPr lang="en-US" altLang="en-US" b="1" dirty="0"/>
              <a:t>Crisis Managment</a:t>
            </a:r>
          </a:p>
          <a:p>
            <a:pPr marL="342900" indent="-342900">
              <a:spcBef>
                <a:spcPct val="20000"/>
              </a:spcBef>
              <a:buFontTx/>
              <a:buChar char="•"/>
              <a:defRPr/>
            </a:pPr>
            <a:r>
              <a:rPr lang="en-US" altLang="en-US" sz="2600" kern="0" dirty="0">
                <a:solidFill>
                  <a:srgbClr val="222222"/>
                </a:solidFill>
                <a:latin typeface="Arial"/>
              </a:rPr>
              <a:t>Key areas of crisis management also include</a:t>
            </a:r>
          </a:p>
          <a:p>
            <a:pPr marL="742950" lvl="1" indent="-285750">
              <a:spcBef>
                <a:spcPct val="20000"/>
              </a:spcBef>
              <a:buFontTx/>
              <a:buChar char="–"/>
              <a:defRPr/>
            </a:pPr>
            <a:r>
              <a:rPr lang="en-US" altLang="en-US" sz="2400" kern="0" dirty="0">
                <a:solidFill>
                  <a:srgbClr val="222222"/>
                </a:solidFill>
                <a:latin typeface="Arial"/>
              </a:rPr>
              <a:t>Verifying personnel head count</a:t>
            </a:r>
          </a:p>
          <a:p>
            <a:pPr marL="742950" lvl="1" indent="-285750">
              <a:spcBef>
                <a:spcPct val="20000"/>
              </a:spcBef>
              <a:buFontTx/>
              <a:buChar char="–"/>
              <a:defRPr/>
            </a:pPr>
            <a:r>
              <a:rPr lang="en-US" altLang="en-US" sz="2400" kern="0" dirty="0">
                <a:solidFill>
                  <a:srgbClr val="222222"/>
                </a:solidFill>
                <a:latin typeface="Arial"/>
              </a:rPr>
              <a:t>Checking alert roster</a:t>
            </a:r>
          </a:p>
          <a:p>
            <a:pPr marL="742950" lvl="1" indent="-285750">
              <a:spcBef>
                <a:spcPct val="20000"/>
              </a:spcBef>
              <a:buFontTx/>
              <a:buChar char="–"/>
              <a:defRPr/>
            </a:pPr>
            <a:r>
              <a:rPr lang="en-US" altLang="en-US" sz="2400" kern="0" dirty="0">
                <a:solidFill>
                  <a:srgbClr val="222222"/>
                </a:solidFill>
                <a:latin typeface="Arial"/>
              </a:rPr>
              <a:t>Checking emergency information cards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 xmlns:a16="http://schemas.microsoft.com/office/drawing/2014/main" id="{DE1989B4-256B-3CD0-43CB-0C426D9E2284}"/>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0DE95A-1151-4B13-89A5-640B13E76055}" type="slidenum">
              <a:rPr lang="en-US" altLang="en-US">
                <a:latin typeface="Times New Roman" panose="02020603050405020304" pitchFamily="18" charset="0"/>
              </a:rPr>
              <a:pPr eaLnBrk="1" hangingPunct="1"/>
              <a:t>62</a:t>
            </a:fld>
            <a:endParaRPr lang="en-US" altLang="en-US">
              <a:latin typeface="Times New Roman" panose="02020603050405020304" pitchFamily="18" charset="0"/>
            </a:endParaRPr>
          </a:p>
        </p:txBody>
      </p:sp>
      <p:sp>
        <p:nvSpPr>
          <p:cNvPr id="128003" name="Rectangle 2">
            <a:extLst>
              <a:ext uri="{FF2B5EF4-FFF2-40B4-BE49-F238E27FC236}">
                <a16:creationId xmlns="" xmlns:a16="http://schemas.microsoft.com/office/drawing/2014/main" id="{0A602AF8-490F-FE7C-11DC-8D1EE12CCBE7}"/>
              </a:ext>
            </a:extLst>
          </p:cNvPr>
          <p:cNvSpPr>
            <a:spLocks noGrp="1" noRot="1" noChangeAspect="1" noChangeArrowheads="1" noTextEdit="1"/>
          </p:cNvSpPr>
          <p:nvPr>
            <p:ph type="sldImg"/>
          </p:nvPr>
        </p:nvSpPr>
        <p:spPr>
          <a:ln/>
        </p:spPr>
      </p:sp>
      <p:sp>
        <p:nvSpPr>
          <p:cNvPr id="110596" name="Rectangle 3">
            <a:extLst>
              <a:ext uri="{FF2B5EF4-FFF2-40B4-BE49-F238E27FC236}">
                <a16:creationId xmlns="" xmlns:a16="http://schemas.microsoft.com/office/drawing/2014/main" id="{0EE03C89-CBF2-4607-2FF7-0250CD57A67E}"/>
              </a:ext>
            </a:extLst>
          </p:cNvPr>
          <p:cNvSpPr>
            <a:spLocks noGrp="1" noChangeArrowheads="1"/>
          </p:cNvSpPr>
          <p:nvPr>
            <p:ph type="body" idx="1"/>
          </p:nvPr>
        </p:nvSpPr>
        <p:spPr/>
        <p:txBody>
          <a:bodyPr/>
          <a:lstStyle/>
          <a:p>
            <a:pPr eaLnBrk="1" hangingPunct="1">
              <a:defRPr/>
            </a:pPr>
            <a:r>
              <a:rPr lang="en-US" altLang="en-US" b="1" dirty="0"/>
              <a:t>Consolidated Contingency Plan</a:t>
            </a:r>
          </a:p>
          <a:p>
            <a:pPr marL="342900" indent="-342900">
              <a:spcBef>
                <a:spcPct val="20000"/>
              </a:spcBef>
              <a:buFontTx/>
              <a:buChar char="•"/>
              <a:defRPr/>
            </a:pPr>
            <a:r>
              <a:rPr lang="en-US" altLang="en-US" sz="2600" kern="0" dirty="0">
                <a:solidFill>
                  <a:srgbClr val="222222"/>
                </a:solidFill>
                <a:latin typeface="Arial"/>
              </a:rPr>
              <a:t>Single document set approach combines all aspects of contingency policy and plan, incorporating IR, DR, and BC plans</a:t>
            </a:r>
          </a:p>
          <a:p>
            <a:pPr marL="342900" indent="-342900">
              <a:spcBef>
                <a:spcPct val="20000"/>
              </a:spcBef>
              <a:buFontTx/>
              <a:buChar char="•"/>
              <a:defRPr/>
            </a:pPr>
            <a:r>
              <a:rPr lang="en-US" altLang="en-US" sz="2600" kern="0" dirty="0">
                <a:solidFill>
                  <a:srgbClr val="222222"/>
                </a:solidFill>
                <a:latin typeface="Arial"/>
              </a:rPr>
              <a:t>Often created and stored electronically, should be easily accessible by employees in time of need</a:t>
            </a:r>
          </a:p>
          <a:p>
            <a:pPr marL="742950" lvl="1" indent="-285750">
              <a:spcBef>
                <a:spcPct val="20000"/>
              </a:spcBef>
              <a:buFontTx/>
              <a:buChar char="–"/>
              <a:defRPr/>
            </a:pPr>
            <a:r>
              <a:rPr lang="en-US" altLang="en-US" sz="2400" kern="0" dirty="0">
                <a:solidFill>
                  <a:srgbClr val="222222"/>
                </a:solidFill>
                <a:latin typeface="Arial"/>
              </a:rPr>
              <a:t>Small and medium-sized organizations may also store hard copies of document </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 xmlns:a16="http://schemas.microsoft.com/office/drawing/2014/main" id="{7AC09941-560C-FB4B-8C42-106C39FAE51C}"/>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9A31BAB-7D9A-4AA6-B775-33566B698D51}" type="slidenum">
              <a:rPr lang="en-US" altLang="en-US">
                <a:latin typeface="Times New Roman" panose="02020603050405020304" pitchFamily="18" charset="0"/>
              </a:rPr>
              <a:pPr eaLnBrk="1" hangingPunct="1"/>
              <a:t>63</a:t>
            </a:fld>
            <a:endParaRPr lang="en-US" altLang="en-US">
              <a:latin typeface="Times New Roman" panose="02020603050405020304" pitchFamily="18" charset="0"/>
            </a:endParaRPr>
          </a:p>
        </p:txBody>
      </p:sp>
      <p:sp>
        <p:nvSpPr>
          <p:cNvPr id="130051" name="Rectangle 2">
            <a:extLst>
              <a:ext uri="{FF2B5EF4-FFF2-40B4-BE49-F238E27FC236}">
                <a16:creationId xmlns="" xmlns:a16="http://schemas.microsoft.com/office/drawing/2014/main" id="{5EF34759-D320-A8FC-2C33-DFB54A3DB17C}"/>
              </a:ext>
            </a:extLst>
          </p:cNvPr>
          <p:cNvSpPr>
            <a:spLocks noGrp="1" noRot="1" noChangeAspect="1" noChangeArrowheads="1" noTextEdit="1"/>
          </p:cNvSpPr>
          <p:nvPr>
            <p:ph type="sldImg"/>
          </p:nvPr>
        </p:nvSpPr>
        <p:spPr>
          <a:ln/>
        </p:spPr>
      </p:sp>
      <p:sp>
        <p:nvSpPr>
          <p:cNvPr id="130052" name="Rectangle 3">
            <a:extLst>
              <a:ext uri="{FF2B5EF4-FFF2-40B4-BE49-F238E27FC236}">
                <a16:creationId xmlns="" xmlns:a16="http://schemas.microsoft.com/office/drawing/2014/main" id="{927BAD6D-7A87-FD7A-7E35-D85BAB413507}"/>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eaLnBrk="1" hangingPunct="1"/>
            <a:r>
              <a:rPr lang="en-US" altLang="en-US" b="1"/>
              <a:t>Law Enforcement Involvement</a:t>
            </a:r>
          </a:p>
          <a:p>
            <a:pPr eaLnBrk="1" hangingPunct="1">
              <a:lnSpc>
                <a:spcPct val="80000"/>
              </a:lnSpc>
            </a:pPr>
            <a:r>
              <a:rPr lang="en-US" altLang="en-US"/>
              <a:t>There may come a time when it has been determined that the incident at hand exceeds the violation of policy and constitutes a violation of law. </a:t>
            </a:r>
          </a:p>
          <a:p>
            <a:pPr eaLnBrk="1" hangingPunct="1">
              <a:lnSpc>
                <a:spcPct val="80000"/>
              </a:lnSpc>
            </a:pPr>
            <a:r>
              <a:rPr lang="en-US" altLang="en-US"/>
              <a:t>The organization may determine that involving law enforcement is necessary. </a:t>
            </a:r>
          </a:p>
          <a:p>
            <a:pPr eaLnBrk="1" hangingPunct="1">
              <a:lnSpc>
                <a:spcPct val="80000"/>
              </a:lnSpc>
            </a:pPr>
            <a:r>
              <a:rPr lang="en-US" altLang="en-US"/>
              <a:t>There are several questions that must then be answered. </a:t>
            </a:r>
          </a:p>
          <a:p>
            <a:pPr eaLnBrk="1" hangingPunct="1">
              <a:lnSpc>
                <a:spcPct val="80000"/>
              </a:lnSpc>
            </a:pPr>
            <a:r>
              <a:rPr lang="en-US" altLang="en-US"/>
              <a:t>When should the organization get law enforcement involved? </a:t>
            </a:r>
          </a:p>
          <a:p>
            <a:pPr eaLnBrk="1" hangingPunct="1">
              <a:lnSpc>
                <a:spcPct val="80000"/>
              </a:lnSpc>
            </a:pPr>
            <a:r>
              <a:rPr lang="en-US" altLang="en-US"/>
              <a:t>What level of law enforcement agency should be involved: local, state, or federal?  </a:t>
            </a:r>
          </a:p>
          <a:p>
            <a:pPr eaLnBrk="1" hangingPunct="1">
              <a:lnSpc>
                <a:spcPct val="80000"/>
              </a:lnSpc>
            </a:pPr>
            <a:r>
              <a:rPr lang="en-US" altLang="en-US"/>
              <a:t>What will happen when the law enforcement agency is involved? </a:t>
            </a:r>
          </a:p>
          <a:p>
            <a:pPr eaLnBrk="1" hangingPunct="1">
              <a:lnSpc>
                <a:spcPct val="80000"/>
              </a:lnSpc>
            </a:pPr>
            <a:r>
              <a:rPr lang="en-US" altLang="en-US"/>
              <a:t>Some of these questions are best answered by the organization’s legal department.</a:t>
            </a:r>
          </a:p>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 xmlns:a16="http://schemas.microsoft.com/office/drawing/2014/main" id="{0A6AF502-9320-D524-4277-D730103DC429}"/>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077497C-0737-47CC-A4FD-73EC218602C5}" type="slidenum">
              <a:rPr lang="en-US" altLang="en-US">
                <a:latin typeface="Times New Roman" panose="02020603050405020304" pitchFamily="18" charset="0"/>
              </a:rPr>
              <a:pPr eaLnBrk="1" hangingPunct="1"/>
              <a:t>64</a:t>
            </a:fld>
            <a:endParaRPr lang="en-US" altLang="en-US">
              <a:latin typeface="Times New Roman" panose="02020603050405020304" pitchFamily="18" charset="0"/>
            </a:endParaRPr>
          </a:p>
        </p:txBody>
      </p:sp>
      <p:sp>
        <p:nvSpPr>
          <p:cNvPr id="132099" name="Rectangle 2">
            <a:extLst>
              <a:ext uri="{FF2B5EF4-FFF2-40B4-BE49-F238E27FC236}">
                <a16:creationId xmlns="" xmlns:a16="http://schemas.microsoft.com/office/drawing/2014/main" id="{E3FA92FD-9676-09F7-ADA0-1E327C85C27B}"/>
              </a:ext>
            </a:extLst>
          </p:cNvPr>
          <p:cNvSpPr>
            <a:spLocks noGrp="1" noRot="1" noChangeAspect="1" noChangeArrowheads="1" noTextEdit="1"/>
          </p:cNvSpPr>
          <p:nvPr>
            <p:ph type="sldImg"/>
          </p:nvPr>
        </p:nvSpPr>
        <p:spPr>
          <a:ln/>
        </p:spPr>
      </p:sp>
      <p:sp>
        <p:nvSpPr>
          <p:cNvPr id="114692" name="Rectangle 3">
            <a:extLst>
              <a:ext uri="{FF2B5EF4-FFF2-40B4-BE49-F238E27FC236}">
                <a16:creationId xmlns="" xmlns:a16="http://schemas.microsoft.com/office/drawing/2014/main" id="{A4B1CE86-0D3D-0111-1287-F7DBB3D89F15}"/>
              </a:ext>
            </a:extLst>
          </p:cNvPr>
          <p:cNvSpPr>
            <a:spLocks noGrp="1" noChangeArrowheads="1"/>
          </p:cNvSpPr>
          <p:nvPr>
            <p:ph type="body" idx="1"/>
          </p:nvPr>
        </p:nvSpPr>
        <p:spPr/>
        <p:txBody>
          <a:bodyPr/>
          <a:lstStyle/>
          <a:p>
            <a:pPr eaLnBrk="1" hangingPunct="1">
              <a:defRPr/>
            </a:pPr>
            <a:r>
              <a:rPr lang="en-US" altLang="en-US" b="1" dirty="0"/>
              <a:t>Benefits of Law Enforcement Involvement</a:t>
            </a:r>
          </a:p>
          <a:p>
            <a:pPr marL="342900" indent="-342900">
              <a:spcBef>
                <a:spcPct val="20000"/>
              </a:spcBef>
              <a:buFontTx/>
              <a:buChar char="•"/>
              <a:defRPr/>
            </a:pPr>
            <a:r>
              <a:rPr lang="en-US" altLang="en-US" sz="2600" kern="0" dirty="0">
                <a:solidFill>
                  <a:srgbClr val="222222"/>
                </a:solidFill>
                <a:latin typeface="Arial"/>
              </a:rPr>
              <a:t>Involving law enforcement agencies has advantages:</a:t>
            </a:r>
          </a:p>
          <a:p>
            <a:pPr marL="742950" lvl="1" indent="-285750">
              <a:spcBef>
                <a:spcPct val="20000"/>
              </a:spcBef>
              <a:buFontTx/>
              <a:buChar char="–"/>
              <a:defRPr/>
            </a:pPr>
            <a:r>
              <a:rPr lang="en-US" altLang="en-US" sz="2400" kern="0" dirty="0">
                <a:solidFill>
                  <a:srgbClr val="222222"/>
                </a:solidFill>
                <a:latin typeface="Arial"/>
              </a:rPr>
              <a:t>Agencies may be better equipped at processing evidence </a:t>
            </a:r>
          </a:p>
          <a:p>
            <a:pPr marL="742950" lvl="1" indent="-285750">
              <a:spcBef>
                <a:spcPct val="20000"/>
              </a:spcBef>
              <a:buFontTx/>
              <a:buChar char="–"/>
              <a:defRPr/>
            </a:pPr>
            <a:r>
              <a:rPr lang="en-US" altLang="en-US" sz="2400" kern="0" dirty="0">
                <a:solidFill>
                  <a:srgbClr val="222222"/>
                </a:solidFill>
                <a:latin typeface="Arial"/>
              </a:rPr>
              <a:t>Organization may be less effective in extracting necessary information to legally convict suspected criminal  </a:t>
            </a:r>
          </a:p>
          <a:p>
            <a:pPr marL="742950" lvl="1" indent="-285750">
              <a:spcBef>
                <a:spcPct val="20000"/>
              </a:spcBef>
              <a:buFontTx/>
              <a:buChar char="–"/>
              <a:defRPr/>
            </a:pPr>
            <a:r>
              <a:rPr lang="en-US" altLang="en-US" sz="2400" kern="0" dirty="0">
                <a:solidFill>
                  <a:srgbClr val="222222"/>
                </a:solidFill>
                <a:latin typeface="Arial"/>
              </a:rPr>
              <a:t>Law enforcement agencies are prepared to handle any necessary warrants and subpoenas</a:t>
            </a:r>
          </a:p>
          <a:p>
            <a:pPr marL="742950" lvl="1" indent="-285750">
              <a:spcBef>
                <a:spcPct val="20000"/>
              </a:spcBef>
              <a:buFontTx/>
              <a:buChar char="–"/>
              <a:defRPr/>
            </a:pPr>
            <a:r>
              <a:rPr lang="en-US" altLang="en-US" sz="2400" kern="0" dirty="0">
                <a:solidFill>
                  <a:srgbClr val="222222"/>
                </a:solidFill>
                <a:latin typeface="Arial"/>
              </a:rPr>
              <a:t>Law enforcement is skilled at obtaining witness statements and other information collection</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 xmlns:a16="http://schemas.microsoft.com/office/drawing/2014/main" id="{1D1140EC-A58E-E17B-1664-A45047E9AD11}"/>
              </a:ext>
            </a:extLst>
          </p:cNvPr>
          <p:cNvSpPr>
            <a:spLocks noGrp="1" noChangeArrowheads="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2C875E-786D-4DED-822D-A66DD3D32AD8}" type="slidenum">
              <a:rPr lang="en-US" altLang="en-US">
                <a:latin typeface="Times New Roman" panose="02020603050405020304" pitchFamily="18" charset="0"/>
              </a:rPr>
              <a:pPr eaLnBrk="1" hangingPunct="1"/>
              <a:t>65</a:t>
            </a:fld>
            <a:endParaRPr lang="en-US" altLang="en-US">
              <a:latin typeface="Times New Roman" panose="02020603050405020304" pitchFamily="18" charset="0"/>
            </a:endParaRPr>
          </a:p>
        </p:txBody>
      </p:sp>
      <p:sp>
        <p:nvSpPr>
          <p:cNvPr id="134147" name="Rectangle 2">
            <a:extLst>
              <a:ext uri="{FF2B5EF4-FFF2-40B4-BE49-F238E27FC236}">
                <a16:creationId xmlns="" xmlns:a16="http://schemas.microsoft.com/office/drawing/2014/main" id="{DFC6AACA-1E33-2260-67C2-FBF71E02DBB1}"/>
              </a:ext>
            </a:extLst>
          </p:cNvPr>
          <p:cNvSpPr>
            <a:spLocks noGrp="1" noRot="1" noChangeAspect="1" noChangeArrowheads="1" noTextEdit="1"/>
          </p:cNvSpPr>
          <p:nvPr>
            <p:ph type="sldImg"/>
          </p:nvPr>
        </p:nvSpPr>
        <p:spPr>
          <a:ln/>
        </p:spPr>
      </p:sp>
      <p:sp>
        <p:nvSpPr>
          <p:cNvPr id="115716" name="Rectangle 3">
            <a:extLst>
              <a:ext uri="{FF2B5EF4-FFF2-40B4-BE49-F238E27FC236}">
                <a16:creationId xmlns="" xmlns:a16="http://schemas.microsoft.com/office/drawing/2014/main" id="{84134381-755F-66D0-48C2-A7E6A3B7B722}"/>
              </a:ext>
            </a:extLst>
          </p:cNvPr>
          <p:cNvSpPr>
            <a:spLocks noGrp="1" noChangeArrowheads="1"/>
          </p:cNvSpPr>
          <p:nvPr>
            <p:ph type="body" idx="1"/>
          </p:nvPr>
        </p:nvSpPr>
        <p:spPr/>
        <p:txBody>
          <a:bodyPr/>
          <a:lstStyle/>
          <a:p>
            <a:pPr eaLnBrk="1" hangingPunct="1">
              <a:defRPr/>
            </a:pPr>
            <a:r>
              <a:rPr lang="en-US" altLang="en-US" b="1" dirty="0"/>
              <a:t>Drawbacks to Law Enforcement Involvement</a:t>
            </a:r>
          </a:p>
          <a:p>
            <a:pPr marL="342900" indent="-342900">
              <a:spcBef>
                <a:spcPct val="20000"/>
              </a:spcBef>
              <a:buFontTx/>
              <a:buChar char="•"/>
              <a:defRPr/>
            </a:pPr>
            <a:r>
              <a:rPr lang="en-US" altLang="en-US" sz="2600" kern="0" dirty="0">
                <a:solidFill>
                  <a:srgbClr val="222222"/>
                </a:solidFill>
                <a:latin typeface="Arial"/>
              </a:rPr>
              <a:t>Involving law enforcement agencies has disadvantages:</a:t>
            </a:r>
          </a:p>
          <a:p>
            <a:pPr marL="742950" lvl="1" indent="-285750">
              <a:spcBef>
                <a:spcPct val="20000"/>
              </a:spcBef>
              <a:buFontTx/>
              <a:buChar char="–"/>
              <a:defRPr/>
            </a:pPr>
            <a:r>
              <a:rPr lang="en-US" altLang="en-US" sz="2400" kern="0" dirty="0">
                <a:solidFill>
                  <a:srgbClr val="222222"/>
                </a:solidFill>
                <a:latin typeface="Arial"/>
              </a:rPr>
              <a:t>Once a law enforcement agency takes over case, organization cannot control chain of events  </a:t>
            </a:r>
          </a:p>
          <a:p>
            <a:pPr marL="742950" lvl="1" indent="-285750">
              <a:spcBef>
                <a:spcPct val="20000"/>
              </a:spcBef>
              <a:buFontTx/>
              <a:buChar char="–"/>
              <a:defRPr/>
            </a:pPr>
            <a:r>
              <a:rPr lang="en-US" altLang="en-US" sz="2400" kern="0" dirty="0">
                <a:solidFill>
                  <a:srgbClr val="222222"/>
                </a:solidFill>
                <a:latin typeface="Arial"/>
              </a:rPr>
              <a:t>Organization may not hear about case for weeks or months  </a:t>
            </a:r>
          </a:p>
          <a:p>
            <a:pPr marL="742950" lvl="1" indent="-285750">
              <a:spcBef>
                <a:spcPct val="20000"/>
              </a:spcBef>
              <a:buFontTx/>
              <a:buChar char="–"/>
              <a:defRPr/>
            </a:pPr>
            <a:r>
              <a:rPr lang="en-US" altLang="en-US" sz="2400" kern="0" dirty="0">
                <a:solidFill>
                  <a:srgbClr val="222222"/>
                </a:solidFill>
                <a:latin typeface="Arial"/>
              </a:rPr>
              <a:t>Equipment vital to the organization’s business may be tagged as evidence</a:t>
            </a:r>
          </a:p>
          <a:p>
            <a:pPr marL="742950" lvl="1" indent="-285750">
              <a:spcBef>
                <a:spcPct val="20000"/>
              </a:spcBef>
              <a:buFontTx/>
              <a:buChar char="–"/>
              <a:defRPr/>
            </a:pPr>
            <a:r>
              <a:rPr lang="en-US" altLang="en-US" sz="2400" kern="0" dirty="0">
                <a:solidFill>
                  <a:srgbClr val="222222"/>
                </a:solidFill>
                <a:latin typeface="Arial"/>
              </a:rPr>
              <a:t>If organization detects a criminal act, it is legally obligated to involve appropriate law enforcement officials</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a:extLst>
              <a:ext uri="{FF2B5EF4-FFF2-40B4-BE49-F238E27FC236}">
                <a16:creationId xmlns="" xmlns:a16="http://schemas.microsoft.com/office/drawing/2014/main" id="{721A5E10-3971-C479-C887-639973E8E461}"/>
              </a:ext>
            </a:extLst>
          </p:cNvPr>
          <p:cNvSpPr>
            <a:spLocks noGrp="1" noRot="1" noChangeAspect="1" noChangeArrowheads="1" noTextEdit="1"/>
          </p:cNvSpPr>
          <p:nvPr>
            <p:ph type="sldImg"/>
          </p:nvPr>
        </p:nvSpPr>
        <p:spPr>
          <a:ln/>
        </p:spPr>
      </p:sp>
      <p:sp>
        <p:nvSpPr>
          <p:cNvPr id="136195" name="Notes Placeholder 2">
            <a:extLst>
              <a:ext uri="{FF2B5EF4-FFF2-40B4-BE49-F238E27FC236}">
                <a16:creationId xmlns="" xmlns:a16="http://schemas.microsoft.com/office/drawing/2014/main" id="{0AC81127-177F-2964-2807-AC2B62D79180}"/>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p>
        </p:txBody>
      </p:sp>
      <p:sp>
        <p:nvSpPr>
          <p:cNvPr id="136196" name="Slide Number Placeholder 3">
            <a:extLst>
              <a:ext uri="{FF2B5EF4-FFF2-40B4-BE49-F238E27FC236}">
                <a16:creationId xmlns="" xmlns:a16="http://schemas.microsoft.com/office/drawing/2014/main" id="{93F0A562-533B-25A7-AF16-E441C5A44281}"/>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1CAA531-BE65-4BB6-B7CE-43B0542EB46E}" type="slidenum">
              <a:rPr lang="en-US" altLang="en-US">
                <a:latin typeface="Times New Roman" panose="02020603050405020304" pitchFamily="18" charset="0"/>
              </a:rPr>
              <a:pPr eaLnBrk="1" hangingPunct="1"/>
              <a:t>66</a:t>
            </a:fld>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 xmlns:a16="http://schemas.microsoft.com/office/drawing/2014/main" id="{91D920C3-5DBD-14D6-45AF-F6EF7B26F3BE}"/>
              </a:ext>
            </a:extLst>
          </p:cNvPr>
          <p:cNvSpPr>
            <a:spLocks noGrp="1" noRot="1" noChangeAspect="1" noChangeArrowheads="1" noTextEdit="1"/>
          </p:cNvSpPr>
          <p:nvPr>
            <p:ph type="sldImg"/>
          </p:nvPr>
        </p:nvSpPr>
        <p:spPr>
          <a:ln/>
        </p:spPr>
      </p:sp>
      <p:sp>
        <p:nvSpPr>
          <p:cNvPr id="138243" name="Notes Placeholder 2">
            <a:extLst>
              <a:ext uri="{FF2B5EF4-FFF2-40B4-BE49-F238E27FC236}">
                <a16:creationId xmlns="" xmlns:a16="http://schemas.microsoft.com/office/drawing/2014/main" id="{BDFE2CEA-3D45-A09F-C77B-DFA95846759C}"/>
              </a:ext>
            </a:extLst>
          </p:cNvPr>
          <p:cNvSpPr>
            <a:spLocks noGrp="1" noChangeArrowheads="1"/>
          </p:cNvSpPr>
          <p:nvPr>
            <p:ph type="body" idx="1"/>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ltLang="en-US"/>
          </a:p>
        </p:txBody>
      </p:sp>
      <p:sp>
        <p:nvSpPr>
          <p:cNvPr id="138244" name="Slide Number Placeholder 3">
            <a:extLst>
              <a:ext uri="{FF2B5EF4-FFF2-40B4-BE49-F238E27FC236}">
                <a16:creationId xmlns="" xmlns:a16="http://schemas.microsoft.com/office/drawing/2014/main" id="{4B8D50F1-B06F-6FBA-0E7C-1FDAED3E2690}"/>
              </a:ext>
            </a:extLst>
          </p:cNvPr>
          <p:cNvSpPr>
            <a:spLocks noGrp="1"/>
          </p:cNvSpPr>
          <p:nvPr>
            <p:ph type="sldNum" sz="quarter" idx="5"/>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Arial" panose="020B0604020202020204" pitchFamily="34" charset="0"/>
              </a:defRPr>
            </a:lvl1pPr>
            <a:lvl2pPr marL="785813" indent="-303213" defTabSz="966788">
              <a:defRPr>
                <a:solidFill>
                  <a:schemeClr val="tx1"/>
                </a:solidFill>
                <a:latin typeface="Arial" panose="020B0604020202020204" pitchFamily="34" charset="0"/>
              </a:defRPr>
            </a:lvl2pPr>
            <a:lvl3pPr marL="1208088" indent="-241300" defTabSz="966788">
              <a:defRPr>
                <a:solidFill>
                  <a:schemeClr val="tx1"/>
                </a:solidFill>
                <a:latin typeface="Arial" panose="020B0604020202020204" pitchFamily="34" charset="0"/>
              </a:defRPr>
            </a:lvl3pPr>
            <a:lvl4pPr marL="1692275" indent="-242888" defTabSz="966788">
              <a:defRPr>
                <a:solidFill>
                  <a:schemeClr val="tx1"/>
                </a:solidFill>
                <a:latin typeface="Arial" panose="020B0604020202020204" pitchFamily="34" charset="0"/>
              </a:defRPr>
            </a:lvl4pPr>
            <a:lvl5pPr marL="2174875" indent="-241300" defTabSz="966788">
              <a:defRPr>
                <a:solidFill>
                  <a:schemeClr val="tx1"/>
                </a:solidFill>
                <a:latin typeface="Arial" panose="020B0604020202020204" pitchFamily="34" charset="0"/>
              </a:defRPr>
            </a:lvl5pPr>
            <a:lvl6pPr marL="2632075" indent="-241300" defTabSz="966788" eaLnBrk="0" fontAlgn="base" hangingPunct="0">
              <a:spcBef>
                <a:spcPct val="0"/>
              </a:spcBef>
              <a:spcAft>
                <a:spcPct val="0"/>
              </a:spcAft>
              <a:defRPr>
                <a:solidFill>
                  <a:schemeClr val="tx1"/>
                </a:solidFill>
                <a:latin typeface="Arial" panose="020B0604020202020204" pitchFamily="34" charset="0"/>
              </a:defRPr>
            </a:lvl6pPr>
            <a:lvl7pPr marL="3089275" indent="-241300" defTabSz="966788" eaLnBrk="0" fontAlgn="base" hangingPunct="0">
              <a:spcBef>
                <a:spcPct val="0"/>
              </a:spcBef>
              <a:spcAft>
                <a:spcPct val="0"/>
              </a:spcAft>
              <a:defRPr>
                <a:solidFill>
                  <a:schemeClr val="tx1"/>
                </a:solidFill>
                <a:latin typeface="Arial" panose="020B0604020202020204" pitchFamily="34" charset="0"/>
              </a:defRPr>
            </a:lvl7pPr>
            <a:lvl8pPr marL="3546475" indent="-241300" defTabSz="966788" eaLnBrk="0" fontAlgn="base" hangingPunct="0">
              <a:spcBef>
                <a:spcPct val="0"/>
              </a:spcBef>
              <a:spcAft>
                <a:spcPct val="0"/>
              </a:spcAft>
              <a:defRPr>
                <a:solidFill>
                  <a:schemeClr val="tx1"/>
                </a:solidFill>
                <a:latin typeface="Arial" panose="020B0604020202020204" pitchFamily="34" charset="0"/>
              </a:defRPr>
            </a:lvl8pPr>
            <a:lvl9pPr marL="4003675" indent="-241300" defTabSz="966788"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E44BDA0-B998-4391-B96F-D6308FF8FD73}" type="slidenum">
              <a:rPr lang="en-US" altLang="en-US">
                <a:latin typeface="Times New Roman" panose="02020603050405020304" pitchFamily="18" charset="0"/>
              </a:rPr>
              <a:pPr eaLnBrk="1" hangingPunct="1"/>
              <a:t>67</a:t>
            </a:fld>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C5C023C-08CD-4A08-8148-098BCE66F3AA}"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409495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5C023C-08CD-4A08-8148-098BCE66F3AA}"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1656453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5C023C-08CD-4A08-8148-098BCE66F3AA}"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2908662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5C023C-08CD-4A08-8148-098BCE66F3AA}"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521649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5C023C-08CD-4A08-8148-098BCE66F3AA}" type="datetimeFigureOut">
              <a:rPr lang="en-US" smtClean="0"/>
              <a:pPr/>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1387582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C5C023C-08CD-4A08-8148-098BCE66F3AA}" type="datetimeFigureOut">
              <a:rPr lang="en-US" smtClean="0"/>
              <a:pPr/>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201101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5C023C-08CD-4A08-8148-098BCE66F3AA}" type="datetimeFigureOut">
              <a:rPr lang="en-US" smtClean="0"/>
              <a:pPr/>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2020625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C023C-08CD-4A08-8148-098BCE66F3AA}"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3174335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C023C-08CD-4A08-8148-098BCE66F3AA}" type="datetimeFigureOut">
              <a:rPr lang="en-US" smtClean="0"/>
              <a:pPr/>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1244094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5C023C-08CD-4A08-8148-098BCE66F3AA}"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42127732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5C023C-08CD-4A08-8148-098BCE66F3AA}" type="datetimeFigureOut">
              <a:rPr lang="en-US" smtClean="0"/>
              <a:pPr/>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3385780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5C023C-08CD-4A08-8148-098BCE66F3AA}" type="datetimeFigureOut">
              <a:rPr lang="en-US" smtClean="0"/>
              <a:pPr/>
              <a:t>1/22/2026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1FABCD-9418-42CB-8748-C56F3DB8AB41}" type="slidenum">
              <a:rPr lang="en-US" smtClean="0"/>
              <a:pPr/>
              <a:t>‹#›</a:t>
            </a:fld>
            <a:endParaRPr lang="en-US"/>
          </a:p>
        </p:txBody>
      </p:sp>
    </p:spTree>
    <p:extLst>
      <p:ext uri="{BB962C8B-B14F-4D97-AF65-F5344CB8AC3E}">
        <p14:creationId xmlns="" xmlns:p14="http://schemas.microsoft.com/office/powerpoint/2010/main" val="3337402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10.xml"/><Relationship Id="rId5" Type="http://schemas.openxmlformats.org/officeDocument/2006/relationships/image" Target="../media/image6.png"/><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4.jpe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4.jpe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1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4.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2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22.xml"/><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hemeOverride" Target="../theme/themeOverride23.xml"/><Relationship Id="rId4" Type="http://schemas.openxmlformats.org/officeDocument/2006/relationships/image" Target="../media/image4.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hemeOverride" Target="../theme/themeOverride24.xml"/><Relationship Id="rId4" Type="http://schemas.openxmlformats.org/officeDocument/2006/relationships/image" Target="../media/image4.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25.xml"/><Relationship Id="rId4" Type="http://schemas.openxmlformats.org/officeDocument/2006/relationships/image" Target="../media/image4.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hemeOverride" Target="../theme/themeOverride26.xml"/><Relationship Id="rId4" Type="http://schemas.openxmlformats.org/officeDocument/2006/relationships/image" Target="../media/image4.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hemeOverride" Target="../theme/themeOverride27.xml"/><Relationship Id="rId4" Type="http://schemas.openxmlformats.org/officeDocument/2006/relationships/image" Target="../media/image4.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hemeOverride" Target="../theme/themeOverride28.xml"/><Relationship Id="rId4" Type="http://schemas.openxmlformats.org/officeDocument/2006/relationships/image" Target="../media/image4.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hemeOverride" Target="../theme/themeOverride29.xml"/><Relationship Id="rId5" Type="http://schemas.openxmlformats.org/officeDocument/2006/relationships/image" Target="../media/image11.png"/><Relationship Id="rId4" Type="http://schemas.openxmlformats.org/officeDocument/2006/relationships/image" Target="../media/image4.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hemeOverride" Target="../theme/themeOverride30.xml"/><Relationship Id="rId4" Type="http://schemas.openxmlformats.org/officeDocument/2006/relationships/image" Target="../media/image4.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hemeOverride" Target="../theme/themeOverride31.xml"/><Relationship Id="rId5" Type="http://schemas.openxmlformats.org/officeDocument/2006/relationships/image" Target="../media/image12.jpeg"/><Relationship Id="rId4" Type="http://schemas.openxmlformats.org/officeDocument/2006/relationships/image" Target="../media/image4.jpeg"/></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7.xml"/><Relationship Id="rId1" Type="http://schemas.openxmlformats.org/officeDocument/2006/relationships/themeOverride" Target="../theme/themeOverride32.xml"/><Relationship Id="rId4" Type="http://schemas.openxmlformats.org/officeDocument/2006/relationships/image" Target="../media/image13.jpe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hemeOverride" Target="../theme/themeOverride33.xml"/><Relationship Id="rId4" Type="http://schemas.openxmlformats.org/officeDocument/2006/relationships/image" Target="../media/image4.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hemeOverride" Target="../theme/themeOverride34.xml"/><Relationship Id="rId4" Type="http://schemas.openxmlformats.org/officeDocument/2006/relationships/image" Target="../media/image4.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hemeOverride" Target="../theme/themeOverride35.xml"/><Relationship Id="rId4" Type="http://schemas.openxmlformats.org/officeDocument/2006/relationships/image" Target="../media/image4.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hemeOverride" Target="../theme/themeOverride36.xml"/><Relationship Id="rId4" Type="http://schemas.openxmlformats.org/officeDocument/2006/relationships/image" Target="../media/image4.jpeg"/></Relationships>
</file>

<file path=ppt/slides/_rels/slide3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37.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hemeOverride" Target="../theme/themeOverride38.xml"/><Relationship Id="rId4" Type="http://schemas.openxmlformats.org/officeDocument/2006/relationships/image" Target="../media/image4.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hemeOverride" Target="../theme/themeOverride39.xml"/><Relationship Id="rId5" Type="http://schemas.openxmlformats.org/officeDocument/2006/relationships/image" Target="../media/image15.png"/><Relationship Id="rId4" Type="http://schemas.openxmlformats.org/officeDocument/2006/relationships/image" Target="../media/image4.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hemeOverride" Target="../theme/themeOverride40.xml"/><Relationship Id="rId4" Type="http://schemas.openxmlformats.org/officeDocument/2006/relationships/image" Target="../media/image4.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hemeOverride" Target="../theme/themeOverride41.xml"/><Relationship Id="rId5" Type="http://schemas.openxmlformats.org/officeDocument/2006/relationships/image" Target="../media/image16.png"/><Relationship Id="rId4" Type="http://schemas.openxmlformats.org/officeDocument/2006/relationships/image" Target="../media/image4.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hemeOverride" Target="../theme/themeOverride42.xml"/><Relationship Id="rId4" Type="http://schemas.openxmlformats.org/officeDocument/2006/relationships/image" Target="../media/image4.jpeg"/></Relationships>
</file>

<file path=ppt/slides/_rels/slide4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43.xml"/><Relationship Id="rId4" Type="http://schemas.openxmlformats.org/officeDocument/2006/relationships/image" Target="../media/image17.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hemeOverride" Target="../theme/themeOverride44.xml"/><Relationship Id="rId4" Type="http://schemas.openxmlformats.org/officeDocument/2006/relationships/image" Target="../media/image4.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hemeOverride" Target="../theme/themeOverride45.xml"/><Relationship Id="rId4" Type="http://schemas.openxmlformats.org/officeDocument/2006/relationships/image" Target="../media/image4.jpeg"/></Relationships>
</file>

<file path=ppt/slides/_rels/slide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46.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hemeOverride" Target="../theme/themeOverride47.xml"/><Relationship Id="rId4" Type="http://schemas.openxmlformats.org/officeDocument/2006/relationships/image" Target="../media/image4.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hemeOverride" Target="../theme/themeOverride48.xml"/><Relationship Id="rId4" Type="http://schemas.openxmlformats.org/officeDocument/2006/relationships/image" Target="../media/image4.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hemeOverride" Target="../theme/themeOverride49.xml"/><Relationship Id="rId4" Type="http://schemas.openxmlformats.org/officeDocument/2006/relationships/image" Target="../media/image4.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hemeOverride" Target="../theme/themeOverride50.xml"/><Relationship Id="rId4" Type="http://schemas.openxmlformats.org/officeDocument/2006/relationships/image" Target="../media/image4.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hemeOverride" Target="../theme/themeOverride51.xml"/><Relationship Id="rId4" Type="http://schemas.openxmlformats.org/officeDocument/2006/relationships/image" Target="../media/image4.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hemeOverride" Target="../theme/themeOverride52.xml"/><Relationship Id="rId4" Type="http://schemas.openxmlformats.org/officeDocument/2006/relationships/image" Target="../media/image4.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hemeOverride" Target="../theme/themeOverride53.xml"/><Relationship Id="rId4" Type="http://schemas.openxmlformats.org/officeDocument/2006/relationships/image" Target="../media/image4.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hemeOverride" Target="../theme/themeOverride54.xml"/><Relationship Id="rId4" Type="http://schemas.openxmlformats.org/officeDocument/2006/relationships/image" Target="../media/image4.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hemeOverride" Target="../theme/themeOverride55.xml"/><Relationship Id="rId4" Type="http://schemas.openxmlformats.org/officeDocument/2006/relationships/image" Target="../media/image4.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hemeOverride" Target="../theme/themeOverride56.xml"/><Relationship Id="rId4" Type="http://schemas.openxmlformats.org/officeDocument/2006/relationships/image" Target="../media/image4.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themeOverride" Target="../theme/themeOverride57.xml"/><Relationship Id="rId4" Type="http://schemas.openxmlformats.org/officeDocument/2006/relationships/image" Target="../media/image4.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hemeOverride" Target="../theme/themeOverride58.xml"/><Relationship Id="rId4" Type="http://schemas.openxmlformats.org/officeDocument/2006/relationships/image" Target="../media/image4.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hemeOverride" Target="../theme/themeOverride59.xml"/><Relationship Id="rId4" Type="http://schemas.openxmlformats.org/officeDocument/2006/relationships/image" Target="../media/image4.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hemeOverride" Target="../theme/themeOverride60.xml"/><Relationship Id="rId4" Type="http://schemas.openxmlformats.org/officeDocument/2006/relationships/image" Target="../media/image4.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hemeOverride" Target="../theme/themeOverride61.xml"/><Relationship Id="rId4" Type="http://schemas.openxmlformats.org/officeDocument/2006/relationships/image" Target="../media/image4.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themeOverride" Target="../theme/themeOverride62.xml"/><Relationship Id="rId4" Type="http://schemas.openxmlformats.org/officeDocument/2006/relationships/image" Target="../media/image4.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themeOverride" Target="../theme/themeOverride63.xml"/><Relationship Id="rId4" Type="http://schemas.openxmlformats.org/officeDocument/2006/relationships/image" Target="../media/image4.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hemeOverride" Target="../theme/themeOverride64.xml"/><Relationship Id="rId4" Type="http://schemas.openxmlformats.org/officeDocument/2006/relationships/image" Target="../media/image4.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themeOverride" Target="../theme/themeOverride65.xml"/><Relationship Id="rId4" Type="http://schemas.openxmlformats.org/officeDocument/2006/relationships/image" Target="../media/image4.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hemeOverride" Target="../theme/themeOverride66.xml"/><Relationship Id="rId4" Type="http://schemas.openxmlformats.org/officeDocument/2006/relationships/image" Target="../media/image4.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hemeOverride" Target="../theme/themeOverride67.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object 4"/>
          <p:cNvSpPr txBox="1"/>
          <p:nvPr/>
        </p:nvSpPr>
        <p:spPr>
          <a:xfrm>
            <a:off x="4866894" y="3943934"/>
            <a:ext cx="4199890" cy="320601"/>
          </a:xfrm>
          <a:prstGeom prst="rect">
            <a:avLst/>
          </a:prstGeom>
        </p:spPr>
        <p:txBody>
          <a:bodyPr vert="horz" wrap="square" lIns="0" tIns="12700" rIns="0" bIns="0" rtlCol="0">
            <a:spAutoFit/>
          </a:bodyPr>
          <a:lstStyle/>
          <a:p>
            <a:pPr marL="12700">
              <a:lnSpc>
                <a:spcPct val="100000"/>
              </a:lnSpc>
              <a:spcBef>
                <a:spcPts val="100"/>
              </a:spcBef>
            </a:pPr>
            <a:endParaRPr lang="es-ES" sz="2000" dirty="0">
              <a:latin typeface="Arial"/>
              <a:cs typeface="Arial"/>
            </a:endParaRPr>
          </a:p>
        </p:txBody>
      </p:sp>
      <p:grpSp>
        <p:nvGrpSpPr>
          <p:cNvPr id="2" name="Group 1">
            <a:extLst>
              <a:ext uri="{FF2B5EF4-FFF2-40B4-BE49-F238E27FC236}">
                <a16:creationId xmlns="" xmlns:a16="http://schemas.microsoft.com/office/drawing/2014/main" id="{66228B23-0B50-688B-9892-5590E9F6D2D7}"/>
              </a:ext>
            </a:extLst>
          </p:cNvPr>
          <p:cNvGrpSpPr/>
          <p:nvPr/>
        </p:nvGrpSpPr>
        <p:grpSpPr>
          <a:xfrm>
            <a:off x="0" y="716137"/>
            <a:ext cx="12192000" cy="3362179"/>
            <a:chOff x="0" y="1959914"/>
            <a:chExt cx="12192000" cy="3362179"/>
          </a:xfrm>
        </p:grpSpPr>
        <p:sp>
          <p:nvSpPr>
            <p:cNvPr id="5" name="Rounded Rectangle 4">
              <a:extLst>
                <a:ext uri="{FF2B5EF4-FFF2-40B4-BE49-F238E27FC236}">
                  <a16:creationId xmlns="" xmlns:a16="http://schemas.microsoft.com/office/drawing/2014/main" id="{E1E2AF43-8F62-A096-22DE-AFA4768FFEB2}"/>
                </a:ext>
              </a:extLst>
            </p:cNvPr>
            <p:cNvSpPr/>
            <p:nvPr/>
          </p:nvSpPr>
          <p:spPr>
            <a:xfrm>
              <a:off x="0" y="1959914"/>
              <a:ext cx="12192000" cy="3362179"/>
            </a:xfrm>
            <a:prstGeom prst="roundRect">
              <a:avLst/>
            </a:prstGeom>
            <a:solidFill>
              <a:srgbClr val="FFFFFF">
                <a:alpha val="72157"/>
              </a:srgb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 xmlns:a16="http://schemas.microsoft.com/office/drawing/2014/main" id="{85D232C6-6576-71EB-5792-3DF8DF899B1D}"/>
                </a:ext>
              </a:extLst>
            </p:cNvPr>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0" y="2296451"/>
              <a:ext cx="2799786" cy="2848905"/>
            </a:xfrm>
            <a:prstGeom prst="rect">
              <a:avLst/>
            </a:prstGeom>
            <a:ln>
              <a:noFill/>
            </a:ln>
            <a:effectLst>
              <a:outerShdw blurRad="292100" dist="139700" dir="2700000" algn="tl" rotWithShape="0">
                <a:srgbClr val="333333">
                  <a:alpha val="65000"/>
                </a:srgbClr>
              </a:outerShdw>
            </a:effectLst>
          </p:spPr>
        </p:pic>
      </p:grpSp>
      <p:sp>
        <p:nvSpPr>
          <p:cNvPr id="3" name="object 3"/>
          <p:cNvSpPr txBox="1">
            <a:spLocks noGrp="1"/>
          </p:cNvSpPr>
          <p:nvPr>
            <p:ph type="title"/>
          </p:nvPr>
        </p:nvSpPr>
        <p:spPr>
          <a:xfrm>
            <a:off x="3264629" y="1767698"/>
            <a:ext cx="7404420" cy="850874"/>
          </a:xfrm>
          <a:prstGeom prst="rect">
            <a:avLst/>
          </a:prstGeom>
        </p:spPr>
        <p:txBody>
          <a:bodyPr vert="horz" wrap="square" lIns="0" tIns="106045" rIns="0" bIns="0" rtlCol="0">
            <a:spAutoFit/>
          </a:bodyPr>
          <a:lstStyle/>
          <a:p>
            <a:pPr marL="12700" marR="5080" algn="ctr">
              <a:lnSpc>
                <a:spcPts val="5830"/>
              </a:lnSpc>
              <a:spcBef>
                <a:spcPts val="835"/>
              </a:spcBef>
            </a:pPr>
            <a:r>
              <a:rPr lang="es-ES" sz="5400" b="1" spc="-40" dirty="0" err="1"/>
              <a:t>Planning</a:t>
            </a:r>
            <a:r>
              <a:rPr lang="es-ES" sz="5400" b="1" spc="-40" dirty="0"/>
              <a:t> </a:t>
            </a:r>
            <a:r>
              <a:rPr lang="es-ES" sz="5400" b="1" spc="-40" dirty="0" err="1"/>
              <a:t>for</a:t>
            </a:r>
            <a:r>
              <a:rPr lang="es-ES" sz="5400" b="1" spc="-40" dirty="0"/>
              <a:t> Security</a:t>
            </a:r>
            <a:endParaRPr sz="5400" b="1" dirty="0"/>
          </a:p>
        </p:txBody>
      </p:sp>
      <p:sp>
        <p:nvSpPr>
          <p:cNvPr id="6" name="object 3">
            <a:extLst>
              <a:ext uri="{FF2B5EF4-FFF2-40B4-BE49-F238E27FC236}">
                <a16:creationId xmlns="" xmlns:a16="http://schemas.microsoft.com/office/drawing/2014/main" id="{7574B9A1-1E86-4BB1-9FED-C260BD128456}"/>
              </a:ext>
            </a:extLst>
          </p:cNvPr>
          <p:cNvSpPr txBox="1">
            <a:spLocks/>
          </p:cNvSpPr>
          <p:nvPr/>
        </p:nvSpPr>
        <p:spPr>
          <a:xfrm>
            <a:off x="7512570" y="3255334"/>
            <a:ext cx="4543306" cy="1645963"/>
          </a:xfrm>
          <a:prstGeom prst="rect">
            <a:avLst/>
          </a:prstGeom>
        </p:spPr>
        <p:txBody>
          <a:bodyPr vert="horz" wrap="square" lIns="0" tIns="106045" rIns="0" bIns="0" rtlCol="0">
            <a:spAutoFit/>
          </a:bodyPr>
          <a:lstStyle>
            <a:lvl1pPr>
              <a:defRPr sz="3200" b="1" i="0">
                <a:solidFill>
                  <a:srgbClr val="0E6EC5"/>
                </a:solidFill>
                <a:latin typeface="Arial"/>
                <a:ea typeface="+mj-ea"/>
                <a:cs typeface="Arial"/>
              </a:defRPr>
            </a:lvl1pPr>
          </a:lstStyle>
          <a:p>
            <a:pPr marL="12700" marR="5080">
              <a:spcBef>
                <a:spcPts val="835"/>
              </a:spcBef>
            </a:pPr>
            <a:endParaRPr lang="en-US" sz="2000" kern="0" spc="-40" dirty="0" smtClean="0"/>
          </a:p>
          <a:p>
            <a:pPr marL="12700" marR="5080">
              <a:spcBef>
                <a:spcPts val="835"/>
              </a:spcBef>
            </a:pPr>
            <a:r>
              <a:rPr lang="en-US" sz="2000" kern="0" spc="-40" dirty="0" smtClean="0"/>
              <a:t>Presented </a:t>
            </a:r>
            <a:r>
              <a:rPr lang="en-US" sz="2000" kern="0" spc="-40" dirty="0"/>
              <a:t>by  : Dr. Cecilia E. </a:t>
            </a:r>
            <a:r>
              <a:rPr lang="en-US" sz="2000" kern="0" spc="-40" dirty="0" err="1" smtClean="0"/>
              <a:t>Tadeo</a:t>
            </a:r>
            <a:endParaRPr lang="en-US" sz="2000" kern="0" spc="-40" dirty="0"/>
          </a:p>
          <a:p>
            <a:pPr marL="12700" marR="5080">
              <a:spcBef>
                <a:spcPts val="835"/>
              </a:spcBef>
            </a:pPr>
            <a:endParaRPr lang="en-US" sz="2000" kern="0" spc="-40" dirty="0"/>
          </a:p>
          <a:p>
            <a:pPr marL="12700" marR="5080">
              <a:spcBef>
                <a:spcPts val="835"/>
              </a:spcBef>
            </a:pPr>
            <a:endParaRPr lang="en-US" sz="2000" kern="0" dirty="0"/>
          </a:p>
        </p:txBody>
      </p:sp>
      <p:pic>
        <p:nvPicPr>
          <p:cNvPr id="8" name="Picture 14">
            <a:extLst>
              <a:ext uri="{FF2B5EF4-FFF2-40B4-BE49-F238E27FC236}">
                <a16:creationId xmlns="" xmlns:a16="http://schemas.microsoft.com/office/drawing/2014/main" id="{D84119A1-7D7E-1E59-073A-FC9A04ECEEF9}"/>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7376446" y="4442597"/>
            <a:ext cx="4664075" cy="1554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314" name="Rectangle 8">
            <a:extLst>
              <a:ext uri="{FF2B5EF4-FFF2-40B4-BE49-F238E27FC236}">
                <a16:creationId xmlns="" xmlns:a16="http://schemas.microsoft.com/office/drawing/2014/main" id="{3D62C867-A45B-B802-0BB3-8CAC46FFE4B9}"/>
              </a:ext>
            </a:extLst>
          </p:cNvPr>
          <p:cNvSpPr>
            <a:spLocks noGrp="1" noChangeArrowheads="1"/>
          </p:cNvSpPr>
          <p:nvPr>
            <p:ph type="title"/>
          </p:nvPr>
        </p:nvSpPr>
        <p:spPr/>
        <p:txBody>
          <a:bodyPr/>
          <a:lstStyle/>
          <a:p>
            <a:r>
              <a:rPr lang="en-US" altLang="en-US"/>
              <a:t>Learning Objectives</a:t>
            </a:r>
          </a:p>
        </p:txBody>
      </p:sp>
      <p:sp>
        <p:nvSpPr>
          <p:cNvPr id="13315" name="Rectangle 7">
            <a:extLst>
              <a:ext uri="{FF2B5EF4-FFF2-40B4-BE49-F238E27FC236}">
                <a16:creationId xmlns="" xmlns:a16="http://schemas.microsoft.com/office/drawing/2014/main" id="{2C8BAAA8-0F1A-9623-A7E9-90B4F0978886}"/>
              </a:ext>
            </a:extLst>
          </p:cNvPr>
          <p:cNvSpPr>
            <a:spLocks noGrp="1" noChangeArrowheads="1"/>
          </p:cNvSpPr>
          <p:nvPr>
            <p:ph idx="1"/>
          </p:nvPr>
        </p:nvSpPr>
        <p:spPr/>
        <p:txBody>
          <a:bodyPr/>
          <a:lstStyle/>
          <a:p>
            <a:r>
              <a:rPr lang="en-US" altLang="en-US" dirty="0"/>
              <a:t>Upon completion of this session, you should be able to:</a:t>
            </a:r>
          </a:p>
          <a:p>
            <a:pPr lvl="1"/>
            <a:r>
              <a:rPr lang="en-US" altLang="en-US" dirty="0"/>
              <a:t>Describe management’s role in the development, maintenance, and enforcement of information security policy, standards, practices, procedures, and guidelines</a:t>
            </a:r>
          </a:p>
          <a:p>
            <a:pPr lvl="1"/>
            <a:r>
              <a:rPr lang="en-US" altLang="en-US" dirty="0"/>
              <a:t>Explain what an information security blueprint is, identify its major components, and explain how it supports the information security program</a:t>
            </a:r>
          </a:p>
        </p:txBody>
      </p:sp>
      <p:sp>
        <p:nvSpPr>
          <p:cNvPr id="13316" name="Footer Placeholder 4">
            <a:extLst>
              <a:ext uri="{FF2B5EF4-FFF2-40B4-BE49-F238E27FC236}">
                <a16:creationId xmlns="" xmlns:a16="http://schemas.microsoft.com/office/drawing/2014/main" id="{61AD536F-ED47-D7CF-1B6E-A8269C22F49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3317" name="Slide Number Placeholder 5">
            <a:extLst>
              <a:ext uri="{FF2B5EF4-FFF2-40B4-BE49-F238E27FC236}">
                <a16:creationId xmlns="" xmlns:a16="http://schemas.microsoft.com/office/drawing/2014/main" id="{FB79CB74-8BD9-C903-5E9A-05B0893CDE1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86C1543-44C8-4738-A797-7A9D8394918D}" type="slidenum">
              <a:rPr lang="en-US" altLang="en-US" sz="1400"/>
              <a:pPr>
                <a:spcBef>
                  <a:spcPct val="0"/>
                </a:spcBef>
                <a:buFontTx/>
                <a:buNone/>
              </a:pPr>
              <a:t>2</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 xmlns:a16="http://schemas.microsoft.com/office/drawing/2014/main" id="{B2E3B886-20D7-EF4F-5A08-8B3E88BB3CCA}"/>
              </a:ext>
            </a:extLst>
          </p:cNvPr>
          <p:cNvSpPr>
            <a:spLocks noGrp="1" noChangeArrowheads="1"/>
          </p:cNvSpPr>
          <p:nvPr>
            <p:ph type="title"/>
          </p:nvPr>
        </p:nvSpPr>
        <p:spPr/>
        <p:txBody>
          <a:bodyPr/>
          <a:lstStyle/>
          <a:p>
            <a:r>
              <a:rPr lang="en-US" altLang="en-US"/>
              <a:t>Learning Objectives (cont’d)</a:t>
            </a:r>
          </a:p>
        </p:txBody>
      </p:sp>
      <p:sp>
        <p:nvSpPr>
          <p:cNvPr id="15363" name="Rectangle 3">
            <a:extLst>
              <a:ext uri="{FF2B5EF4-FFF2-40B4-BE49-F238E27FC236}">
                <a16:creationId xmlns="" xmlns:a16="http://schemas.microsoft.com/office/drawing/2014/main" id="{92049D9B-7C6A-1A62-8C56-2188A8D9F6F0}"/>
              </a:ext>
            </a:extLst>
          </p:cNvPr>
          <p:cNvSpPr>
            <a:spLocks noGrp="1" noChangeArrowheads="1"/>
          </p:cNvSpPr>
          <p:nvPr>
            <p:ph idx="1"/>
          </p:nvPr>
        </p:nvSpPr>
        <p:spPr/>
        <p:txBody>
          <a:bodyPr/>
          <a:lstStyle/>
          <a:p>
            <a:pPr lvl="1"/>
            <a:r>
              <a:rPr lang="en-US" altLang="en-US"/>
              <a:t>Discuss how an organization institutionalizes its policies, standards, and practices using education, training, and awareness programs</a:t>
            </a:r>
          </a:p>
          <a:p>
            <a:pPr lvl="1"/>
            <a:r>
              <a:rPr lang="en-US" altLang="en-US"/>
              <a:t>Describe what contingency planning is and how it relates to incident response planning, disaster recovery planning, and business continuity plans</a:t>
            </a:r>
          </a:p>
        </p:txBody>
      </p:sp>
      <p:sp>
        <p:nvSpPr>
          <p:cNvPr id="15364" name="Footer Placeholder 4">
            <a:extLst>
              <a:ext uri="{FF2B5EF4-FFF2-40B4-BE49-F238E27FC236}">
                <a16:creationId xmlns="" xmlns:a16="http://schemas.microsoft.com/office/drawing/2014/main" id="{71961FA8-34EF-B6D7-A6BE-6C18A585840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5365" name="Slide Number Placeholder 5">
            <a:extLst>
              <a:ext uri="{FF2B5EF4-FFF2-40B4-BE49-F238E27FC236}">
                <a16:creationId xmlns="" xmlns:a16="http://schemas.microsoft.com/office/drawing/2014/main" id="{11A3446D-D4AA-796A-2185-1686B15796B5}"/>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37473070-BE91-4ECD-ADF1-F363690495B5}" type="slidenum">
              <a:rPr lang="en-US" altLang="en-US" sz="1400"/>
              <a:pPr>
                <a:spcBef>
                  <a:spcPct val="0"/>
                </a:spcBef>
                <a:buFontTx/>
                <a:buNone/>
              </a:pPr>
              <a:t>3</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7410" name="Rectangle 6">
            <a:extLst>
              <a:ext uri="{FF2B5EF4-FFF2-40B4-BE49-F238E27FC236}">
                <a16:creationId xmlns="" xmlns:a16="http://schemas.microsoft.com/office/drawing/2014/main" id="{FC54B64C-D9CE-CDAC-0E72-FF063BC1F994}"/>
              </a:ext>
            </a:extLst>
          </p:cNvPr>
          <p:cNvSpPr>
            <a:spLocks noGrp="1" noChangeArrowheads="1"/>
          </p:cNvSpPr>
          <p:nvPr>
            <p:ph type="title"/>
          </p:nvPr>
        </p:nvSpPr>
        <p:spPr/>
        <p:txBody>
          <a:bodyPr/>
          <a:lstStyle/>
          <a:p>
            <a:r>
              <a:rPr lang="en-US" altLang="en-US"/>
              <a:t>Introduction</a:t>
            </a:r>
          </a:p>
        </p:txBody>
      </p:sp>
      <p:sp>
        <p:nvSpPr>
          <p:cNvPr id="17411" name="Rectangle 7">
            <a:extLst>
              <a:ext uri="{FF2B5EF4-FFF2-40B4-BE49-F238E27FC236}">
                <a16:creationId xmlns="" xmlns:a16="http://schemas.microsoft.com/office/drawing/2014/main" id="{7132AA15-36F8-8A37-FA4B-6CF9FEDA8C6A}"/>
              </a:ext>
            </a:extLst>
          </p:cNvPr>
          <p:cNvSpPr>
            <a:spLocks noGrp="1" noChangeArrowheads="1"/>
          </p:cNvSpPr>
          <p:nvPr>
            <p:ph idx="1"/>
          </p:nvPr>
        </p:nvSpPr>
        <p:spPr/>
        <p:txBody>
          <a:bodyPr/>
          <a:lstStyle/>
          <a:p>
            <a:r>
              <a:rPr lang="en-US" altLang="en-US"/>
              <a:t>Information security program begins with policies, standards, and practices, which are the foundation for information security architecture and blueprint.</a:t>
            </a:r>
          </a:p>
          <a:p>
            <a:r>
              <a:rPr lang="en-US" altLang="en-US"/>
              <a:t>Coordinated planning is required to create and maintain these elements.</a:t>
            </a:r>
          </a:p>
          <a:p>
            <a:r>
              <a:rPr lang="en-US" altLang="en-US"/>
              <a:t>Strategic planning for the management of allocation of resources</a:t>
            </a:r>
          </a:p>
          <a:p>
            <a:r>
              <a:rPr lang="en-US" altLang="en-US"/>
              <a:t>Contingency planning for the preparation of uncertain business environment</a:t>
            </a:r>
          </a:p>
        </p:txBody>
      </p:sp>
      <p:sp>
        <p:nvSpPr>
          <p:cNvPr id="17412" name="Footer Placeholder 4">
            <a:extLst>
              <a:ext uri="{FF2B5EF4-FFF2-40B4-BE49-F238E27FC236}">
                <a16:creationId xmlns="" xmlns:a16="http://schemas.microsoft.com/office/drawing/2014/main" id="{8C765A66-2C28-CF9A-3DF7-44A2051A8A5C}"/>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7413" name="Slide Number Placeholder 5">
            <a:extLst>
              <a:ext uri="{FF2B5EF4-FFF2-40B4-BE49-F238E27FC236}">
                <a16:creationId xmlns="" xmlns:a16="http://schemas.microsoft.com/office/drawing/2014/main" id="{40F99196-935D-4081-4206-3236E80E4045}"/>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7723E623-16F0-4954-A0E8-D003A9E3585A}" type="slidenum">
              <a:rPr lang="en-US" altLang="en-US" sz="1400"/>
              <a:pPr>
                <a:spcBef>
                  <a:spcPct val="0"/>
                </a:spcBef>
                <a:buFontTx/>
                <a:buNone/>
              </a:pPr>
              <a:t>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9458" name="Title 1">
            <a:extLst>
              <a:ext uri="{FF2B5EF4-FFF2-40B4-BE49-F238E27FC236}">
                <a16:creationId xmlns="" xmlns:a16="http://schemas.microsoft.com/office/drawing/2014/main" id="{DCB1C454-E959-0DE0-63BA-A5B173A6AFA3}"/>
              </a:ext>
            </a:extLst>
          </p:cNvPr>
          <p:cNvSpPr>
            <a:spLocks noGrp="1" noChangeArrowheads="1"/>
          </p:cNvSpPr>
          <p:nvPr>
            <p:ph type="title"/>
          </p:nvPr>
        </p:nvSpPr>
        <p:spPr/>
        <p:txBody>
          <a:bodyPr/>
          <a:lstStyle/>
          <a:p>
            <a:r>
              <a:rPr lang="en-US" altLang="en-US"/>
              <a:t>Information Security Planning and Governance</a:t>
            </a:r>
          </a:p>
        </p:txBody>
      </p:sp>
      <p:sp>
        <p:nvSpPr>
          <p:cNvPr id="19459" name="Content Placeholder 2">
            <a:extLst>
              <a:ext uri="{FF2B5EF4-FFF2-40B4-BE49-F238E27FC236}">
                <a16:creationId xmlns="" xmlns:a16="http://schemas.microsoft.com/office/drawing/2014/main" id="{E849EFCB-597F-A913-04CD-047BF82F644E}"/>
              </a:ext>
            </a:extLst>
          </p:cNvPr>
          <p:cNvSpPr>
            <a:spLocks noGrp="1" noChangeArrowheads="1"/>
          </p:cNvSpPr>
          <p:nvPr>
            <p:ph idx="1"/>
          </p:nvPr>
        </p:nvSpPr>
        <p:spPr/>
        <p:txBody>
          <a:bodyPr/>
          <a:lstStyle/>
          <a:p>
            <a:r>
              <a:rPr lang="en-US" altLang="en-US" sz="2500"/>
              <a:t>Planning levels help translate organization’s strategic plans into tactical objectives.</a:t>
            </a:r>
          </a:p>
          <a:p>
            <a:r>
              <a:rPr lang="en-US" altLang="en-US" sz="2500"/>
              <a:t>Planning and the CISO</a:t>
            </a:r>
          </a:p>
          <a:p>
            <a:r>
              <a:rPr lang="en-US" altLang="en-US" sz="2500"/>
              <a:t>Information Security Governance</a:t>
            </a:r>
          </a:p>
          <a:p>
            <a:pPr lvl="1"/>
            <a:r>
              <a:rPr lang="en-US" altLang="en-US" sz="2300"/>
              <a:t>Governance: </a:t>
            </a:r>
          </a:p>
          <a:p>
            <a:pPr lvl="2"/>
            <a:r>
              <a:rPr lang="en-US" altLang="en-US"/>
              <a:t>Set of responsibilities and practices exercised by the board and executive management </a:t>
            </a:r>
          </a:p>
          <a:p>
            <a:pPr lvl="2"/>
            <a:r>
              <a:rPr lang="en-US" altLang="en-US"/>
              <a:t>Goal to provide strategic direction, establishment of objectives, and measurement of progress toward objectives</a:t>
            </a:r>
          </a:p>
          <a:p>
            <a:pPr lvl="2"/>
            <a:r>
              <a:rPr lang="en-US" altLang="en-US"/>
              <a:t>Also verifies/validates that risk management practices are appropriate and assets used properly</a:t>
            </a:r>
          </a:p>
        </p:txBody>
      </p:sp>
      <p:sp>
        <p:nvSpPr>
          <p:cNvPr id="19460" name="Footer Placeholder 3">
            <a:extLst>
              <a:ext uri="{FF2B5EF4-FFF2-40B4-BE49-F238E27FC236}">
                <a16:creationId xmlns="" xmlns:a16="http://schemas.microsoft.com/office/drawing/2014/main" id="{3B10D35D-0F1B-7CCA-CC23-2AB6616FA58B}"/>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9461" name="Slide Number Placeholder 4">
            <a:extLst>
              <a:ext uri="{FF2B5EF4-FFF2-40B4-BE49-F238E27FC236}">
                <a16:creationId xmlns="" xmlns:a16="http://schemas.microsoft.com/office/drawing/2014/main" id="{F1B3FD41-0F07-9723-D70B-E742D62D7FF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6161AEC-6A40-4822-BC04-279C04A0891E}" type="slidenum">
              <a:rPr lang="en-US" altLang="en-US" sz="1400"/>
              <a:pPr>
                <a:spcBef>
                  <a:spcPct val="0"/>
                </a:spcBef>
                <a:buFontTx/>
                <a:buNone/>
              </a:pPr>
              <a:t>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1506" name="Title 1">
            <a:extLst>
              <a:ext uri="{FF2B5EF4-FFF2-40B4-BE49-F238E27FC236}">
                <a16:creationId xmlns="" xmlns:a16="http://schemas.microsoft.com/office/drawing/2014/main" id="{6B12EDED-D02E-B22F-812B-E74E0FD97657}"/>
              </a:ext>
            </a:extLst>
          </p:cNvPr>
          <p:cNvSpPr>
            <a:spLocks noGrp="1" noChangeArrowheads="1"/>
          </p:cNvSpPr>
          <p:nvPr>
            <p:ph type="title"/>
          </p:nvPr>
        </p:nvSpPr>
        <p:spPr/>
        <p:txBody>
          <a:bodyPr/>
          <a:lstStyle/>
          <a:p>
            <a:r>
              <a:rPr lang="en-US" altLang="en-US"/>
              <a:t>Information Security Planning and Governance (cont’d)</a:t>
            </a:r>
          </a:p>
        </p:txBody>
      </p:sp>
      <p:sp>
        <p:nvSpPr>
          <p:cNvPr id="21507" name="Content Placeholder 2">
            <a:extLst>
              <a:ext uri="{FF2B5EF4-FFF2-40B4-BE49-F238E27FC236}">
                <a16:creationId xmlns="" xmlns:a16="http://schemas.microsoft.com/office/drawing/2014/main" id="{0C98D886-590F-0250-7D56-D06F8268C327}"/>
              </a:ext>
            </a:extLst>
          </p:cNvPr>
          <p:cNvSpPr>
            <a:spLocks noGrp="1" noChangeArrowheads="1"/>
          </p:cNvSpPr>
          <p:nvPr>
            <p:ph idx="1"/>
          </p:nvPr>
        </p:nvSpPr>
        <p:spPr/>
        <p:txBody>
          <a:bodyPr/>
          <a:lstStyle/>
          <a:p>
            <a:r>
              <a:rPr lang="en-US" altLang="en-US"/>
              <a:t>Information Security Governance outcomes</a:t>
            </a:r>
          </a:p>
          <a:p>
            <a:pPr lvl="1"/>
            <a:r>
              <a:rPr lang="en-US" altLang="en-US"/>
              <a:t>Five goals:</a:t>
            </a:r>
          </a:p>
          <a:p>
            <a:pPr lvl="2"/>
            <a:r>
              <a:rPr lang="en-US" altLang="en-US"/>
              <a:t>Strategic alignment</a:t>
            </a:r>
          </a:p>
          <a:p>
            <a:pPr lvl="2"/>
            <a:r>
              <a:rPr lang="en-US" altLang="en-US"/>
              <a:t>Risk management</a:t>
            </a:r>
          </a:p>
          <a:p>
            <a:pPr lvl="2"/>
            <a:r>
              <a:rPr lang="en-US" altLang="en-US"/>
              <a:t>Resource management </a:t>
            </a:r>
          </a:p>
          <a:p>
            <a:pPr lvl="2"/>
            <a:r>
              <a:rPr lang="en-US" altLang="en-US"/>
              <a:t>Performance measures</a:t>
            </a:r>
          </a:p>
          <a:p>
            <a:pPr lvl="2"/>
            <a:r>
              <a:rPr lang="en-US" altLang="en-US"/>
              <a:t>Value delivery</a:t>
            </a:r>
          </a:p>
        </p:txBody>
      </p:sp>
      <p:sp>
        <p:nvSpPr>
          <p:cNvPr id="21508" name="Footer Placeholder 3">
            <a:extLst>
              <a:ext uri="{FF2B5EF4-FFF2-40B4-BE49-F238E27FC236}">
                <a16:creationId xmlns="" xmlns:a16="http://schemas.microsoft.com/office/drawing/2014/main" id="{1C469DA4-0CF4-3F33-2359-50BAECA7770A}"/>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21509" name="Slide Number Placeholder 4">
            <a:extLst>
              <a:ext uri="{FF2B5EF4-FFF2-40B4-BE49-F238E27FC236}">
                <a16:creationId xmlns="" xmlns:a16="http://schemas.microsoft.com/office/drawing/2014/main" id="{FCF27E5D-62AD-9B8B-4FD0-829ED5F7FD6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0D7D610-50F0-4BBB-9A41-6E13C3065AF0}" type="slidenum">
              <a:rPr lang="en-US" altLang="en-US" sz="1400"/>
              <a:pPr>
                <a:spcBef>
                  <a:spcPct val="0"/>
                </a:spcBef>
                <a:buFontTx/>
                <a:buNone/>
              </a:pPr>
              <a:t>6</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3554" name="Footer Placeholder 3">
            <a:extLst>
              <a:ext uri="{FF2B5EF4-FFF2-40B4-BE49-F238E27FC236}">
                <a16:creationId xmlns="" xmlns:a16="http://schemas.microsoft.com/office/drawing/2014/main" id="{23A2EE24-BBA2-7B6E-7C23-6E321C841C9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23555" name="Slide Number Placeholder 4">
            <a:extLst>
              <a:ext uri="{FF2B5EF4-FFF2-40B4-BE49-F238E27FC236}">
                <a16:creationId xmlns="" xmlns:a16="http://schemas.microsoft.com/office/drawing/2014/main" id="{E732489A-C220-B1F8-9D0B-5A78DD7FF66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B255216-C5FF-4F4E-8441-7A496C1D644E}" type="slidenum">
              <a:rPr lang="en-US" altLang="en-US" sz="1400"/>
              <a:pPr>
                <a:spcBef>
                  <a:spcPct val="0"/>
                </a:spcBef>
                <a:buFontTx/>
                <a:buNone/>
              </a:pPr>
              <a:t>7</a:t>
            </a:fld>
            <a:endParaRPr lang="en-US" altLang="en-US" sz="1400"/>
          </a:p>
        </p:txBody>
      </p:sp>
      <p:pic>
        <p:nvPicPr>
          <p:cNvPr id="23556" name="Picture 6">
            <a:extLst>
              <a:ext uri="{FF2B5EF4-FFF2-40B4-BE49-F238E27FC236}">
                <a16:creationId xmlns="" xmlns:a16="http://schemas.microsoft.com/office/drawing/2014/main" id="{8B134197-66DE-833A-A9C7-3A4817C2A4D6}"/>
              </a:ext>
            </a:extLst>
          </p:cNvPr>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2743200" y="152401"/>
            <a:ext cx="6781800" cy="6005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4578" name="Rectangle 6">
            <a:extLst>
              <a:ext uri="{FF2B5EF4-FFF2-40B4-BE49-F238E27FC236}">
                <a16:creationId xmlns="" xmlns:a16="http://schemas.microsoft.com/office/drawing/2014/main" id="{03CD48C7-F093-2D5C-3B90-B96FD5547832}"/>
              </a:ext>
            </a:extLst>
          </p:cNvPr>
          <p:cNvSpPr>
            <a:spLocks noGrp="1" noChangeArrowheads="1"/>
          </p:cNvSpPr>
          <p:nvPr>
            <p:ph type="title"/>
          </p:nvPr>
        </p:nvSpPr>
        <p:spPr/>
        <p:txBody>
          <a:bodyPr/>
          <a:lstStyle/>
          <a:p>
            <a:r>
              <a:rPr lang="en-US" altLang="en-US"/>
              <a:t>Information Security Policy, Standards, </a:t>
            </a:r>
            <a:br>
              <a:rPr lang="en-US" altLang="en-US"/>
            </a:br>
            <a:r>
              <a:rPr lang="en-US" altLang="en-US"/>
              <a:t>and Practices</a:t>
            </a:r>
          </a:p>
        </p:txBody>
      </p:sp>
      <p:sp>
        <p:nvSpPr>
          <p:cNvPr id="24579" name="Rectangle 7">
            <a:extLst>
              <a:ext uri="{FF2B5EF4-FFF2-40B4-BE49-F238E27FC236}">
                <a16:creationId xmlns="" xmlns:a16="http://schemas.microsoft.com/office/drawing/2014/main" id="{743781D6-7E12-DDBC-16F9-366884B5D10C}"/>
              </a:ext>
            </a:extLst>
          </p:cNvPr>
          <p:cNvSpPr>
            <a:spLocks noGrp="1" noChangeArrowheads="1"/>
          </p:cNvSpPr>
          <p:nvPr>
            <p:ph idx="1"/>
          </p:nvPr>
        </p:nvSpPr>
        <p:spPr/>
        <p:txBody>
          <a:bodyPr/>
          <a:lstStyle/>
          <a:p>
            <a:r>
              <a:rPr lang="en-US" altLang="en-US"/>
              <a:t>Management from communities of interest must make policies the basis for all information security planning, design, and deployment.</a:t>
            </a:r>
          </a:p>
          <a:p>
            <a:r>
              <a:rPr lang="en-US" altLang="en-US"/>
              <a:t>Policies direct how issues should be addressed and technologies used.</a:t>
            </a:r>
          </a:p>
          <a:p>
            <a:r>
              <a:rPr lang="en-US" altLang="en-US"/>
              <a:t>Policies should never contradict law, must be able to stand up in court, and must be properly administered.</a:t>
            </a:r>
          </a:p>
          <a:p>
            <a:r>
              <a:rPr lang="en-US" altLang="en-US"/>
              <a:t>Security policies are the least expensive controls to execute but most difficult to implement properly.</a:t>
            </a:r>
          </a:p>
        </p:txBody>
      </p:sp>
      <p:sp>
        <p:nvSpPr>
          <p:cNvPr id="24580" name="Footer Placeholder 4">
            <a:extLst>
              <a:ext uri="{FF2B5EF4-FFF2-40B4-BE49-F238E27FC236}">
                <a16:creationId xmlns="" xmlns:a16="http://schemas.microsoft.com/office/drawing/2014/main" id="{11EDA9DE-EAE2-7E93-7A3C-6EC610EBAAB2}"/>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24581" name="Slide Number Placeholder 5">
            <a:extLst>
              <a:ext uri="{FF2B5EF4-FFF2-40B4-BE49-F238E27FC236}">
                <a16:creationId xmlns="" xmlns:a16="http://schemas.microsoft.com/office/drawing/2014/main" id="{C9A32316-C67F-3ADD-731D-A749FE50042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BD771108-3C12-4892-B20C-36ADD09EED1C}" type="slidenum">
              <a:rPr lang="en-US" altLang="en-US" sz="1400"/>
              <a:pPr>
                <a:spcBef>
                  <a:spcPct val="0"/>
                </a:spcBef>
                <a:buFontTx/>
                <a:buNone/>
              </a:pPr>
              <a:t>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6626" name="Rectangle 6">
            <a:extLst>
              <a:ext uri="{FF2B5EF4-FFF2-40B4-BE49-F238E27FC236}">
                <a16:creationId xmlns="" xmlns:a16="http://schemas.microsoft.com/office/drawing/2014/main" id="{FA254E8D-FBAC-F6B4-0E0C-54683CBDCB01}"/>
              </a:ext>
            </a:extLst>
          </p:cNvPr>
          <p:cNvSpPr>
            <a:spLocks noGrp="1" noChangeArrowheads="1"/>
          </p:cNvSpPr>
          <p:nvPr>
            <p:ph type="title"/>
          </p:nvPr>
        </p:nvSpPr>
        <p:spPr/>
        <p:txBody>
          <a:bodyPr/>
          <a:lstStyle/>
          <a:p>
            <a:r>
              <a:rPr lang="en-US" altLang="en-US"/>
              <a:t>Policy as the Foundation for Planning</a:t>
            </a:r>
          </a:p>
        </p:txBody>
      </p:sp>
      <p:sp>
        <p:nvSpPr>
          <p:cNvPr id="26627" name="Rectangle 7">
            <a:extLst>
              <a:ext uri="{FF2B5EF4-FFF2-40B4-BE49-F238E27FC236}">
                <a16:creationId xmlns="" xmlns:a16="http://schemas.microsoft.com/office/drawing/2014/main" id="{F9FFCC2D-62F2-9D65-FDCB-BF366FBBDEDE}"/>
              </a:ext>
            </a:extLst>
          </p:cNvPr>
          <p:cNvSpPr>
            <a:spLocks noGrp="1" noChangeArrowheads="1"/>
          </p:cNvSpPr>
          <p:nvPr>
            <p:ph idx="1"/>
          </p:nvPr>
        </p:nvSpPr>
        <p:spPr/>
        <p:txBody>
          <a:bodyPr/>
          <a:lstStyle/>
          <a:p>
            <a:r>
              <a:rPr lang="en-US" altLang="en-US"/>
              <a:t>Policy functions as organizational law that dictates acceptable and unacceptable behavior. </a:t>
            </a:r>
          </a:p>
          <a:p>
            <a:r>
              <a:rPr lang="en-US" altLang="en-US"/>
              <a:t>Standards: more detailed statements of what must be done to comply with policy </a:t>
            </a:r>
          </a:p>
          <a:p>
            <a:r>
              <a:rPr lang="en-US" altLang="en-US"/>
              <a:t>Practices, procedures, and guidelines effectively explain how to comply with policy.</a:t>
            </a:r>
          </a:p>
          <a:p>
            <a:r>
              <a:rPr lang="en-US" altLang="en-US"/>
              <a:t>For a policy to be effective, it must be properly disseminated, read, understood, and agreed to by all members of the organization, and uniformly enforced.</a:t>
            </a:r>
          </a:p>
        </p:txBody>
      </p:sp>
      <p:sp>
        <p:nvSpPr>
          <p:cNvPr id="26628" name="Footer Placeholder 4">
            <a:extLst>
              <a:ext uri="{FF2B5EF4-FFF2-40B4-BE49-F238E27FC236}">
                <a16:creationId xmlns="" xmlns:a16="http://schemas.microsoft.com/office/drawing/2014/main" id="{7BB10C3F-0FE0-C10E-9C04-7C73E8CAD0E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26629" name="Slide Number Placeholder 5">
            <a:extLst>
              <a:ext uri="{FF2B5EF4-FFF2-40B4-BE49-F238E27FC236}">
                <a16:creationId xmlns="" xmlns:a16="http://schemas.microsoft.com/office/drawing/2014/main" id="{1466ACAA-991B-7E60-12DC-4F32409A4DE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29CA780E-9EFF-4CA8-86AF-FA751B086842}" type="slidenum">
              <a:rPr lang="en-US" altLang="en-US" sz="1400"/>
              <a:pPr>
                <a:spcBef>
                  <a:spcPct val="0"/>
                </a:spcBef>
                <a:buFontTx/>
                <a:buNone/>
              </a:pPr>
              <a:t>9</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8674" name="Footer Placeholder 5">
            <a:extLst>
              <a:ext uri="{FF2B5EF4-FFF2-40B4-BE49-F238E27FC236}">
                <a16:creationId xmlns="" xmlns:a16="http://schemas.microsoft.com/office/drawing/2014/main" id="{EFCE844D-BC0D-A10A-BB1B-540BB390B0C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28675" name="Slide Number Placeholder 6">
            <a:extLst>
              <a:ext uri="{FF2B5EF4-FFF2-40B4-BE49-F238E27FC236}">
                <a16:creationId xmlns="" xmlns:a16="http://schemas.microsoft.com/office/drawing/2014/main" id="{3CA19AF6-13CA-1010-E5D5-5C92C0978D4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B563C2F7-D022-44B0-BE31-973AE13FC328}" type="slidenum">
              <a:rPr lang="en-US" altLang="en-US" sz="1400"/>
              <a:pPr>
                <a:spcBef>
                  <a:spcPct val="0"/>
                </a:spcBef>
                <a:buFontTx/>
                <a:buNone/>
              </a:pPr>
              <a:t>10</a:t>
            </a:fld>
            <a:endParaRPr lang="en-US" altLang="en-US" sz="1400"/>
          </a:p>
        </p:txBody>
      </p:sp>
      <p:pic>
        <p:nvPicPr>
          <p:cNvPr id="28676" name="Picture 2">
            <a:extLst>
              <a:ext uri="{FF2B5EF4-FFF2-40B4-BE49-F238E27FC236}">
                <a16:creationId xmlns="" xmlns:a16="http://schemas.microsoft.com/office/drawing/2014/main" id="{E4399CC6-43AC-A8A1-3E93-7A9CEC521529}"/>
              </a:ext>
            </a:extLst>
          </p:cNvPr>
          <p:cNvPicPr>
            <a:picLocks noChangeAspect="1"/>
          </p:cNvPicPr>
          <p:nvPr/>
        </p:nvPicPr>
        <p:blipFill>
          <a:blip r:embed="rId5">
            <a:extLst>
              <a:ext uri="{28A0092B-C50C-407E-A947-70E740481C1C}">
                <a14:useLocalDpi xmlns="" xmlns:a14="http://schemas.microsoft.com/office/drawing/2010/main" val="0"/>
              </a:ext>
            </a:extLst>
          </a:blip>
          <a:srcRect/>
          <a:stretch>
            <a:fillRect/>
          </a:stretch>
        </p:blipFill>
        <p:spPr bwMode="auto">
          <a:xfrm>
            <a:off x="1724025" y="609600"/>
            <a:ext cx="8743950" cy="5295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0722" name="Rectangle 6">
            <a:extLst>
              <a:ext uri="{FF2B5EF4-FFF2-40B4-BE49-F238E27FC236}">
                <a16:creationId xmlns="" xmlns:a16="http://schemas.microsoft.com/office/drawing/2014/main" id="{A7691177-8270-6186-4952-B0C55E4D4EF3}"/>
              </a:ext>
            </a:extLst>
          </p:cNvPr>
          <p:cNvSpPr>
            <a:spLocks noGrp="1" noChangeArrowheads="1"/>
          </p:cNvSpPr>
          <p:nvPr>
            <p:ph type="title"/>
          </p:nvPr>
        </p:nvSpPr>
        <p:spPr/>
        <p:txBody>
          <a:bodyPr/>
          <a:lstStyle/>
          <a:p>
            <a:r>
              <a:rPr lang="en-US" altLang="en-US"/>
              <a:t>Enterprise Information Security Policy (EISP)</a:t>
            </a:r>
          </a:p>
        </p:txBody>
      </p:sp>
      <p:sp>
        <p:nvSpPr>
          <p:cNvPr id="30723" name="Rectangle 7">
            <a:extLst>
              <a:ext uri="{FF2B5EF4-FFF2-40B4-BE49-F238E27FC236}">
                <a16:creationId xmlns="" xmlns:a16="http://schemas.microsoft.com/office/drawing/2014/main" id="{92A6B8EC-D18C-3ADC-FE5C-63F40A0AEF85}"/>
              </a:ext>
            </a:extLst>
          </p:cNvPr>
          <p:cNvSpPr>
            <a:spLocks noGrp="1" noChangeArrowheads="1"/>
          </p:cNvSpPr>
          <p:nvPr>
            <p:ph idx="1"/>
          </p:nvPr>
        </p:nvSpPr>
        <p:spPr/>
        <p:txBody>
          <a:bodyPr/>
          <a:lstStyle/>
          <a:p>
            <a:r>
              <a:rPr lang="en-US" altLang="en-US"/>
              <a:t>Sets strategic direction, scope, and tone for all security efforts within the organization </a:t>
            </a:r>
          </a:p>
          <a:p>
            <a:r>
              <a:rPr lang="en-US" altLang="en-US"/>
              <a:t>Executive-level document, usually drafted by or with Chief Information Officer (CIO) of the organization</a:t>
            </a:r>
          </a:p>
          <a:p>
            <a:r>
              <a:rPr lang="en-US" altLang="en-US"/>
              <a:t>Typically addresses compliance in two areas:</a:t>
            </a:r>
          </a:p>
          <a:p>
            <a:pPr lvl="1"/>
            <a:r>
              <a:rPr lang="en-US" altLang="en-US"/>
              <a:t>Ensure meeting of requirements to establish program and assigning responsibilities therein to various organizational components</a:t>
            </a:r>
          </a:p>
          <a:p>
            <a:pPr lvl="1"/>
            <a:r>
              <a:rPr lang="en-US" altLang="en-US"/>
              <a:t>Use of specified penalties and disciplinary action</a:t>
            </a:r>
          </a:p>
        </p:txBody>
      </p:sp>
      <p:sp>
        <p:nvSpPr>
          <p:cNvPr id="30724" name="Footer Placeholder 4">
            <a:extLst>
              <a:ext uri="{FF2B5EF4-FFF2-40B4-BE49-F238E27FC236}">
                <a16:creationId xmlns="" xmlns:a16="http://schemas.microsoft.com/office/drawing/2014/main" id="{A0870F73-F5E0-C85A-A083-F1F774EF82E6}"/>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0725" name="Slide Number Placeholder 5">
            <a:extLst>
              <a:ext uri="{FF2B5EF4-FFF2-40B4-BE49-F238E27FC236}">
                <a16:creationId xmlns="" xmlns:a16="http://schemas.microsoft.com/office/drawing/2014/main" id="{00AB6457-D251-01ED-2653-C86FD6B4A63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6DAA7CB6-CD6E-4625-A82D-84FFB9893A38}" type="slidenum">
              <a:rPr lang="en-US" altLang="en-US" sz="1400"/>
              <a:pPr>
                <a:spcBef>
                  <a:spcPct val="0"/>
                </a:spcBef>
                <a:buFontTx/>
                <a:buNone/>
              </a:pPr>
              <a:t>11</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2770" name="Title 1">
            <a:extLst>
              <a:ext uri="{FF2B5EF4-FFF2-40B4-BE49-F238E27FC236}">
                <a16:creationId xmlns="" xmlns:a16="http://schemas.microsoft.com/office/drawing/2014/main" id="{64DBDF39-6062-196C-35CF-E11D80DB52F0}"/>
              </a:ext>
            </a:extLst>
          </p:cNvPr>
          <p:cNvSpPr>
            <a:spLocks noGrp="1" noChangeArrowheads="1"/>
          </p:cNvSpPr>
          <p:nvPr>
            <p:ph type="title"/>
          </p:nvPr>
        </p:nvSpPr>
        <p:spPr/>
        <p:txBody>
          <a:bodyPr/>
          <a:lstStyle/>
          <a:p>
            <a:r>
              <a:rPr lang="en-US" altLang="en-US"/>
              <a:t>Enterprise Information Security Policy (EISP) (cont’d)</a:t>
            </a:r>
          </a:p>
        </p:txBody>
      </p:sp>
      <p:sp>
        <p:nvSpPr>
          <p:cNvPr id="32771" name="Content Placeholder 2">
            <a:extLst>
              <a:ext uri="{FF2B5EF4-FFF2-40B4-BE49-F238E27FC236}">
                <a16:creationId xmlns="" xmlns:a16="http://schemas.microsoft.com/office/drawing/2014/main" id="{3B063C63-327D-856E-0986-F542AC923A42}"/>
              </a:ext>
            </a:extLst>
          </p:cNvPr>
          <p:cNvSpPr>
            <a:spLocks noGrp="1" noChangeArrowheads="1"/>
          </p:cNvSpPr>
          <p:nvPr>
            <p:ph idx="1"/>
          </p:nvPr>
        </p:nvSpPr>
        <p:spPr/>
        <p:txBody>
          <a:bodyPr/>
          <a:lstStyle/>
          <a:p>
            <a:r>
              <a:rPr lang="en-US" altLang="en-US"/>
              <a:t>EISP Elements should include:</a:t>
            </a:r>
          </a:p>
          <a:p>
            <a:pPr lvl="1"/>
            <a:r>
              <a:rPr lang="en-US" altLang="en-US"/>
              <a:t>Overview of corporate security philosophy</a:t>
            </a:r>
          </a:p>
          <a:p>
            <a:pPr lvl="1"/>
            <a:r>
              <a:rPr lang="en-US" altLang="en-US"/>
              <a:t>Information on the structure of the organization and people in information security roles</a:t>
            </a:r>
          </a:p>
          <a:p>
            <a:pPr lvl="1"/>
            <a:r>
              <a:rPr lang="en-US" altLang="en-US"/>
              <a:t>Articulated responsibilities for security shared by all members of the organization</a:t>
            </a:r>
          </a:p>
          <a:p>
            <a:pPr lvl="1"/>
            <a:r>
              <a:rPr lang="en-US" altLang="en-US"/>
              <a:t>Articulated responsibilities for security unique to each role in the organization</a:t>
            </a:r>
          </a:p>
        </p:txBody>
      </p:sp>
      <p:sp>
        <p:nvSpPr>
          <p:cNvPr id="32772" name="Footer Placeholder 3">
            <a:extLst>
              <a:ext uri="{FF2B5EF4-FFF2-40B4-BE49-F238E27FC236}">
                <a16:creationId xmlns="" xmlns:a16="http://schemas.microsoft.com/office/drawing/2014/main" id="{F068C535-EB87-2932-F402-368026DAB720}"/>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2773" name="Slide Number Placeholder 4">
            <a:extLst>
              <a:ext uri="{FF2B5EF4-FFF2-40B4-BE49-F238E27FC236}">
                <a16:creationId xmlns="" xmlns:a16="http://schemas.microsoft.com/office/drawing/2014/main" id="{5CE4101C-51AE-BA6C-CBBB-978BAE44413C}"/>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A3DA2D7-E90E-49EC-A0DE-661A2FD9ABD0}" type="slidenum">
              <a:rPr lang="en-US" altLang="en-US" sz="1400"/>
              <a:pPr>
                <a:spcBef>
                  <a:spcPct val="0"/>
                </a:spcBef>
                <a:buFontTx/>
                <a:buNone/>
              </a:pPr>
              <a:t>12</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4818" name="Footer Placeholder 3">
            <a:extLst>
              <a:ext uri="{FF2B5EF4-FFF2-40B4-BE49-F238E27FC236}">
                <a16:creationId xmlns="" xmlns:a16="http://schemas.microsoft.com/office/drawing/2014/main" id="{29CBACD9-07A2-E839-3E9F-92AEB3EBA90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4819" name="Slide Number Placeholder 4">
            <a:extLst>
              <a:ext uri="{FF2B5EF4-FFF2-40B4-BE49-F238E27FC236}">
                <a16:creationId xmlns="" xmlns:a16="http://schemas.microsoft.com/office/drawing/2014/main" id="{2AF48998-2C89-A116-C23A-893719771B0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3536A6E-0BC3-494D-93B1-375791FB16FB}" type="slidenum">
              <a:rPr lang="en-US" altLang="en-US" sz="1400"/>
              <a:pPr>
                <a:spcBef>
                  <a:spcPct val="0"/>
                </a:spcBef>
                <a:buFontTx/>
                <a:buNone/>
              </a:pPr>
              <a:t>13</a:t>
            </a:fld>
            <a:endParaRPr lang="en-US" altLang="en-US" sz="1400"/>
          </a:p>
        </p:txBody>
      </p:sp>
      <p:pic>
        <p:nvPicPr>
          <p:cNvPr id="34820" name="Picture 6">
            <a:extLst>
              <a:ext uri="{FF2B5EF4-FFF2-40B4-BE49-F238E27FC236}">
                <a16:creationId xmlns="" xmlns:a16="http://schemas.microsoft.com/office/drawing/2014/main" id="{EB26F006-8A72-A181-D2B2-29438DDD6B3A}"/>
              </a:ext>
            </a:extLst>
          </p:cNvPr>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2476500" y="304800"/>
            <a:ext cx="7239000" cy="5829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5842" name="Rectangle 6">
            <a:extLst>
              <a:ext uri="{FF2B5EF4-FFF2-40B4-BE49-F238E27FC236}">
                <a16:creationId xmlns="" xmlns:a16="http://schemas.microsoft.com/office/drawing/2014/main" id="{A2D603BD-3F10-309D-1165-CAA28547ACF8}"/>
              </a:ext>
            </a:extLst>
          </p:cNvPr>
          <p:cNvSpPr>
            <a:spLocks noGrp="1" noChangeArrowheads="1"/>
          </p:cNvSpPr>
          <p:nvPr>
            <p:ph type="title"/>
          </p:nvPr>
        </p:nvSpPr>
        <p:spPr/>
        <p:txBody>
          <a:bodyPr/>
          <a:lstStyle/>
          <a:p>
            <a:r>
              <a:rPr lang="en-US" altLang="en-US"/>
              <a:t>Issue-Specific Security Policy (ISSP)</a:t>
            </a:r>
          </a:p>
        </p:txBody>
      </p:sp>
      <p:sp>
        <p:nvSpPr>
          <p:cNvPr id="35843" name="Rectangle 7">
            <a:extLst>
              <a:ext uri="{FF2B5EF4-FFF2-40B4-BE49-F238E27FC236}">
                <a16:creationId xmlns="" xmlns:a16="http://schemas.microsoft.com/office/drawing/2014/main" id="{5914B90D-6127-F758-FD04-4CF0051D0E38}"/>
              </a:ext>
            </a:extLst>
          </p:cNvPr>
          <p:cNvSpPr>
            <a:spLocks noGrp="1" noChangeArrowheads="1"/>
          </p:cNvSpPr>
          <p:nvPr>
            <p:ph idx="1"/>
          </p:nvPr>
        </p:nvSpPr>
        <p:spPr/>
        <p:txBody>
          <a:bodyPr/>
          <a:lstStyle/>
          <a:p>
            <a:r>
              <a:rPr lang="en-US" altLang="en-US"/>
              <a:t>The ISSP:</a:t>
            </a:r>
          </a:p>
          <a:p>
            <a:pPr lvl="1"/>
            <a:r>
              <a:rPr lang="en-US" altLang="en-US"/>
              <a:t>Addresses specific areas of technology</a:t>
            </a:r>
          </a:p>
          <a:p>
            <a:pPr lvl="1"/>
            <a:r>
              <a:rPr lang="en-US" altLang="en-US"/>
              <a:t>Requires frequent updates</a:t>
            </a:r>
          </a:p>
          <a:p>
            <a:pPr lvl="1"/>
            <a:r>
              <a:rPr lang="en-US" altLang="en-US"/>
              <a:t>Contains statement on the organization’s position on </a:t>
            </a:r>
            <a:br>
              <a:rPr lang="en-US" altLang="en-US"/>
            </a:br>
            <a:r>
              <a:rPr lang="en-US" altLang="en-US"/>
              <a:t>specific issue </a:t>
            </a:r>
          </a:p>
          <a:p>
            <a:r>
              <a:rPr lang="en-US" altLang="en-US"/>
              <a:t>Three common approaches when creating and managing ISSPs:</a:t>
            </a:r>
          </a:p>
          <a:p>
            <a:pPr lvl="1"/>
            <a:r>
              <a:rPr lang="en-US" altLang="en-US"/>
              <a:t>Create a number of independent ISSP documents</a:t>
            </a:r>
          </a:p>
          <a:p>
            <a:pPr lvl="1"/>
            <a:r>
              <a:rPr lang="en-US" altLang="en-US"/>
              <a:t>Create a single comprehensive ISSP document</a:t>
            </a:r>
          </a:p>
          <a:p>
            <a:pPr lvl="1"/>
            <a:r>
              <a:rPr lang="en-US" altLang="en-US"/>
              <a:t>Create a modular ISSP document</a:t>
            </a:r>
          </a:p>
        </p:txBody>
      </p:sp>
      <p:sp>
        <p:nvSpPr>
          <p:cNvPr id="35844" name="Footer Placeholder 4">
            <a:extLst>
              <a:ext uri="{FF2B5EF4-FFF2-40B4-BE49-F238E27FC236}">
                <a16:creationId xmlns="" xmlns:a16="http://schemas.microsoft.com/office/drawing/2014/main" id="{3898E603-A268-2A0F-2E44-EEEFFDECE2D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5845" name="Slide Number Placeholder 5">
            <a:extLst>
              <a:ext uri="{FF2B5EF4-FFF2-40B4-BE49-F238E27FC236}">
                <a16:creationId xmlns="" xmlns:a16="http://schemas.microsoft.com/office/drawing/2014/main" id="{4A4CF662-733E-E7B4-B125-A84B38ABBAD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5822170D-89CC-4C53-82D4-FED8C1F42912}" type="slidenum">
              <a:rPr lang="en-US" altLang="en-US" sz="1400"/>
              <a:pPr>
                <a:spcBef>
                  <a:spcPct val="0"/>
                </a:spcBef>
                <a:buFontTx/>
                <a:buNone/>
              </a:pPr>
              <a:t>14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7890" name="Title 1">
            <a:extLst>
              <a:ext uri="{FF2B5EF4-FFF2-40B4-BE49-F238E27FC236}">
                <a16:creationId xmlns="" xmlns:a16="http://schemas.microsoft.com/office/drawing/2014/main" id="{EBC5942A-3518-2A22-0428-0720AD27766C}"/>
              </a:ext>
            </a:extLst>
          </p:cNvPr>
          <p:cNvSpPr>
            <a:spLocks noGrp="1" noChangeArrowheads="1"/>
          </p:cNvSpPr>
          <p:nvPr>
            <p:ph type="title"/>
          </p:nvPr>
        </p:nvSpPr>
        <p:spPr/>
        <p:txBody>
          <a:bodyPr/>
          <a:lstStyle/>
          <a:p>
            <a:r>
              <a:rPr lang="en-US" altLang="en-US"/>
              <a:t>Issue-Specific Security Policy (ISSP) (cont’d)</a:t>
            </a:r>
          </a:p>
        </p:txBody>
      </p:sp>
      <p:sp>
        <p:nvSpPr>
          <p:cNvPr id="37891" name="Content Placeholder 2">
            <a:extLst>
              <a:ext uri="{FF2B5EF4-FFF2-40B4-BE49-F238E27FC236}">
                <a16:creationId xmlns="" xmlns:a16="http://schemas.microsoft.com/office/drawing/2014/main" id="{3284E3C3-65AB-AD2E-7F01-62819DC9C51C}"/>
              </a:ext>
            </a:extLst>
          </p:cNvPr>
          <p:cNvSpPr>
            <a:spLocks noGrp="1" noChangeArrowheads="1"/>
          </p:cNvSpPr>
          <p:nvPr>
            <p:ph idx="1"/>
          </p:nvPr>
        </p:nvSpPr>
        <p:spPr/>
        <p:txBody>
          <a:bodyPr/>
          <a:lstStyle/>
          <a:p>
            <a:r>
              <a:rPr lang="en-US" altLang="en-US"/>
              <a:t>Components of the policy:</a:t>
            </a:r>
          </a:p>
          <a:p>
            <a:pPr lvl="1"/>
            <a:r>
              <a:rPr lang="en-US" altLang="en-US"/>
              <a:t>Statement of policy</a:t>
            </a:r>
          </a:p>
          <a:p>
            <a:pPr lvl="1"/>
            <a:r>
              <a:rPr lang="en-US" altLang="en-US"/>
              <a:t>Authorized access and usage of equipment</a:t>
            </a:r>
          </a:p>
          <a:p>
            <a:pPr lvl="1"/>
            <a:r>
              <a:rPr lang="en-US" altLang="en-US"/>
              <a:t>Prohibited use of equipment</a:t>
            </a:r>
          </a:p>
          <a:p>
            <a:pPr lvl="1"/>
            <a:r>
              <a:rPr lang="en-US" altLang="en-US"/>
              <a:t>Systems management</a:t>
            </a:r>
          </a:p>
          <a:p>
            <a:pPr lvl="1"/>
            <a:r>
              <a:rPr lang="en-US" altLang="en-US"/>
              <a:t>Violations of policy</a:t>
            </a:r>
          </a:p>
          <a:p>
            <a:pPr lvl="1"/>
            <a:r>
              <a:rPr lang="en-US" altLang="en-US"/>
              <a:t>Policy review and modification</a:t>
            </a:r>
          </a:p>
          <a:p>
            <a:pPr lvl="1"/>
            <a:r>
              <a:rPr lang="en-US" altLang="en-US"/>
              <a:t>Limitations of liability</a:t>
            </a:r>
          </a:p>
        </p:txBody>
      </p:sp>
      <p:sp>
        <p:nvSpPr>
          <p:cNvPr id="37892" name="Footer Placeholder 3">
            <a:extLst>
              <a:ext uri="{FF2B5EF4-FFF2-40B4-BE49-F238E27FC236}">
                <a16:creationId xmlns="" xmlns:a16="http://schemas.microsoft.com/office/drawing/2014/main" id="{DCBD344A-09BE-6EAD-088D-0650EE1EFCC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7893" name="Slide Number Placeholder 4">
            <a:extLst>
              <a:ext uri="{FF2B5EF4-FFF2-40B4-BE49-F238E27FC236}">
                <a16:creationId xmlns="" xmlns:a16="http://schemas.microsoft.com/office/drawing/2014/main" id="{BBD2A938-37BC-5ED6-BE89-B8ACF69ABE1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9648233-DDA3-42E7-8CBF-04661A38454D}" type="slidenum">
              <a:rPr lang="en-US" altLang="en-US" sz="1400"/>
              <a:pPr>
                <a:spcBef>
                  <a:spcPct val="0"/>
                </a:spcBef>
                <a:buFontTx/>
                <a:buNone/>
              </a:pPr>
              <a:t>15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9938" name="Footer Placeholder 3">
            <a:extLst>
              <a:ext uri="{FF2B5EF4-FFF2-40B4-BE49-F238E27FC236}">
                <a16:creationId xmlns="" xmlns:a16="http://schemas.microsoft.com/office/drawing/2014/main" id="{39519A24-6543-E871-F5F4-0F910BD69E3A}"/>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39939" name="Slide Number Placeholder 4">
            <a:extLst>
              <a:ext uri="{FF2B5EF4-FFF2-40B4-BE49-F238E27FC236}">
                <a16:creationId xmlns="" xmlns:a16="http://schemas.microsoft.com/office/drawing/2014/main" id="{09B5157A-223A-F638-479F-5F363D86790B}"/>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AD9E667-30F9-426A-B27D-4B7BBA78D575}" type="slidenum">
              <a:rPr lang="en-US" altLang="en-US" sz="1400"/>
              <a:pPr>
                <a:spcBef>
                  <a:spcPct val="0"/>
                </a:spcBef>
                <a:buFontTx/>
                <a:buNone/>
              </a:pPr>
              <a:t>16</a:t>
            </a:fld>
            <a:endParaRPr lang="en-US" altLang="en-US" sz="1400"/>
          </a:p>
        </p:txBody>
      </p:sp>
      <p:pic>
        <p:nvPicPr>
          <p:cNvPr id="39940" name="Picture 7">
            <a:extLst>
              <a:ext uri="{FF2B5EF4-FFF2-40B4-BE49-F238E27FC236}">
                <a16:creationId xmlns="" xmlns:a16="http://schemas.microsoft.com/office/drawing/2014/main" id="{CD75E57A-AE26-4211-B1CA-8E36CC65B626}"/>
              </a:ext>
            </a:extLst>
          </p:cNvPr>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2759868" y="-92476"/>
            <a:ext cx="6672263" cy="6248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0962" name="Rectangle 6">
            <a:extLst>
              <a:ext uri="{FF2B5EF4-FFF2-40B4-BE49-F238E27FC236}">
                <a16:creationId xmlns="" xmlns:a16="http://schemas.microsoft.com/office/drawing/2014/main" id="{BE81D9EC-16F4-76C7-4991-C0C69156CF35}"/>
              </a:ext>
            </a:extLst>
          </p:cNvPr>
          <p:cNvSpPr>
            <a:spLocks noGrp="1" noChangeArrowheads="1"/>
          </p:cNvSpPr>
          <p:nvPr>
            <p:ph type="title"/>
          </p:nvPr>
        </p:nvSpPr>
        <p:spPr/>
        <p:txBody>
          <a:bodyPr/>
          <a:lstStyle/>
          <a:p>
            <a:r>
              <a:rPr lang="en-US" altLang="en-US"/>
              <a:t>Systems-Specific Policy (SysSP)</a:t>
            </a:r>
          </a:p>
        </p:txBody>
      </p:sp>
      <p:sp>
        <p:nvSpPr>
          <p:cNvPr id="40963" name="Rectangle 7">
            <a:extLst>
              <a:ext uri="{FF2B5EF4-FFF2-40B4-BE49-F238E27FC236}">
                <a16:creationId xmlns="" xmlns:a16="http://schemas.microsoft.com/office/drawing/2014/main" id="{0E488F8B-163A-FA7E-2030-A19CBC99697F}"/>
              </a:ext>
            </a:extLst>
          </p:cNvPr>
          <p:cNvSpPr>
            <a:spLocks noGrp="1" noChangeArrowheads="1"/>
          </p:cNvSpPr>
          <p:nvPr>
            <p:ph idx="1"/>
          </p:nvPr>
        </p:nvSpPr>
        <p:spPr/>
        <p:txBody>
          <a:bodyPr/>
          <a:lstStyle/>
          <a:p>
            <a:r>
              <a:rPr lang="en-US" altLang="en-US" sz="2400"/>
              <a:t>SysSPs often function as standards or procedures used when configuring or maintaining systems.</a:t>
            </a:r>
          </a:p>
          <a:p>
            <a:r>
              <a:rPr lang="en-US" altLang="en-US" sz="2400"/>
              <a:t>Systems-specific policies fall into two groups:</a:t>
            </a:r>
          </a:p>
          <a:p>
            <a:pPr lvl="1"/>
            <a:r>
              <a:rPr lang="en-US" altLang="en-US" sz="2000"/>
              <a:t>Managerial guidance</a:t>
            </a:r>
          </a:p>
          <a:p>
            <a:pPr lvl="1"/>
            <a:r>
              <a:rPr lang="en-US" altLang="en-US" sz="2000"/>
              <a:t>Technical specifications</a:t>
            </a:r>
          </a:p>
          <a:p>
            <a:pPr>
              <a:lnSpc>
                <a:spcPct val="90000"/>
              </a:lnSpc>
            </a:pPr>
            <a:r>
              <a:rPr lang="en-US" altLang="en-US" sz="2400"/>
              <a:t>Access control lists (ACLs) can restrict access for a particular user, computer, time, duration—even a particular file.</a:t>
            </a:r>
          </a:p>
          <a:p>
            <a:pPr>
              <a:lnSpc>
                <a:spcPct val="90000"/>
              </a:lnSpc>
            </a:pPr>
            <a:r>
              <a:rPr lang="en-US" altLang="en-US" sz="2400"/>
              <a:t>Configuration rule policies govern how security system reacts to received data.</a:t>
            </a:r>
          </a:p>
          <a:p>
            <a:pPr>
              <a:lnSpc>
                <a:spcPct val="90000"/>
              </a:lnSpc>
            </a:pPr>
            <a:r>
              <a:rPr lang="en-US" altLang="en-US" sz="2400"/>
              <a:t>Combination SysSPs combine managerial guidance and technical specifications.</a:t>
            </a:r>
          </a:p>
        </p:txBody>
      </p:sp>
      <p:sp>
        <p:nvSpPr>
          <p:cNvPr id="40964" name="Footer Placeholder 4">
            <a:extLst>
              <a:ext uri="{FF2B5EF4-FFF2-40B4-BE49-F238E27FC236}">
                <a16:creationId xmlns="" xmlns:a16="http://schemas.microsoft.com/office/drawing/2014/main" id="{87C8190F-3750-30B3-711F-AE182C5020A1}"/>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40965" name="Slide Number Placeholder 5">
            <a:extLst>
              <a:ext uri="{FF2B5EF4-FFF2-40B4-BE49-F238E27FC236}">
                <a16:creationId xmlns="" xmlns:a16="http://schemas.microsoft.com/office/drawing/2014/main" id="{7C158722-9BC4-31B4-E886-DCD436355AB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4CCDC56-3F8B-4EC6-A05C-1FEDAA9448A1}" type="slidenum">
              <a:rPr lang="en-US" altLang="en-US" sz="1400"/>
              <a:pPr>
                <a:spcBef>
                  <a:spcPct val="0"/>
                </a:spcBef>
                <a:buFontTx/>
                <a:buNone/>
              </a:pPr>
              <a:t>17</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3010" name="Rectangle 6">
            <a:extLst>
              <a:ext uri="{FF2B5EF4-FFF2-40B4-BE49-F238E27FC236}">
                <a16:creationId xmlns="" xmlns:a16="http://schemas.microsoft.com/office/drawing/2014/main" id="{BDB4FC5B-DC49-3588-2128-A8EFA64E7085}"/>
              </a:ext>
            </a:extLst>
          </p:cNvPr>
          <p:cNvSpPr>
            <a:spLocks noGrp="1" noChangeArrowheads="1"/>
          </p:cNvSpPr>
          <p:nvPr>
            <p:ph type="title"/>
          </p:nvPr>
        </p:nvSpPr>
        <p:spPr/>
        <p:txBody>
          <a:bodyPr/>
          <a:lstStyle/>
          <a:p>
            <a:r>
              <a:rPr lang="en-US" altLang="en-US"/>
              <a:t>Policy Management</a:t>
            </a:r>
          </a:p>
        </p:txBody>
      </p:sp>
      <p:sp>
        <p:nvSpPr>
          <p:cNvPr id="43011" name="Rectangle 7">
            <a:extLst>
              <a:ext uri="{FF2B5EF4-FFF2-40B4-BE49-F238E27FC236}">
                <a16:creationId xmlns="" xmlns:a16="http://schemas.microsoft.com/office/drawing/2014/main" id="{8D111013-826F-50AB-1C13-B37A1D1B0B9C}"/>
              </a:ext>
            </a:extLst>
          </p:cNvPr>
          <p:cNvSpPr>
            <a:spLocks noGrp="1" noChangeArrowheads="1"/>
          </p:cNvSpPr>
          <p:nvPr>
            <p:ph idx="1"/>
          </p:nvPr>
        </p:nvSpPr>
        <p:spPr/>
        <p:txBody>
          <a:bodyPr/>
          <a:lstStyle/>
          <a:p>
            <a:r>
              <a:rPr lang="en-US" altLang="en-US"/>
              <a:t>Policies must be managed as they constantly change. </a:t>
            </a:r>
          </a:p>
          <a:p>
            <a:r>
              <a:rPr lang="en-US" altLang="en-US"/>
              <a:t>To remain viable, security policies must have:</a:t>
            </a:r>
          </a:p>
          <a:p>
            <a:pPr lvl="1"/>
            <a:r>
              <a:rPr lang="en-US" altLang="en-US"/>
              <a:t>A responsible manager </a:t>
            </a:r>
          </a:p>
          <a:p>
            <a:pPr lvl="1"/>
            <a:r>
              <a:rPr lang="en-US" altLang="en-US"/>
              <a:t>A schedule of reviews</a:t>
            </a:r>
          </a:p>
          <a:p>
            <a:pPr lvl="1"/>
            <a:r>
              <a:rPr lang="en-US" altLang="en-US"/>
              <a:t>A method for making recommendations for reviews</a:t>
            </a:r>
          </a:p>
          <a:p>
            <a:pPr lvl="1"/>
            <a:r>
              <a:rPr lang="en-US" altLang="en-US"/>
              <a:t>A policy issuance and revision date</a:t>
            </a:r>
          </a:p>
          <a:p>
            <a:pPr lvl="1"/>
            <a:r>
              <a:rPr lang="en-US" altLang="en-US"/>
              <a:t>Automated policy management</a:t>
            </a:r>
          </a:p>
        </p:txBody>
      </p:sp>
      <p:sp>
        <p:nvSpPr>
          <p:cNvPr id="43012" name="Footer Placeholder 4">
            <a:extLst>
              <a:ext uri="{FF2B5EF4-FFF2-40B4-BE49-F238E27FC236}">
                <a16:creationId xmlns="" xmlns:a16="http://schemas.microsoft.com/office/drawing/2014/main" id="{721CAEBA-B0F5-5EE7-415C-167BCAE927E8}"/>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43013" name="Slide Number Placeholder 5">
            <a:extLst>
              <a:ext uri="{FF2B5EF4-FFF2-40B4-BE49-F238E27FC236}">
                <a16:creationId xmlns="" xmlns:a16="http://schemas.microsoft.com/office/drawing/2014/main" id="{AC3B38C5-3932-D96A-2290-94BFC905F38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23232584-6A6B-4B6D-AABF-7DC4F2D02E2E}" type="slidenum">
              <a:rPr lang="en-US" altLang="en-US" sz="1400"/>
              <a:pPr>
                <a:spcBef>
                  <a:spcPct val="0"/>
                </a:spcBef>
                <a:buFontTx/>
                <a:buNone/>
              </a:pPr>
              <a:t>18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5058" name="Rectangle 6">
            <a:extLst>
              <a:ext uri="{FF2B5EF4-FFF2-40B4-BE49-F238E27FC236}">
                <a16:creationId xmlns="" xmlns:a16="http://schemas.microsoft.com/office/drawing/2014/main" id="{FE13F385-63A3-2CD8-56C1-B62159BB420D}"/>
              </a:ext>
            </a:extLst>
          </p:cNvPr>
          <p:cNvSpPr>
            <a:spLocks noGrp="1" noChangeArrowheads="1"/>
          </p:cNvSpPr>
          <p:nvPr>
            <p:ph type="title"/>
          </p:nvPr>
        </p:nvSpPr>
        <p:spPr/>
        <p:txBody>
          <a:bodyPr/>
          <a:lstStyle/>
          <a:p>
            <a:r>
              <a:rPr lang="en-US" altLang="en-US"/>
              <a:t>The Information Security Blueprint</a:t>
            </a:r>
          </a:p>
        </p:txBody>
      </p:sp>
      <p:sp>
        <p:nvSpPr>
          <p:cNvPr id="45059" name="Rectangle 7">
            <a:extLst>
              <a:ext uri="{FF2B5EF4-FFF2-40B4-BE49-F238E27FC236}">
                <a16:creationId xmlns="" xmlns:a16="http://schemas.microsoft.com/office/drawing/2014/main" id="{F5C46D4D-9CFE-345F-D58D-C39820904A65}"/>
              </a:ext>
            </a:extLst>
          </p:cNvPr>
          <p:cNvSpPr>
            <a:spLocks noGrp="1" noChangeArrowheads="1"/>
          </p:cNvSpPr>
          <p:nvPr>
            <p:ph idx="1"/>
          </p:nvPr>
        </p:nvSpPr>
        <p:spPr/>
        <p:txBody>
          <a:bodyPr/>
          <a:lstStyle/>
          <a:p>
            <a:r>
              <a:rPr lang="en-US" altLang="en-US"/>
              <a:t>Basis for design, selection, and implementation of all security policies, education and training programs, and technological controls</a:t>
            </a:r>
          </a:p>
          <a:p>
            <a:r>
              <a:rPr lang="en-US" altLang="en-US"/>
              <a:t>Detailed version of security framework (outline of overall information security strategy for organization)</a:t>
            </a:r>
          </a:p>
          <a:p>
            <a:r>
              <a:rPr lang="en-US" altLang="en-US"/>
              <a:t>Specifies tasks and order in which they are to be accomplished</a:t>
            </a:r>
          </a:p>
          <a:p>
            <a:r>
              <a:rPr lang="en-US" altLang="en-US"/>
              <a:t>Should also serve as a scalable, upgradeable, and comprehensive plan for the current and future information security needs</a:t>
            </a:r>
          </a:p>
        </p:txBody>
      </p:sp>
      <p:sp>
        <p:nvSpPr>
          <p:cNvPr id="45060" name="Footer Placeholder 4">
            <a:extLst>
              <a:ext uri="{FF2B5EF4-FFF2-40B4-BE49-F238E27FC236}">
                <a16:creationId xmlns="" xmlns:a16="http://schemas.microsoft.com/office/drawing/2014/main" id="{7853E18E-2EB9-120C-B2EE-188C111F044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45061" name="Slide Number Placeholder 5">
            <a:extLst>
              <a:ext uri="{FF2B5EF4-FFF2-40B4-BE49-F238E27FC236}">
                <a16:creationId xmlns="" xmlns:a16="http://schemas.microsoft.com/office/drawing/2014/main" id="{E4AA2585-8025-3ED5-FFF5-B41CFEA9C850}"/>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B25B033F-004E-45CE-8F26-E5FEE8328A44}" type="slidenum">
              <a:rPr lang="en-US" altLang="en-US" sz="1400"/>
              <a:pPr>
                <a:spcBef>
                  <a:spcPct val="0"/>
                </a:spcBef>
                <a:buFontTx/>
                <a:buNone/>
              </a:pPr>
              <a:t>19</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47106" name="Rectangle 6">
            <a:extLst>
              <a:ext uri="{FF2B5EF4-FFF2-40B4-BE49-F238E27FC236}">
                <a16:creationId xmlns="" xmlns:a16="http://schemas.microsoft.com/office/drawing/2014/main" id="{F92C9FC3-6B02-0A2B-9440-E807128B093E}"/>
              </a:ext>
            </a:extLst>
          </p:cNvPr>
          <p:cNvSpPr>
            <a:spLocks noGrp="1" noChangeArrowheads="1"/>
          </p:cNvSpPr>
          <p:nvPr>
            <p:ph type="title"/>
          </p:nvPr>
        </p:nvSpPr>
        <p:spPr/>
        <p:txBody>
          <a:bodyPr/>
          <a:lstStyle/>
          <a:p>
            <a:r>
              <a:rPr lang="en-US" altLang="en-US"/>
              <a:t>The ISO 27000 Series</a:t>
            </a:r>
          </a:p>
        </p:txBody>
      </p:sp>
      <p:sp>
        <p:nvSpPr>
          <p:cNvPr id="47107" name="Rectangle 7">
            <a:extLst>
              <a:ext uri="{FF2B5EF4-FFF2-40B4-BE49-F238E27FC236}">
                <a16:creationId xmlns="" xmlns:a16="http://schemas.microsoft.com/office/drawing/2014/main" id="{B9C40F6B-1E62-5756-6CFD-CAFBFD02B59C}"/>
              </a:ext>
            </a:extLst>
          </p:cNvPr>
          <p:cNvSpPr>
            <a:spLocks noGrp="1" noChangeArrowheads="1"/>
          </p:cNvSpPr>
          <p:nvPr>
            <p:ph idx="1"/>
          </p:nvPr>
        </p:nvSpPr>
        <p:spPr/>
        <p:txBody>
          <a:bodyPr/>
          <a:lstStyle/>
          <a:p>
            <a:r>
              <a:rPr lang="en-US" altLang="en-US"/>
              <a:t>One of the most widely referenced security models </a:t>
            </a:r>
          </a:p>
          <a:p>
            <a:r>
              <a:rPr lang="en-US" altLang="en-US"/>
              <a:t>Standard framework for information security that states organizational security policy is needed to provide management direction and support</a:t>
            </a:r>
          </a:p>
          <a:p>
            <a:r>
              <a:rPr lang="en-US" altLang="en-US"/>
              <a:t>Purpose is to give recommendations for information security management</a:t>
            </a:r>
          </a:p>
          <a:p>
            <a:r>
              <a:rPr lang="en-US" altLang="en-US"/>
              <a:t>Provides a starting point for developing organizational security</a:t>
            </a:r>
          </a:p>
        </p:txBody>
      </p:sp>
      <p:sp>
        <p:nvSpPr>
          <p:cNvPr id="47108" name="Footer Placeholder 4">
            <a:extLst>
              <a:ext uri="{FF2B5EF4-FFF2-40B4-BE49-F238E27FC236}">
                <a16:creationId xmlns="" xmlns:a16="http://schemas.microsoft.com/office/drawing/2014/main" id="{7958C518-34B6-0261-F55C-9A097E9B79D9}"/>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47109" name="Slide Number Placeholder 5">
            <a:extLst>
              <a:ext uri="{FF2B5EF4-FFF2-40B4-BE49-F238E27FC236}">
                <a16:creationId xmlns="" xmlns:a16="http://schemas.microsoft.com/office/drawing/2014/main" id="{A1986325-D644-166A-BC1F-DA86178509BB}"/>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EACF0BFA-80FA-472B-ADB4-63982225BB95}" type="slidenum">
              <a:rPr lang="en-US" altLang="en-US" sz="1400"/>
              <a:pPr>
                <a:spcBef>
                  <a:spcPct val="0"/>
                </a:spcBef>
                <a:buFontTx/>
                <a:buNone/>
              </a:pPr>
              <a:t>20</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9154" name="Footer Placeholder 3">
            <a:extLst>
              <a:ext uri="{FF2B5EF4-FFF2-40B4-BE49-F238E27FC236}">
                <a16:creationId xmlns="" xmlns:a16="http://schemas.microsoft.com/office/drawing/2014/main" id="{9A6FF5F3-942A-4721-E5BD-E323218A533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49155" name="Slide Number Placeholder 4">
            <a:extLst>
              <a:ext uri="{FF2B5EF4-FFF2-40B4-BE49-F238E27FC236}">
                <a16:creationId xmlns="" xmlns:a16="http://schemas.microsoft.com/office/drawing/2014/main" id="{D0A2F55D-4990-1992-6EC7-7796F1D3C51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F361B4B-DF49-4173-AF97-C64C2255F838}" type="slidenum">
              <a:rPr lang="en-US" altLang="en-US" sz="1400"/>
              <a:pPr>
                <a:spcBef>
                  <a:spcPct val="0"/>
                </a:spcBef>
                <a:buFontTx/>
                <a:buNone/>
              </a:pPr>
              <a:t>21</a:t>
            </a:fld>
            <a:endParaRPr lang="en-US" altLang="en-US" sz="1400"/>
          </a:p>
        </p:txBody>
      </p:sp>
      <p:pic>
        <p:nvPicPr>
          <p:cNvPr id="49156" name="Picture 6">
            <a:extLst>
              <a:ext uri="{FF2B5EF4-FFF2-40B4-BE49-F238E27FC236}">
                <a16:creationId xmlns="" xmlns:a16="http://schemas.microsoft.com/office/drawing/2014/main" id="{AAA407A3-1F19-55D1-1FB8-A71DB19DF88C}"/>
              </a:ext>
            </a:extLst>
          </p:cNvPr>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3630613" y="0"/>
            <a:ext cx="4847876" cy="61433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0178" name="Footer Placeholder 3">
            <a:extLst>
              <a:ext uri="{FF2B5EF4-FFF2-40B4-BE49-F238E27FC236}">
                <a16:creationId xmlns="" xmlns:a16="http://schemas.microsoft.com/office/drawing/2014/main" id="{2738912B-6B79-85E9-06E0-46139EC6B6FC}"/>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0179" name="Slide Number Placeholder 4">
            <a:extLst>
              <a:ext uri="{FF2B5EF4-FFF2-40B4-BE49-F238E27FC236}">
                <a16:creationId xmlns="" xmlns:a16="http://schemas.microsoft.com/office/drawing/2014/main" id="{2693652C-CFFF-8B57-1F55-E954FE152B7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36A9F9A-4918-42F0-A0C8-8D240FB67CB8}" type="slidenum">
              <a:rPr lang="en-US" altLang="en-US" sz="1400"/>
              <a:pPr>
                <a:spcBef>
                  <a:spcPct val="0"/>
                </a:spcBef>
                <a:buFontTx/>
                <a:buNone/>
              </a:pPr>
              <a:t>22</a:t>
            </a:fld>
            <a:endParaRPr lang="en-US" altLang="en-US" sz="1400"/>
          </a:p>
        </p:txBody>
      </p:sp>
      <p:pic>
        <p:nvPicPr>
          <p:cNvPr id="50180" name="Picture 8" descr="ch04_slide21">
            <a:extLst>
              <a:ext uri="{FF2B5EF4-FFF2-40B4-BE49-F238E27FC236}">
                <a16:creationId xmlns="" xmlns:a16="http://schemas.microsoft.com/office/drawing/2014/main" id="{A1DED02F-91F3-FC84-9F85-6B987603CE76}"/>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3390900" y="0"/>
            <a:ext cx="5282583" cy="61475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1202" name="Rectangle 6">
            <a:extLst>
              <a:ext uri="{FF2B5EF4-FFF2-40B4-BE49-F238E27FC236}">
                <a16:creationId xmlns="" xmlns:a16="http://schemas.microsoft.com/office/drawing/2014/main" id="{B0F6BFB1-435A-EC04-C742-D0929F1963BC}"/>
              </a:ext>
            </a:extLst>
          </p:cNvPr>
          <p:cNvSpPr>
            <a:spLocks noGrp="1" noChangeArrowheads="1"/>
          </p:cNvSpPr>
          <p:nvPr>
            <p:ph type="title"/>
          </p:nvPr>
        </p:nvSpPr>
        <p:spPr/>
        <p:txBody>
          <a:bodyPr/>
          <a:lstStyle/>
          <a:p>
            <a:r>
              <a:rPr lang="en-US" altLang="en-US"/>
              <a:t>NIST Security Models</a:t>
            </a:r>
          </a:p>
        </p:txBody>
      </p:sp>
      <p:sp>
        <p:nvSpPr>
          <p:cNvPr id="51203" name="Rectangle 7">
            <a:extLst>
              <a:ext uri="{FF2B5EF4-FFF2-40B4-BE49-F238E27FC236}">
                <a16:creationId xmlns="" xmlns:a16="http://schemas.microsoft.com/office/drawing/2014/main" id="{4078DAE6-B294-037E-F41A-1E600C96B99A}"/>
              </a:ext>
            </a:extLst>
          </p:cNvPr>
          <p:cNvSpPr>
            <a:spLocks noGrp="1" noChangeArrowheads="1"/>
          </p:cNvSpPr>
          <p:nvPr>
            <p:ph idx="1"/>
          </p:nvPr>
        </p:nvSpPr>
        <p:spPr/>
        <p:txBody>
          <a:bodyPr/>
          <a:lstStyle/>
          <a:p>
            <a:r>
              <a:rPr lang="en-US" altLang="en-US"/>
              <a:t>Another possible approach described in the documents available from Computer Security Resource Center of NIST</a:t>
            </a:r>
          </a:p>
          <a:p>
            <a:pPr lvl="1"/>
            <a:r>
              <a:rPr lang="en-US" altLang="en-US"/>
              <a:t>SP 800-12</a:t>
            </a:r>
          </a:p>
          <a:p>
            <a:pPr lvl="1"/>
            <a:r>
              <a:rPr lang="en-US" altLang="en-US"/>
              <a:t>SP 800-14</a:t>
            </a:r>
          </a:p>
          <a:p>
            <a:pPr lvl="1"/>
            <a:r>
              <a:rPr lang="en-US" altLang="en-US"/>
              <a:t>SP 800-18 Rev. 1</a:t>
            </a:r>
          </a:p>
          <a:p>
            <a:pPr lvl="1"/>
            <a:r>
              <a:rPr lang="en-US" altLang="en-US"/>
              <a:t>SP 800-26</a:t>
            </a:r>
          </a:p>
          <a:p>
            <a:pPr lvl="1"/>
            <a:r>
              <a:rPr lang="en-US" altLang="en-US"/>
              <a:t>SP 800-30</a:t>
            </a:r>
          </a:p>
        </p:txBody>
      </p:sp>
      <p:sp>
        <p:nvSpPr>
          <p:cNvPr id="51204" name="Footer Placeholder 4">
            <a:extLst>
              <a:ext uri="{FF2B5EF4-FFF2-40B4-BE49-F238E27FC236}">
                <a16:creationId xmlns="" xmlns:a16="http://schemas.microsoft.com/office/drawing/2014/main" id="{51FF22C1-CFDC-CCC6-D1E8-8020C68E178F}"/>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1205" name="Slide Number Placeholder 5">
            <a:extLst>
              <a:ext uri="{FF2B5EF4-FFF2-40B4-BE49-F238E27FC236}">
                <a16:creationId xmlns="" xmlns:a16="http://schemas.microsoft.com/office/drawing/2014/main" id="{5CFB662A-BC5E-43E4-A915-91D16FE9C86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0A89FD8D-B727-448C-AE39-4912C4886637}" type="slidenum">
              <a:rPr lang="en-US" altLang="en-US" sz="1400"/>
              <a:pPr>
                <a:spcBef>
                  <a:spcPct val="0"/>
                </a:spcBef>
                <a:buFontTx/>
                <a:buNone/>
              </a:pPr>
              <a:t>23</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3250" name="Rectangle 6">
            <a:extLst>
              <a:ext uri="{FF2B5EF4-FFF2-40B4-BE49-F238E27FC236}">
                <a16:creationId xmlns="" xmlns:a16="http://schemas.microsoft.com/office/drawing/2014/main" id="{AC38F1DD-7CC2-B71E-BDC8-9FA2ED500056}"/>
              </a:ext>
            </a:extLst>
          </p:cNvPr>
          <p:cNvSpPr>
            <a:spLocks noGrp="1" noChangeArrowheads="1"/>
          </p:cNvSpPr>
          <p:nvPr>
            <p:ph type="title"/>
          </p:nvPr>
        </p:nvSpPr>
        <p:spPr/>
        <p:txBody>
          <a:bodyPr/>
          <a:lstStyle/>
          <a:p>
            <a:r>
              <a:rPr lang="en-US" altLang="en-US"/>
              <a:t>NIST Special Publication 800-14</a:t>
            </a:r>
          </a:p>
        </p:txBody>
      </p:sp>
      <p:sp>
        <p:nvSpPr>
          <p:cNvPr id="53251" name="Rectangle 7">
            <a:extLst>
              <a:ext uri="{FF2B5EF4-FFF2-40B4-BE49-F238E27FC236}">
                <a16:creationId xmlns="" xmlns:a16="http://schemas.microsoft.com/office/drawing/2014/main" id="{C808EBBB-4A53-253E-957A-79E1C10B8473}"/>
              </a:ext>
            </a:extLst>
          </p:cNvPr>
          <p:cNvSpPr>
            <a:spLocks noGrp="1" noChangeArrowheads="1"/>
          </p:cNvSpPr>
          <p:nvPr>
            <p:ph idx="1"/>
          </p:nvPr>
        </p:nvSpPr>
        <p:spPr>
          <a:xfrm>
            <a:off x="2057400" y="1600200"/>
            <a:ext cx="8077200" cy="4572000"/>
          </a:xfrm>
        </p:spPr>
        <p:txBody>
          <a:bodyPr>
            <a:normAutofit fontScale="92500" lnSpcReduction="10000"/>
          </a:bodyPr>
          <a:lstStyle/>
          <a:p>
            <a:pPr>
              <a:lnSpc>
                <a:spcPct val="92000"/>
              </a:lnSpc>
            </a:pPr>
            <a:r>
              <a:rPr lang="en-US" altLang="en-US"/>
              <a:t>Security supports the mission of the organization and is an integral element of sound management.</a:t>
            </a:r>
          </a:p>
          <a:p>
            <a:pPr>
              <a:lnSpc>
                <a:spcPct val="92000"/>
              </a:lnSpc>
            </a:pPr>
            <a:r>
              <a:rPr lang="en-US" altLang="en-US"/>
              <a:t>Security should be cost effective; owners have security responsibilities outside their own organizations.</a:t>
            </a:r>
          </a:p>
          <a:p>
            <a:pPr>
              <a:lnSpc>
                <a:spcPct val="92000"/>
              </a:lnSpc>
            </a:pPr>
            <a:r>
              <a:rPr lang="en-US" altLang="en-US"/>
              <a:t>Security responsibilities and accountability should be made explicit; security requires a comprehensive and integrated approach.</a:t>
            </a:r>
          </a:p>
          <a:p>
            <a:pPr>
              <a:lnSpc>
                <a:spcPct val="92000"/>
              </a:lnSpc>
            </a:pPr>
            <a:r>
              <a:rPr lang="en-US" altLang="en-US"/>
              <a:t>Security should be periodically reassessed; security is constrained by societal factors.</a:t>
            </a:r>
          </a:p>
          <a:p>
            <a:pPr>
              <a:lnSpc>
                <a:spcPct val="92000"/>
              </a:lnSpc>
            </a:pPr>
            <a:r>
              <a:rPr lang="en-US" altLang="en-US"/>
              <a:t>Thirty-three principles for securing systems (see Table 4-5)</a:t>
            </a:r>
          </a:p>
        </p:txBody>
      </p:sp>
      <p:sp>
        <p:nvSpPr>
          <p:cNvPr id="53252" name="Footer Placeholder 4">
            <a:extLst>
              <a:ext uri="{FF2B5EF4-FFF2-40B4-BE49-F238E27FC236}">
                <a16:creationId xmlns="" xmlns:a16="http://schemas.microsoft.com/office/drawing/2014/main" id="{EC6BD30D-273B-9764-3E52-9E6BA41B6958}"/>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3253" name="Slide Number Placeholder 5">
            <a:extLst>
              <a:ext uri="{FF2B5EF4-FFF2-40B4-BE49-F238E27FC236}">
                <a16:creationId xmlns="" xmlns:a16="http://schemas.microsoft.com/office/drawing/2014/main" id="{B64EDEA7-304B-EE1D-4D2C-825B51C9EF3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04A4A43F-2006-47A1-9B12-9D6D8C5199A4}" type="slidenum">
              <a:rPr lang="en-US" altLang="en-US" sz="1400"/>
              <a:pPr>
                <a:spcBef>
                  <a:spcPct val="0"/>
                </a:spcBef>
                <a:buFontTx/>
                <a:buNone/>
              </a:pPr>
              <a:t>24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5298" name="Title 1">
            <a:extLst>
              <a:ext uri="{FF2B5EF4-FFF2-40B4-BE49-F238E27FC236}">
                <a16:creationId xmlns="" xmlns:a16="http://schemas.microsoft.com/office/drawing/2014/main" id="{9669DC2C-BEC4-442F-0F16-BC8B42F7AF2C}"/>
              </a:ext>
            </a:extLst>
          </p:cNvPr>
          <p:cNvSpPr>
            <a:spLocks noGrp="1" noChangeArrowheads="1"/>
          </p:cNvSpPr>
          <p:nvPr>
            <p:ph type="title"/>
          </p:nvPr>
        </p:nvSpPr>
        <p:spPr/>
        <p:txBody>
          <a:bodyPr/>
          <a:lstStyle/>
          <a:p>
            <a:r>
              <a:rPr lang="en-US" altLang="en-US"/>
              <a:t>NIST Cybersecurity Framework</a:t>
            </a:r>
          </a:p>
        </p:txBody>
      </p:sp>
      <p:sp>
        <p:nvSpPr>
          <p:cNvPr id="55299" name="Content Placeholder 2">
            <a:extLst>
              <a:ext uri="{FF2B5EF4-FFF2-40B4-BE49-F238E27FC236}">
                <a16:creationId xmlns="" xmlns:a16="http://schemas.microsoft.com/office/drawing/2014/main" id="{301CB19D-6070-CC06-1018-5B1F7C08BB97}"/>
              </a:ext>
            </a:extLst>
          </p:cNvPr>
          <p:cNvSpPr>
            <a:spLocks noGrp="1" noChangeArrowheads="1"/>
          </p:cNvSpPr>
          <p:nvPr>
            <p:ph idx="1"/>
          </p:nvPr>
        </p:nvSpPr>
        <p:spPr/>
        <p:txBody>
          <a:bodyPr/>
          <a:lstStyle/>
          <a:p>
            <a:r>
              <a:rPr lang="en-US" altLang="en-US"/>
              <a:t>Consists of three fundamental components:</a:t>
            </a:r>
          </a:p>
          <a:p>
            <a:pPr lvl="1"/>
            <a:r>
              <a:rPr lang="en-US" altLang="en-US"/>
              <a:t>Framework core: set of information security activities an organization is expected to perform and their desired results</a:t>
            </a:r>
          </a:p>
          <a:p>
            <a:pPr lvl="1"/>
            <a:r>
              <a:rPr lang="en-US" altLang="en-US"/>
              <a:t>Framework tiers: help relate the maturity of security programs and implement corresponding measures and functions</a:t>
            </a:r>
          </a:p>
          <a:p>
            <a:pPr lvl="1"/>
            <a:r>
              <a:rPr lang="en-US" altLang="en-US"/>
              <a:t>Framework profile: used to perform a gap analysis between the current and a desired state of information security/risk management</a:t>
            </a:r>
          </a:p>
        </p:txBody>
      </p:sp>
      <p:sp>
        <p:nvSpPr>
          <p:cNvPr id="55300" name="Footer Placeholder 3">
            <a:extLst>
              <a:ext uri="{FF2B5EF4-FFF2-40B4-BE49-F238E27FC236}">
                <a16:creationId xmlns="" xmlns:a16="http://schemas.microsoft.com/office/drawing/2014/main" id="{722DBC95-BFDD-CB94-9D71-82FA7465FD66}"/>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5301" name="Slide Number Placeholder 4">
            <a:extLst>
              <a:ext uri="{FF2B5EF4-FFF2-40B4-BE49-F238E27FC236}">
                <a16:creationId xmlns="" xmlns:a16="http://schemas.microsoft.com/office/drawing/2014/main" id="{D33A8868-72E0-2731-8331-7C9D974B74C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9209CBD-159D-43E0-A769-C9EC7C2844BF}" type="slidenum">
              <a:rPr lang="en-US" altLang="en-US" sz="1400"/>
              <a:pPr>
                <a:spcBef>
                  <a:spcPct val="0"/>
                </a:spcBef>
                <a:buFontTx/>
                <a:buNone/>
              </a:pPr>
              <a:t>25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7346" name="Title 1">
            <a:extLst>
              <a:ext uri="{FF2B5EF4-FFF2-40B4-BE49-F238E27FC236}">
                <a16:creationId xmlns="" xmlns:a16="http://schemas.microsoft.com/office/drawing/2014/main" id="{8E6B70B6-CE3F-D584-044D-305FDB1BF36A}"/>
              </a:ext>
            </a:extLst>
          </p:cNvPr>
          <p:cNvSpPr>
            <a:spLocks noGrp="1" noChangeArrowheads="1"/>
          </p:cNvSpPr>
          <p:nvPr>
            <p:ph type="title"/>
          </p:nvPr>
        </p:nvSpPr>
        <p:spPr/>
        <p:txBody>
          <a:bodyPr/>
          <a:lstStyle/>
          <a:p>
            <a:r>
              <a:rPr lang="en-US" altLang="en-US"/>
              <a:t>NIST Cybersecurity Framework (cont’d)</a:t>
            </a:r>
          </a:p>
        </p:txBody>
      </p:sp>
      <p:sp>
        <p:nvSpPr>
          <p:cNvPr id="57347" name="Content Placeholder 2">
            <a:extLst>
              <a:ext uri="{FF2B5EF4-FFF2-40B4-BE49-F238E27FC236}">
                <a16:creationId xmlns="" xmlns:a16="http://schemas.microsoft.com/office/drawing/2014/main" id="{82706F79-B287-C9EF-D0F7-B33B50E46495}"/>
              </a:ext>
            </a:extLst>
          </p:cNvPr>
          <p:cNvSpPr>
            <a:spLocks noGrp="1" noChangeArrowheads="1"/>
          </p:cNvSpPr>
          <p:nvPr>
            <p:ph idx="1"/>
          </p:nvPr>
        </p:nvSpPr>
        <p:spPr/>
        <p:txBody>
          <a:bodyPr/>
          <a:lstStyle/>
          <a:p>
            <a:r>
              <a:rPr lang="en-US" altLang="en-US"/>
              <a:t>Seven-step approach to implementing/improving programs:</a:t>
            </a:r>
          </a:p>
          <a:p>
            <a:pPr lvl="1"/>
            <a:r>
              <a:rPr lang="en-US" altLang="en-US"/>
              <a:t>Prioritize and scope</a:t>
            </a:r>
          </a:p>
          <a:p>
            <a:pPr lvl="1"/>
            <a:r>
              <a:rPr lang="en-US" altLang="en-US"/>
              <a:t>Orient</a:t>
            </a:r>
          </a:p>
          <a:p>
            <a:pPr lvl="1"/>
            <a:r>
              <a:rPr lang="en-US" altLang="en-US"/>
              <a:t>Create current profile</a:t>
            </a:r>
          </a:p>
          <a:p>
            <a:pPr lvl="1"/>
            <a:r>
              <a:rPr lang="en-US" altLang="en-US"/>
              <a:t>Conduct risk assessment</a:t>
            </a:r>
          </a:p>
          <a:p>
            <a:pPr lvl="1"/>
            <a:r>
              <a:rPr lang="en-US" altLang="en-US"/>
              <a:t>Create target profile</a:t>
            </a:r>
          </a:p>
          <a:p>
            <a:pPr lvl="1"/>
            <a:r>
              <a:rPr lang="en-US" altLang="en-US"/>
              <a:t>Determine, analyze, prioritize gaps</a:t>
            </a:r>
          </a:p>
          <a:p>
            <a:pPr lvl="1"/>
            <a:r>
              <a:rPr lang="en-US" altLang="en-US"/>
              <a:t>Implement action plan</a:t>
            </a:r>
          </a:p>
        </p:txBody>
      </p:sp>
      <p:sp>
        <p:nvSpPr>
          <p:cNvPr id="57348" name="Footer Placeholder 3">
            <a:extLst>
              <a:ext uri="{FF2B5EF4-FFF2-40B4-BE49-F238E27FC236}">
                <a16:creationId xmlns="" xmlns:a16="http://schemas.microsoft.com/office/drawing/2014/main" id="{9028B4CF-85A0-AE62-6519-CD3E9B2C71E1}"/>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7349" name="Slide Number Placeholder 4">
            <a:extLst>
              <a:ext uri="{FF2B5EF4-FFF2-40B4-BE49-F238E27FC236}">
                <a16:creationId xmlns="" xmlns:a16="http://schemas.microsoft.com/office/drawing/2014/main" id="{A644B94D-DB82-5303-719E-76914C5D5110}"/>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44203C8-76DC-43FB-ADC3-3B35EC72E889}" type="slidenum">
              <a:rPr lang="en-US" altLang="en-US" sz="1400"/>
              <a:pPr>
                <a:spcBef>
                  <a:spcPct val="0"/>
                </a:spcBef>
                <a:buFontTx/>
                <a:buNone/>
              </a:pPr>
              <a:t>26</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9394" name="Title 1">
            <a:extLst>
              <a:ext uri="{FF2B5EF4-FFF2-40B4-BE49-F238E27FC236}">
                <a16:creationId xmlns="" xmlns:a16="http://schemas.microsoft.com/office/drawing/2014/main" id="{83C109E2-5D85-7ADE-7D77-FBDBE69B6FAF}"/>
              </a:ext>
            </a:extLst>
          </p:cNvPr>
          <p:cNvSpPr>
            <a:spLocks noGrp="1" noChangeArrowheads="1"/>
          </p:cNvSpPr>
          <p:nvPr>
            <p:ph type="title"/>
          </p:nvPr>
        </p:nvSpPr>
        <p:spPr/>
        <p:txBody>
          <a:bodyPr/>
          <a:lstStyle/>
          <a:p>
            <a:r>
              <a:rPr lang="en-US" altLang="en-US"/>
              <a:t>Other Sources of Security Frameworks</a:t>
            </a:r>
          </a:p>
        </p:txBody>
      </p:sp>
      <p:sp>
        <p:nvSpPr>
          <p:cNvPr id="59395" name="Content Placeholder 2">
            <a:extLst>
              <a:ext uri="{FF2B5EF4-FFF2-40B4-BE49-F238E27FC236}">
                <a16:creationId xmlns="" xmlns:a16="http://schemas.microsoft.com/office/drawing/2014/main" id="{0C6A03D8-91DD-EC46-EEE8-20261522AB11}"/>
              </a:ext>
            </a:extLst>
          </p:cNvPr>
          <p:cNvSpPr>
            <a:spLocks noGrp="1" noChangeArrowheads="1"/>
          </p:cNvSpPr>
          <p:nvPr>
            <p:ph idx="1"/>
          </p:nvPr>
        </p:nvSpPr>
        <p:spPr/>
        <p:txBody>
          <a:bodyPr/>
          <a:lstStyle/>
          <a:p>
            <a:r>
              <a:rPr lang="en-US" altLang="en-US"/>
              <a:t>Federal Agency Security Practices (FASP)</a:t>
            </a:r>
          </a:p>
          <a:p>
            <a:r>
              <a:rPr lang="en-US" altLang="en-US"/>
              <a:t>Computer Emergency Response Team Coordination Center (CERT/CC)</a:t>
            </a:r>
          </a:p>
          <a:p>
            <a:r>
              <a:rPr lang="en-US" altLang="en-US"/>
              <a:t>International Association of Professional Security Consultants</a:t>
            </a:r>
          </a:p>
        </p:txBody>
      </p:sp>
      <p:sp>
        <p:nvSpPr>
          <p:cNvPr id="59396" name="Footer Placeholder 3">
            <a:extLst>
              <a:ext uri="{FF2B5EF4-FFF2-40B4-BE49-F238E27FC236}">
                <a16:creationId xmlns="" xmlns:a16="http://schemas.microsoft.com/office/drawing/2014/main" id="{BF8FB5A6-C91A-DD5E-0B2A-81D31D1A55BF}"/>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59397" name="Slide Number Placeholder 4">
            <a:extLst>
              <a:ext uri="{FF2B5EF4-FFF2-40B4-BE49-F238E27FC236}">
                <a16:creationId xmlns="" xmlns:a16="http://schemas.microsoft.com/office/drawing/2014/main" id="{679F1F34-42BB-C8C9-3F6D-A2D8B15C3CD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2AD9B02-AA86-488E-8E21-702230BD57CD}" type="slidenum">
              <a:rPr lang="en-US" altLang="en-US" sz="1400"/>
              <a:pPr>
                <a:spcBef>
                  <a:spcPct val="0"/>
                </a:spcBef>
                <a:buFontTx/>
                <a:buNone/>
              </a:pPr>
              <a:t>27</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1442" name="Rectangle 6">
            <a:extLst>
              <a:ext uri="{FF2B5EF4-FFF2-40B4-BE49-F238E27FC236}">
                <a16:creationId xmlns="" xmlns:a16="http://schemas.microsoft.com/office/drawing/2014/main" id="{0C75D951-A540-E2D1-F2F3-0C5628D8427F}"/>
              </a:ext>
            </a:extLst>
          </p:cNvPr>
          <p:cNvSpPr>
            <a:spLocks noGrp="1" noChangeArrowheads="1"/>
          </p:cNvSpPr>
          <p:nvPr>
            <p:ph type="title"/>
          </p:nvPr>
        </p:nvSpPr>
        <p:spPr/>
        <p:txBody>
          <a:bodyPr/>
          <a:lstStyle/>
          <a:p>
            <a:r>
              <a:rPr lang="en-US" altLang="en-US"/>
              <a:t>Design of Security Architecture</a:t>
            </a:r>
          </a:p>
        </p:txBody>
      </p:sp>
      <p:sp>
        <p:nvSpPr>
          <p:cNvPr id="61443" name="Rectangle 7">
            <a:extLst>
              <a:ext uri="{FF2B5EF4-FFF2-40B4-BE49-F238E27FC236}">
                <a16:creationId xmlns="" xmlns:a16="http://schemas.microsoft.com/office/drawing/2014/main" id="{CB35BA5F-3F1C-1AB1-1546-AB112C810F6C}"/>
              </a:ext>
            </a:extLst>
          </p:cNvPr>
          <p:cNvSpPr>
            <a:spLocks noGrp="1" noChangeArrowheads="1"/>
          </p:cNvSpPr>
          <p:nvPr>
            <p:ph idx="1"/>
          </p:nvPr>
        </p:nvSpPr>
        <p:spPr>
          <a:xfrm>
            <a:off x="2057400" y="1676400"/>
            <a:ext cx="8305800" cy="4572000"/>
          </a:xfrm>
        </p:spPr>
        <p:txBody>
          <a:bodyPr/>
          <a:lstStyle/>
          <a:p>
            <a:pPr>
              <a:lnSpc>
                <a:spcPct val="90000"/>
              </a:lnSpc>
            </a:pPr>
            <a:r>
              <a:rPr lang="en-US" altLang="en-US"/>
              <a:t>Spheres of security: foundation of the security framework</a:t>
            </a:r>
          </a:p>
          <a:p>
            <a:pPr>
              <a:lnSpc>
                <a:spcPct val="90000"/>
              </a:lnSpc>
            </a:pPr>
            <a:r>
              <a:rPr lang="en-US" altLang="en-US"/>
              <a:t>Levels of controls:</a:t>
            </a:r>
          </a:p>
          <a:p>
            <a:pPr lvl="1">
              <a:lnSpc>
                <a:spcPct val="90000"/>
              </a:lnSpc>
            </a:pPr>
            <a:r>
              <a:rPr lang="en-US" altLang="en-US"/>
              <a:t>Management controls set the direction and scope of the security processes and provide detailed instructions for its conduct.</a:t>
            </a:r>
          </a:p>
          <a:p>
            <a:pPr lvl="1">
              <a:lnSpc>
                <a:spcPct val="90000"/>
              </a:lnSpc>
            </a:pPr>
            <a:r>
              <a:rPr lang="en-US" altLang="en-US"/>
              <a:t>Operational controls address personnel and physical security, and the protection of production inputs/outputs.</a:t>
            </a:r>
          </a:p>
          <a:p>
            <a:pPr lvl="1">
              <a:lnSpc>
                <a:spcPct val="90000"/>
              </a:lnSpc>
            </a:pPr>
            <a:r>
              <a:rPr lang="en-US" altLang="en-US"/>
              <a:t>Technical controls are the tactical and technical implementations related to designing and integrating security in the organization.</a:t>
            </a:r>
          </a:p>
        </p:txBody>
      </p:sp>
      <p:sp>
        <p:nvSpPr>
          <p:cNvPr id="61444" name="Footer Placeholder 4">
            <a:extLst>
              <a:ext uri="{FF2B5EF4-FFF2-40B4-BE49-F238E27FC236}">
                <a16:creationId xmlns="" xmlns:a16="http://schemas.microsoft.com/office/drawing/2014/main" id="{C0C328A5-F35D-AD6C-F870-B66EE80BB9CA}"/>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61445" name="Slide Number Placeholder 5">
            <a:extLst>
              <a:ext uri="{FF2B5EF4-FFF2-40B4-BE49-F238E27FC236}">
                <a16:creationId xmlns="" xmlns:a16="http://schemas.microsoft.com/office/drawing/2014/main" id="{AA19BACA-6756-C97A-D184-2D0E41BE3B3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6F9C29ED-4042-4342-BA00-EAA0D1E7B939}" type="slidenum">
              <a:rPr lang="en-US" altLang="en-US" sz="1400"/>
              <a:pPr>
                <a:spcBef>
                  <a:spcPct val="0"/>
                </a:spcBef>
                <a:buFontTx/>
                <a:buNone/>
              </a:pPr>
              <a:t>28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3490" name="Footer Placeholder 4">
            <a:extLst>
              <a:ext uri="{FF2B5EF4-FFF2-40B4-BE49-F238E27FC236}">
                <a16:creationId xmlns="" xmlns:a16="http://schemas.microsoft.com/office/drawing/2014/main" id="{31FF4F47-133F-8469-3687-6BD8FB2BC9E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63491" name="Slide Number Placeholder 5">
            <a:extLst>
              <a:ext uri="{FF2B5EF4-FFF2-40B4-BE49-F238E27FC236}">
                <a16:creationId xmlns="" xmlns:a16="http://schemas.microsoft.com/office/drawing/2014/main" id="{BDFE8B81-4A98-FFD5-974B-A88F8983DAC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68764A88-0E9E-41EB-9DD2-00380CD7761D}" type="slidenum">
              <a:rPr lang="en-US" altLang="en-US" sz="1400"/>
              <a:pPr>
                <a:spcBef>
                  <a:spcPct val="0"/>
                </a:spcBef>
                <a:buFontTx/>
                <a:buNone/>
              </a:pPr>
              <a:t>29</a:t>
            </a:fld>
            <a:endParaRPr lang="en-US" altLang="en-US" sz="1400"/>
          </a:p>
        </p:txBody>
      </p:sp>
      <p:pic>
        <p:nvPicPr>
          <p:cNvPr id="63492" name="Picture 2">
            <a:extLst>
              <a:ext uri="{FF2B5EF4-FFF2-40B4-BE49-F238E27FC236}">
                <a16:creationId xmlns="" xmlns:a16="http://schemas.microsoft.com/office/drawing/2014/main" id="{A95C1456-F899-247F-6D37-3327CEB73142}"/>
              </a:ext>
            </a:extLst>
          </p:cNvPr>
          <p:cNvPicPr>
            <a:picLocks noChangeAspect="1"/>
          </p:cNvPicPr>
          <p:nvPr/>
        </p:nvPicPr>
        <p:blipFill>
          <a:blip r:embed="rId5">
            <a:extLst>
              <a:ext uri="{28A0092B-C50C-407E-A947-70E740481C1C}">
                <a14:useLocalDpi xmlns="" xmlns:a14="http://schemas.microsoft.com/office/drawing/2010/main" val="0"/>
              </a:ext>
            </a:extLst>
          </a:blip>
          <a:srcRect/>
          <a:stretch>
            <a:fillRect/>
          </a:stretch>
        </p:blipFill>
        <p:spPr bwMode="auto">
          <a:xfrm>
            <a:off x="1784350" y="990601"/>
            <a:ext cx="8578850" cy="4606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5538" name="Rectangle 6">
            <a:extLst>
              <a:ext uri="{FF2B5EF4-FFF2-40B4-BE49-F238E27FC236}">
                <a16:creationId xmlns="" xmlns:a16="http://schemas.microsoft.com/office/drawing/2014/main" id="{0C4DCC43-2AD2-C4B8-1065-EF77AEABA982}"/>
              </a:ext>
            </a:extLst>
          </p:cNvPr>
          <p:cNvSpPr>
            <a:spLocks noGrp="1" noChangeArrowheads="1"/>
          </p:cNvSpPr>
          <p:nvPr>
            <p:ph type="title"/>
          </p:nvPr>
        </p:nvSpPr>
        <p:spPr/>
        <p:txBody>
          <a:bodyPr/>
          <a:lstStyle/>
          <a:p>
            <a:r>
              <a:rPr lang="en-US" altLang="en-US"/>
              <a:t>Design of Security Architecture (cont’d)</a:t>
            </a:r>
          </a:p>
        </p:txBody>
      </p:sp>
      <p:sp>
        <p:nvSpPr>
          <p:cNvPr id="65539" name="Rectangle 7">
            <a:extLst>
              <a:ext uri="{FF2B5EF4-FFF2-40B4-BE49-F238E27FC236}">
                <a16:creationId xmlns="" xmlns:a16="http://schemas.microsoft.com/office/drawing/2014/main" id="{8F46E9AD-45EB-562D-C915-D9892B785F4F}"/>
              </a:ext>
            </a:extLst>
          </p:cNvPr>
          <p:cNvSpPr>
            <a:spLocks noGrp="1" noChangeArrowheads="1"/>
          </p:cNvSpPr>
          <p:nvPr>
            <p:ph idx="1"/>
          </p:nvPr>
        </p:nvSpPr>
        <p:spPr/>
        <p:txBody>
          <a:bodyPr/>
          <a:lstStyle/>
          <a:p>
            <a:r>
              <a:rPr lang="en-US" altLang="en-US"/>
              <a:t>Defense in depth</a:t>
            </a:r>
          </a:p>
          <a:p>
            <a:pPr lvl="1"/>
            <a:r>
              <a:rPr lang="en-US" altLang="en-US"/>
              <a:t>Implementation of security in layers</a:t>
            </a:r>
          </a:p>
          <a:p>
            <a:pPr lvl="1"/>
            <a:r>
              <a:rPr lang="en-US" altLang="en-US"/>
              <a:t>Requires that organization establish multiple layers of security controls and safeguards</a:t>
            </a:r>
          </a:p>
          <a:p>
            <a:r>
              <a:rPr lang="en-US" altLang="en-US"/>
              <a:t>Security perimeter</a:t>
            </a:r>
          </a:p>
          <a:p>
            <a:pPr lvl="1"/>
            <a:r>
              <a:rPr lang="en-US" altLang="en-US"/>
              <a:t>Border of security protecting internal systems from outside threats</a:t>
            </a:r>
          </a:p>
          <a:p>
            <a:pPr lvl="1"/>
            <a:r>
              <a:rPr lang="en-US" altLang="en-US"/>
              <a:t>Does not protect against internal attacks from employee threats or onsite physical threats</a:t>
            </a:r>
          </a:p>
        </p:txBody>
      </p:sp>
      <p:sp>
        <p:nvSpPr>
          <p:cNvPr id="65540" name="Footer Placeholder 4">
            <a:extLst>
              <a:ext uri="{FF2B5EF4-FFF2-40B4-BE49-F238E27FC236}">
                <a16:creationId xmlns="" xmlns:a16="http://schemas.microsoft.com/office/drawing/2014/main" id="{C10B9E02-8E74-FB1B-9B94-E21514FDCEE9}"/>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65541" name="Slide Number Placeholder 5">
            <a:extLst>
              <a:ext uri="{FF2B5EF4-FFF2-40B4-BE49-F238E27FC236}">
                <a16:creationId xmlns="" xmlns:a16="http://schemas.microsoft.com/office/drawing/2014/main" id="{842083BA-D5DE-C110-26D9-E611F310C96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4921DA73-B272-4B59-8810-0CC9FF22C6F5}" type="slidenum">
              <a:rPr lang="en-US" altLang="en-US" sz="1400"/>
              <a:pPr>
                <a:spcBef>
                  <a:spcPct val="0"/>
                </a:spcBef>
                <a:buFontTx/>
                <a:buNone/>
              </a:pPr>
              <a:t>30</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67586" name="Footer Placeholder 4">
            <a:extLst>
              <a:ext uri="{FF2B5EF4-FFF2-40B4-BE49-F238E27FC236}">
                <a16:creationId xmlns="" xmlns:a16="http://schemas.microsoft.com/office/drawing/2014/main" id="{51DCFC9F-0E23-84F8-5C9E-901B64C9831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67587" name="Slide Number Placeholder 5">
            <a:extLst>
              <a:ext uri="{FF2B5EF4-FFF2-40B4-BE49-F238E27FC236}">
                <a16:creationId xmlns="" xmlns:a16="http://schemas.microsoft.com/office/drawing/2014/main" id="{0CAE50F5-BB24-FCE7-C310-D3A09E98E147}"/>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6465BA0-7566-4456-8AE8-49AC20A8D5F9}" type="slidenum">
              <a:rPr lang="en-US" altLang="en-US" sz="1400"/>
              <a:pPr>
                <a:spcBef>
                  <a:spcPct val="0"/>
                </a:spcBef>
                <a:buFontTx/>
                <a:buNone/>
              </a:pPr>
              <a:t>31</a:t>
            </a:fld>
            <a:endParaRPr lang="en-US" altLang="en-US" sz="1400"/>
          </a:p>
        </p:txBody>
      </p:sp>
      <p:pic>
        <p:nvPicPr>
          <p:cNvPr id="67588" name="Picture 7" descr="ch04_slide31">
            <a:extLst>
              <a:ext uri="{FF2B5EF4-FFF2-40B4-BE49-F238E27FC236}">
                <a16:creationId xmlns="" xmlns:a16="http://schemas.microsoft.com/office/drawing/2014/main" id="{5D001366-C54F-7B9A-8331-A8A8CBA9D523}"/>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1844675" y="246063"/>
            <a:ext cx="8667750" cy="6153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69634" name="Footer Placeholder 1">
            <a:extLst>
              <a:ext uri="{FF2B5EF4-FFF2-40B4-BE49-F238E27FC236}">
                <a16:creationId xmlns="" xmlns:a16="http://schemas.microsoft.com/office/drawing/2014/main" id="{923647D3-4823-34D7-5949-A529D331B77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69635" name="Slide Number Placeholder 2">
            <a:extLst>
              <a:ext uri="{FF2B5EF4-FFF2-40B4-BE49-F238E27FC236}">
                <a16:creationId xmlns="" xmlns:a16="http://schemas.microsoft.com/office/drawing/2014/main" id="{4EB817E5-F856-97B2-2EEF-C703BF956E9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699849D-49CF-4EF0-8BF4-C42C388893A3}" type="slidenum">
              <a:rPr lang="en-US" altLang="en-US" sz="1400"/>
              <a:pPr>
                <a:spcBef>
                  <a:spcPct val="0"/>
                </a:spcBef>
                <a:buFontTx/>
                <a:buNone/>
              </a:pPr>
              <a:t>32</a:t>
            </a:fld>
            <a:endParaRPr lang="en-US" altLang="en-US" sz="1400"/>
          </a:p>
        </p:txBody>
      </p:sp>
      <p:pic>
        <p:nvPicPr>
          <p:cNvPr id="69636" name="Picture 8" descr="ch04_slide32">
            <a:extLst>
              <a:ext uri="{FF2B5EF4-FFF2-40B4-BE49-F238E27FC236}">
                <a16:creationId xmlns="" xmlns:a16="http://schemas.microsoft.com/office/drawing/2014/main" id="{76F68F90-B088-B9EB-3DFF-860384011FE9}"/>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739900" y="482600"/>
            <a:ext cx="8758238" cy="5583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0658" name="Rectangle 4">
            <a:extLst>
              <a:ext uri="{FF2B5EF4-FFF2-40B4-BE49-F238E27FC236}">
                <a16:creationId xmlns="" xmlns:a16="http://schemas.microsoft.com/office/drawing/2014/main" id="{77A7FA17-2572-3A31-8561-B4D22E6EC5CB}"/>
              </a:ext>
            </a:extLst>
          </p:cNvPr>
          <p:cNvSpPr>
            <a:spLocks noGrp="1" noChangeArrowheads="1"/>
          </p:cNvSpPr>
          <p:nvPr>
            <p:ph type="title"/>
          </p:nvPr>
        </p:nvSpPr>
        <p:spPr/>
        <p:txBody>
          <a:bodyPr/>
          <a:lstStyle/>
          <a:p>
            <a:r>
              <a:rPr lang="en-US" altLang="en-US"/>
              <a:t>Security Education, Training, and Awareness Program</a:t>
            </a:r>
          </a:p>
        </p:txBody>
      </p:sp>
      <p:sp>
        <p:nvSpPr>
          <p:cNvPr id="70659" name="Rectangle 5">
            <a:extLst>
              <a:ext uri="{FF2B5EF4-FFF2-40B4-BE49-F238E27FC236}">
                <a16:creationId xmlns="" xmlns:a16="http://schemas.microsoft.com/office/drawing/2014/main" id="{31C0E167-3D16-EB43-2406-634A7B34C535}"/>
              </a:ext>
            </a:extLst>
          </p:cNvPr>
          <p:cNvSpPr>
            <a:spLocks noGrp="1" noChangeArrowheads="1"/>
          </p:cNvSpPr>
          <p:nvPr>
            <p:ph idx="1"/>
          </p:nvPr>
        </p:nvSpPr>
        <p:spPr/>
        <p:txBody>
          <a:bodyPr/>
          <a:lstStyle/>
          <a:p>
            <a:r>
              <a:rPr lang="en-US" altLang="en-US"/>
              <a:t>Once general security policy exists, implement security education, training, and awareness (SETA) program </a:t>
            </a:r>
          </a:p>
          <a:p>
            <a:r>
              <a:rPr lang="en-US" altLang="en-US"/>
              <a:t>SETA is a control measure designed to reduce accidental security breaches.</a:t>
            </a:r>
          </a:p>
          <a:p>
            <a:r>
              <a:rPr lang="en-US" altLang="en-US"/>
              <a:t>The SETA program consists of security education, security training, and security awareness.</a:t>
            </a:r>
          </a:p>
          <a:p>
            <a:r>
              <a:rPr lang="en-US" altLang="en-US"/>
              <a:t>Enhances security by improving awareness, developing skills, and knowledge, and building in-depth knowledge</a:t>
            </a:r>
          </a:p>
        </p:txBody>
      </p:sp>
      <p:sp>
        <p:nvSpPr>
          <p:cNvPr id="70660" name="Footer Placeholder 4">
            <a:extLst>
              <a:ext uri="{FF2B5EF4-FFF2-40B4-BE49-F238E27FC236}">
                <a16:creationId xmlns="" xmlns:a16="http://schemas.microsoft.com/office/drawing/2014/main" id="{0E327BA4-0D49-52AF-FFD8-D29D0BAEAA69}"/>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0661" name="Slide Number Placeholder 5">
            <a:extLst>
              <a:ext uri="{FF2B5EF4-FFF2-40B4-BE49-F238E27FC236}">
                <a16:creationId xmlns="" xmlns:a16="http://schemas.microsoft.com/office/drawing/2014/main" id="{08BE7FEF-DA75-99A5-BE2C-34F9F3537CA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BCC993F6-1037-4C4E-838E-642A86ADCC0F}" type="slidenum">
              <a:rPr lang="en-US" altLang="en-US" sz="1400"/>
              <a:pPr>
                <a:spcBef>
                  <a:spcPct val="0"/>
                </a:spcBef>
                <a:buFontTx/>
                <a:buNone/>
              </a:pPr>
              <a:t>33</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2706" name="Rectangle 4">
            <a:extLst>
              <a:ext uri="{FF2B5EF4-FFF2-40B4-BE49-F238E27FC236}">
                <a16:creationId xmlns="" xmlns:a16="http://schemas.microsoft.com/office/drawing/2014/main" id="{D2FD7158-E523-8818-8810-0A89FE6A5E67}"/>
              </a:ext>
            </a:extLst>
          </p:cNvPr>
          <p:cNvSpPr>
            <a:spLocks noGrp="1" noChangeArrowheads="1"/>
          </p:cNvSpPr>
          <p:nvPr>
            <p:ph type="title"/>
          </p:nvPr>
        </p:nvSpPr>
        <p:spPr/>
        <p:txBody>
          <a:bodyPr/>
          <a:lstStyle/>
          <a:p>
            <a:r>
              <a:rPr lang="en-US" altLang="en-US"/>
              <a:t>Security Education</a:t>
            </a:r>
          </a:p>
        </p:txBody>
      </p:sp>
      <p:sp>
        <p:nvSpPr>
          <p:cNvPr id="72707" name="Rectangle 5">
            <a:extLst>
              <a:ext uri="{FF2B5EF4-FFF2-40B4-BE49-F238E27FC236}">
                <a16:creationId xmlns="" xmlns:a16="http://schemas.microsoft.com/office/drawing/2014/main" id="{8165FA2D-F9C0-5697-BFDC-914AF25602F9}"/>
              </a:ext>
            </a:extLst>
          </p:cNvPr>
          <p:cNvSpPr>
            <a:spLocks noGrp="1" noChangeArrowheads="1"/>
          </p:cNvSpPr>
          <p:nvPr>
            <p:ph idx="1"/>
          </p:nvPr>
        </p:nvSpPr>
        <p:spPr/>
        <p:txBody>
          <a:bodyPr/>
          <a:lstStyle/>
          <a:p>
            <a:r>
              <a:rPr lang="en-US" altLang="en-US"/>
              <a:t>Everyone in an organization needs to be trained and aware of information security; not every member needs a formal degree or certificate in information security.</a:t>
            </a:r>
          </a:p>
          <a:p>
            <a:r>
              <a:rPr lang="en-US" altLang="en-US"/>
              <a:t>When formal education is deemed appropriate, an employee can investigate courses in continuing education from local institutions of higher learning.</a:t>
            </a:r>
          </a:p>
          <a:p>
            <a:r>
              <a:rPr lang="en-US" altLang="en-US"/>
              <a:t>A number of universities have formal coursework in information security.</a:t>
            </a:r>
          </a:p>
        </p:txBody>
      </p:sp>
      <p:sp>
        <p:nvSpPr>
          <p:cNvPr id="72708" name="Footer Placeholder 4">
            <a:extLst>
              <a:ext uri="{FF2B5EF4-FFF2-40B4-BE49-F238E27FC236}">
                <a16:creationId xmlns="" xmlns:a16="http://schemas.microsoft.com/office/drawing/2014/main" id="{C86E24A8-DC87-36F5-2EC7-706A1B57BD52}"/>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2709" name="Slide Number Placeholder 5">
            <a:extLst>
              <a:ext uri="{FF2B5EF4-FFF2-40B4-BE49-F238E27FC236}">
                <a16:creationId xmlns="" xmlns:a16="http://schemas.microsoft.com/office/drawing/2014/main" id="{EBB955B8-DB8E-49F8-92D8-CB5B2613ECB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185E8E3E-3FA9-4005-BFAB-90D1A8386E87}" type="slidenum">
              <a:rPr lang="en-US" altLang="en-US" sz="1400"/>
              <a:pPr>
                <a:spcBef>
                  <a:spcPct val="0"/>
                </a:spcBef>
                <a:buFontTx/>
                <a:buNone/>
              </a:pPr>
              <a:t>34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4754" name="Rectangle 4">
            <a:extLst>
              <a:ext uri="{FF2B5EF4-FFF2-40B4-BE49-F238E27FC236}">
                <a16:creationId xmlns="" xmlns:a16="http://schemas.microsoft.com/office/drawing/2014/main" id="{55AF4919-E5AC-3D46-D83C-E357128F604F}"/>
              </a:ext>
            </a:extLst>
          </p:cNvPr>
          <p:cNvSpPr>
            <a:spLocks noGrp="1" noChangeArrowheads="1"/>
          </p:cNvSpPr>
          <p:nvPr>
            <p:ph type="title"/>
          </p:nvPr>
        </p:nvSpPr>
        <p:spPr/>
        <p:txBody>
          <a:bodyPr/>
          <a:lstStyle/>
          <a:p>
            <a:r>
              <a:rPr lang="en-US" altLang="en-US"/>
              <a:t>Security Training</a:t>
            </a:r>
          </a:p>
        </p:txBody>
      </p:sp>
      <p:sp>
        <p:nvSpPr>
          <p:cNvPr id="74755" name="Rectangle 5">
            <a:extLst>
              <a:ext uri="{FF2B5EF4-FFF2-40B4-BE49-F238E27FC236}">
                <a16:creationId xmlns="" xmlns:a16="http://schemas.microsoft.com/office/drawing/2014/main" id="{6E51303F-2CD1-8B2C-9836-2C9CAFE9F5D2}"/>
              </a:ext>
            </a:extLst>
          </p:cNvPr>
          <p:cNvSpPr>
            <a:spLocks noGrp="1" noChangeArrowheads="1"/>
          </p:cNvSpPr>
          <p:nvPr>
            <p:ph idx="1"/>
          </p:nvPr>
        </p:nvSpPr>
        <p:spPr/>
        <p:txBody>
          <a:bodyPr/>
          <a:lstStyle/>
          <a:p>
            <a:r>
              <a:rPr lang="en-US" altLang="en-US"/>
              <a:t>Provides members of the organization with detailed information and hands-on instruction to prepare them to perform their duties securely</a:t>
            </a:r>
          </a:p>
          <a:p>
            <a:r>
              <a:rPr lang="en-US" altLang="en-US"/>
              <a:t>Management of information security can develop customized in-house training or outsource the training program.</a:t>
            </a:r>
          </a:p>
          <a:p>
            <a:r>
              <a:rPr lang="en-US" altLang="en-US"/>
              <a:t>Alternatives to formal training include conferences and programs offered through professional organizations.</a:t>
            </a:r>
          </a:p>
        </p:txBody>
      </p:sp>
      <p:sp>
        <p:nvSpPr>
          <p:cNvPr id="74756" name="Footer Placeholder 4">
            <a:extLst>
              <a:ext uri="{FF2B5EF4-FFF2-40B4-BE49-F238E27FC236}">
                <a16:creationId xmlns="" xmlns:a16="http://schemas.microsoft.com/office/drawing/2014/main" id="{90964C57-9924-63F7-BA32-9218DFC3F39E}"/>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4757" name="Slide Number Placeholder 5">
            <a:extLst>
              <a:ext uri="{FF2B5EF4-FFF2-40B4-BE49-F238E27FC236}">
                <a16:creationId xmlns="" xmlns:a16="http://schemas.microsoft.com/office/drawing/2014/main" id="{041E6913-73AB-9BB3-E297-7761A35210B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0A28F878-6EED-4305-964C-50860480656B}" type="slidenum">
              <a:rPr lang="en-US" altLang="en-US" sz="1400"/>
              <a:pPr>
                <a:spcBef>
                  <a:spcPct val="0"/>
                </a:spcBef>
                <a:buFontTx/>
                <a:buNone/>
              </a:pPr>
              <a:t>35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6802" name="Rectangle 4">
            <a:extLst>
              <a:ext uri="{FF2B5EF4-FFF2-40B4-BE49-F238E27FC236}">
                <a16:creationId xmlns="" xmlns:a16="http://schemas.microsoft.com/office/drawing/2014/main" id="{170BACA0-53F3-3F8F-ED3E-4C0550B114EE}"/>
              </a:ext>
            </a:extLst>
          </p:cNvPr>
          <p:cNvSpPr>
            <a:spLocks noGrp="1" noChangeArrowheads="1"/>
          </p:cNvSpPr>
          <p:nvPr>
            <p:ph type="title"/>
          </p:nvPr>
        </p:nvSpPr>
        <p:spPr/>
        <p:txBody>
          <a:bodyPr/>
          <a:lstStyle/>
          <a:p>
            <a:r>
              <a:rPr lang="en-US" altLang="en-US"/>
              <a:t>Security Awareness</a:t>
            </a:r>
          </a:p>
        </p:txBody>
      </p:sp>
      <p:sp>
        <p:nvSpPr>
          <p:cNvPr id="76803" name="Rectangle 5">
            <a:extLst>
              <a:ext uri="{FF2B5EF4-FFF2-40B4-BE49-F238E27FC236}">
                <a16:creationId xmlns="" xmlns:a16="http://schemas.microsoft.com/office/drawing/2014/main" id="{6D105484-3D22-3B1B-4C34-170BB6E2CBA2}"/>
              </a:ext>
            </a:extLst>
          </p:cNvPr>
          <p:cNvSpPr>
            <a:spLocks noGrp="1" noChangeArrowheads="1"/>
          </p:cNvSpPr>
          <p:nvPr>
            <p:ph idx="1"/>
          </p:nvPr>
        </p:nvSpPr>
        <p:spPr/>
        <p:txBody>
          <a:bodyPr/>
          <a:lstStyle/>
          <a:p>
            <a:r>
              <a:rPr lang="en-US" altLang="en-US"/>
              <a:t>One of the least frequently implemented but most beneficial programs is the security awareness program.</a:t>
            </a:r>
          </a:p>
          <a:p>
            <a:r>
              <a:rPr lang="en-US" altLang="en-US"/>
              <a:t>Designed to keep information security at the forefront of users’ minds </a:t>
            </a:r>
          </a:p>
          <a:p>
            <a:r>
              <a:rPr lang="en-US" altLang="en-US"/>
              <a:t>Need not be complicated or expensive</a:t>
            </a:r>
          </a:p>
          <a:p>
            <a:r>
              <a:rPr lang="en-US" altLang="en-US"/>
              <a:t>If the program is not actively implemented, employees may begin to neglect security matters, and risk of employee accidents and failures are likely to increase.</a:t>
            </a:r>
          </a:p>
        </p:txBody>
      </p:sp>
      <p:sp>
        <p:nvSpPr>
          <p:cNvPr id="76804" name="Footer Placeholder 4">
            <a:extLst>
              <a:ext uri="{FF2B5EF4-FFF2-40B4-BE49-F238E27FC236}">
                <a16:creationId xmlns="" xmlns:a16="http://schemas.microsoft.com/office/drawing/2014/main" id="{AAE8A2DF-09E1-B4F5-D3DA-F247BD60F6B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6805" name="Slide Number Placeholder 5">
            <a:extLst>
              <a:ext uri="{FF2B5EF4-FFF2-40B4-BE49-F238E27FC236}">
                <a16:creationId xmlns="" xmlns:a16="http://schemas.microsoft.com/office/drawing/2014/main" id="{076CFFA2-10DD-D34D-A4A3-AB434DD1764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41D887C1-B702-49A2-906C-1AB58C46B390}" type="slidenum">
              <a:rPr lang="en-US" altLang="en-US" sz="1400"/>
              <a:pPr>
                <a:spcBef>
                  <a:spcPct val="0"/>
                </a:spcBef>
                <a:buFontTx/>
                <a:buNone/>
              </a:pPr>
              <a:t>36</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8850" name="Footer Placeholder 3">
            <a:extLst>
              <a:ext uri="{FF2B5EF4-FFF2-40B4-BE49-F238E27FC236}">
                <a16:creationId xmlns="" xmlns:a16="http://schemas.microsoft.com/office/drawing/2014/main" id="{E48C0ADE-AC67-895E-5324-F179F3EE820C}"/>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8851" name="Slide Number Placeholder 4">
            <a:extLst>
              <a:ext uri="{FF2B5EF4-FFF2-40B4-BE49-F238E27FC236}">
                <a16:creationId xmlns="" xmlns:a16="http://schemas.microsoft.com/office/drawing/2014/main" id="{F7245C89-8892-DBAF-1119-6A4ACF95897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69A6591-E9E3-40C4-BF7F-CEA49264B467}" type="slidenum">
              <a:rPr lang="en-US" altLang="en-US" sz="1400"/>
              <a:pPr>
                <a:spcBef>
                  <a:spcPct val="0"/>
                </a:spcBef>
                <a:buFontTx/>
                <a:buNone/>
              </a:pPr>
              <a:t>37</a:t>
            </a:fld>
            <a:endParaRPr lang="en-US" altLang="en-US" sz="1400"/>
          </a:p>
        </p:txBody>
      </p:sp>
      <p:pic>
        <p:nvPicPr>
          <p:cNvPr id="78852" name="Picture 8" descr="ch04_slide37">
            <a:extLst>
              <a:ext uri="{FF2B5EF4-FFF2-40B4-BE49-F238E27FC236}">
                <a16:creationId xmlns="" xmlns:a16="http://schemas.microsoft.com/office/drawing/2014/main" id="{99F51AF7-3315-F9EA-6535-F8B34C12A2B8}"/>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727200" y="1219200"/>
            <a:ext cx="8731250" cy="4419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79874" name="Rectangle 4">
            <a:extLst>
              <a:ext uri="{FF2B5EF4-FFF2-40B4-BE49-F238E27FC236}">
                <a16:creationId xmlns="" xmlns:a16="http://schemas.microsoft.com/office/drawing/2014/main" id="{5166ED8E-209C-7EA9-219A-8D8C0321C5F0}"/>
              </a:ext>
            </a:extLst>
          </p:cNvPr>
          <p:cNvSpPr>
            <a:spLocks noGrp="1" noChangeArrowheads="1"/>
          </p:cNvSpPr>
          <p:nvPr>
            <p:ph type="title"/>
          </p:nvPr>
        </p:nvSpPr>
        <p:spPr/>
        <p:txBody>
          <a:bodyPr/>
          <a:lstStyle/>
          <a:p>
            <a:r>
              <a:rPr lang="en-US" altLang="en-US"/>
              <a:t>Continuity Strategies</a:t>
            </a:r>
          </a:p>
        </p:txBody>
      </p:sp>
      <p:sp>
        <p:nvSpPr>
          <p:cNvPr id="79875" name="Rectangle 5">
            <a:extLst>
              <a:ext uri="{FF2B5EF4-FFF2-40B4-BE49-F238E27FC236}">
                <a16:creationId xmlns="" xmlns:a16="http://schemas.microsoft.com/office/drawing/2014/main" id="{53783B3B-F8E9-AE84-A6FF-25CCE209E42B}"/>
              </a:ext>
            </a:extLst>
          </p:cNvPr>
          <p:cNvSpPr>
            <a:spLocks noGrp="1" noChangeArrowheads="1"/>
          </p:cNvSpPr>
          <p:nvPr>
            <p:ph idx="1"/>
          </p:nvPr>
        </p:nvSpPr>
        <p:spPr>
          <a:xfrm>
            <a:off x="1968500" y="1600200"/>
            <a:ext cx="8636000" cy="4572000"/>
          </a:xfrm>
        </p:spPr>
        <p:txBody>
          <a:bodyPr/>
          <a:lstStyle/>
          <a:p>
            <a:r>
              <a:rPr lang="en-US" altLang="en-US"/>
              <a:t>Incident response plans (IRPs); disaster recovery plans (DRPs); business continuity plans (BCPs)</a:t>
            </a:r>
          </a:p>
          <a:p>
            <a:r>
              <a:rPr lang="en-US" altLang="en-US"/>
              <a:t>Primary functions of above plans: </a:t>
            </a:r>
          </a:p>
          <a:p>
            <a:pPr lvl="1"/>
            <a:r>
              <a:rPr lang="en-US" altLang="en-US"/>
              <a:t>IRP focuses on immediate response; if attack escalates or is disastrous, process changes to disaster recovery and BCP.</a:t>
            </a:r>
          </a:p>
          <a:p>
            <a:pPr lvl="1"/>
            <a:r>
              <a:rPr lang="en-US" altLang="en-US"/>
              <a:t>DRP typically focuses on restoring systems after disasters occur; as such, it is closely associated with BCP.</a:t>
            </a:r>
          </a:p>
          <a:p>
            <a:pPr lvl="1"/>
            <a:r>
              <a:rPr lang="en-US" altLang="en-US"/>
              <a:t>BCP occurs concurrently with DRP when damage is major or ongoing, requiring more than simple restoration of information and information resources.</a:t>
            </a:r>
          </a:p>
        </p:txBody>
      </p:sp>
      <p:sp>
        <p:nvSpPr>
          <p:cNvPr id="79876" name="Footer Placeholder 4">
            <a:extLst>
              <a:ext uri="{FF2B5EF4-FFF2-40B4-BE49-F238E27FC236}">
                <a16:creationId xmlns="" xmlns:a16="http://schemas.microsoft.com/office/drawing/2014/main" id="{563212FB-DFDC-BE35-1816-6973DB84EA6B}"/>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79877" name="Slide Number Placeholder 5">
            <a:extLst>
              <a:ext uri="{FF2B5EF4-FFF2-40B4-BE49-F238E27FC236}">
                <a16:creationId xmlns="" xmlns:a16="http://schemas.microsoft.com/office/drawing/2014/main" id="{5A1BE41D-8897-AD39-D2A2-66BCCE5CE3A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11E4F870-0002-4845-97BC-0408182E6FE3}" type="slidenum">
              <a:rPr lang="en-US" altLang="en-US" sz="1400"/>
              <a:pPr>
                <a:spcBef>
                  <a:spcPct val="0"/>
                </a:spcBef>
                <a:buFontTx/>
                <a:buNone/>
              </a:pPr>
              <a:t>38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1922" name="Footer Placeholder 4">
            <a:extLst>
              <a:ext uri="{FF2B5EF4-FFF2-40B4-BE49-F238E27FC236}">
                <a16:creationId xmlns="" xmlns:a16="http://schemas.microsoft.com/office/drawing/2014/main" id="{ACB802A9-8595-AF18-4584-2CFC65A4D67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81923" name="Slide Number Placeholder 5">
            <a:extLst>
              <a:ext uri="{FF2B5EF4-FFF2-40B4-BE49-F238E27FC236}">
                <a16:creationId xmlns="" xmlns:a16="http://schemas.microsoft.com/office/drawing/2014/main" id="{A730890D-1F3B-1504-4D21-69F7D27C5FB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3BA4702A-C8DA-4F3F-90EF-F8E059ED974A}" type="slidenum">
              <a:rPr lang="en-US" altLang="en-US" sz="1400"/>
              <a:pPr>
                <a:spcBef>
                  <a:spcPct val="0"/>
                </a:spcBef>
                <a:buFontTx/>
                <a:buNone/>
              </a:pPr>
              <a:t>39</a:t>
            </a:fld>
            <a:endParaRPr lang="en-US" altLang="en-US" sz="1400"/>
          </a:p>
        </p:txBody>
      </p:sp>
      <p:pic>
        <p:nvPicPr>
          <p:cNvPr id="81924" name="Picture 2">
            <a:extLst>
              <a:ext uri="{FF2B5EF4-FFF2-40B4-BE49-F238E27FC236}">
                <a16:creationId xmlns="" xmlns:a16="http://schemas.microsoft.com/office/drawing/2014/main" id="{E774F9FF-EFF9-877B-37ED-AE6F4ADEBA68}"/>
              </a:ext>
            </a:extLst>
          </p:cNvPr>
          <p:cNvPicPr>
            <a:picLocks noChangeAspect="1"/>
          </p:cNvPicPr>
          <p:nvPr/>
        </p:nvPicPr>
        <p:blipFill>
          <a:blip r:embed="rId5">
            <a:extLst>
              <a:ext uri="{28A0092B-C50C-407E-A947-70E740481C1C}">
                <a14:useLocalDpi xmlns="" xmlns:a14="http://schemas.microsoft.com/office/drawing/2010/main" val="0"/>
              </a:ext>
            </a:extLst>
          </a:blip>
          <a:srcRect/>
          <a:stretch>
            <a:fillRect/>
          </a:stretch>
        </p:blipFill>
        <p:spPr bwMode="auto">
          <a:xfrm>
            <a:off x="2201864" y="762000"/>
            <a:ext cx="7704137" cy="5276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3970" name="Rectangle 4">
            <a:extLst>
              <a:ext uri="{FF2B5EF4-FFF2-40B4-BE49-F238E27FC236}">
                <a16:creationId xmlns="" xmlns:a16="http://schemas.microsoft.com/office/drawing/2014/main" id="{A6438E9A-5584-7976-6FB3-AE40F0CE1CE2}"/>
              </a:ext>
            </a:extLst>
          </p:cNvPr>
          <p:cNvSpPr>
            <a:spLocks noGrp="1" noChangeArrowheads="1"/>
          </p:cNvSpPr>
          <p:nvPr>
            <p:ph type="title"/>
          </p:nvPr>
        </p:nvSpPr>
        <p:spPr/>
        <p:txBody>
          <a:bodyPr/>
          <a:lstStyle/>
          <a:p>
            <a:r>
              <a:rPr lang="en-US" altLang="en-US"/>
              <a:t>Continuity Strategies (cont’d)</a:t>
            </a:r>
          </a:p>
        </p:txBody>
      </p:sp>
      <p:sp>
        <p:nvSpPr>
          <p:cNvPr id="83971" name="Rectangle 5">
            <a:extLst>
              <a:ext uri="{FF2B5EF4-FFF2-40B4-BE49-F238E27FC236}">
                <a16:creationId xmlns="" xmlns:a16="http://schemas.microsoft.com/office/drawing/2014/main" id="{437834CA-61A9-8EC3-6112-EF1E67167EE1}"/>
              </a:ext>
            </a:extLst>
          </p:cNvPr>
          <p:cNvSpPr>
            <a:spLocks noGrp="1" noChangeArrowheads="1"/>
          </p:cNvSpPr>
          <p:nvPr>
            <p:ph idx="1"/>
          </p:nvPr>
        </p:nvSpPr>
        <p:spPr>
          <a:xfrm>
            <a:off x="2057400" y="1600200"/>
            <a:ext cx="8077200" cy="4572000"/>
          </a:xfrm>
        </p:spPr>
        <p:txBody>
          <a:bodyPr>
            <a:normAutofit lnSpcReduction="10000"/>
          </a:bodyPr>
          <a:lstStyle/>
          <a:p>
            <a:r>
              <a:rPr lang="en-US" altLang="en-US"/>
              <a:t>Before planning can actually begin, a team has to start the process.</a:t>
            </a:r>
          </a:p>
          <a:p>
            <a:r>
              <a:rPr lang="en-US" altLang="en-US"/>
              <a:t>Champion: high-level manager to support, promote, and endorse findings of the project</a:t>
            </a:r>
          </a:p>
          <a:p>
            <a:r>
              <a:rPr lang="en-US" altLang="en-US"/>
              <a:t>Project manager: leads project and ensures sound project planning process is used, a complete and useful project plan is developed, and project resources are prudently managed</a:t>
            </a:r>
          </a:p>
          <a:p>
            <a:r>
              <a:rPr lang="en-US" altLang="en-US"/>
              <a:t>Team members: should be managers, or their representatives, from various communities of interest: business, IT, and information security</a:t>
            </a:r>
          </a:p>
        </p:txBody>
      </p:sp>
      <p:sp>
        <p:nvSpPr>
          <p:cNvPr id="83972" name="Footer Placeholder 4">
            <a:extLst>
              <a:ext uri="{FF2B5EF4-FFF2-40B4-BE49-F238E27FC236}">
                <a16:creationId xmlns="" xmlns:a16="http://schemas.microsoft.com/office/drawing/2014/main" id="{BE1BF50F-E9F5-A8B9-541A-F93247FA08EE}"/>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83973" name="Slide Number Placeholder 5">
            <a:extLst>
              <a:ext uri="{FF2B5EF4-FFF2-40B4-BE49-F238E27FC236}">
                <a16:creationId xmlns="" xmlns:a16="http://schemas.microsoft.com/office/drawing/2014/main" id="{44A64763-C1E6-922B-1D24-31DF2B6A9D18}"/>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073D6A39-659E-4616-917C-93C6F98B5721}" type="slidenum">
              <a:rPr lang="en-US" altLang="en-US" sz="1400"/>
              <a:pPr>
                <a:spcBef>
                  <a:spcPct val="0"/>
                </a:spcBef>
                <a:buFontTx/>
                <a:buNone/>
              </a:pPr>
              <a:t>40</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6018" name="Footer Placeholder 4">
            <a:extLst>
              <a:ext uri="{FF2B5EF4-FFF2-40B4-BE49-F238E27FC236}">
                <a16:creationId xmlns="" xmlns:a16="http://schemas.microsoft.com/office/drawing/2014/main" id="{36FE940B-51F5-F392-8384-BBAA35BF7F8C}"/>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86019" name="Slide Number Placeholder 5">
            <a:extLst>
              <a:ext uri="{FF2B5EF4-FFF2-40B4-BE49-F238E27FC236}">
                <a16:creationId xmlns="" xmlns:a16="http://schemas.microsoft.com/office/drawing/2014/main" id="{BBAA85B3-EE34-22E8-70B2-BC3CC6DB1E9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78BD1E2-A6A5-4690-A28E-D5EC496A3EAE}" type="slidenum">
              <a:rPr lang="en-US" altLang="en-US" sz="1400"/>
              <a:pPr>
                <a:spcBef>
                  <a:spcPct val="0"/>
                </a:spcBef>
                <a:buFontTx/>
                <a:buNone/>
              </a:pPr>
              <a:t>41</a:t>
            </a:fld>
            <a:endParaRPr lang="en-US" altLang="en-US" sz="1400"/>
          </a:p>
        </p:txBody>
      </p:sp>
      <p:pic>
        <p:nvPicPr>
          <p:cNvPr id="86020" name="Picture 2">
            <a:extLst>
              <a:ext uri="{FF2B5EF4-FFF2-40B4-BE49-F238E27FC236}">
                <a16:creationId xmlns="" xmlns:a16="http://schemas.microsoft.com/office/drawing/2014/main" id="{8A742EEB-CC19-4589-7A05-7A143EF71D71}"/>
              </a:ext>
            </a:extLst>
          </p:cNvPr>
          <p:cNvPicPr>
            <a:picLocks noChangeAspect="1"/>
          </p:cNvPicPr>
          <p:nvPr/>
        </p:nvPicPr>
        <p:blipFill>
          <a:blip r:embed="rId5">
            <a:extLst>
              <a:ext uri="{28A0092B-C50C-407E-A947-70E740481C1C}">
                <a14:useLocalDpi xmlns="" xmlns:a14="http://schemas.microsoft.com/office/drawing/2010/main" val="0"/>
              </a:ext>
            </a:extLst>
          </a:blip>
          <a:srcRect/>
          <a:stretch>
            <a:fillRect/>
          </a:stretch>
        </p:blipFill>
        <p:spPr bwMode="auto">
          <a:xfrm>
            <a:off x="1828800" y="533400"/>
            <a:ext cx="8534400" cy="5791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88066" name="Title 1">
            <a:extLst>
              <a:ext uri="{FF2B5EF4-FFF2-40B4-BE49-F238E27FC236}">
                <a16:creationId xmlns="" xmlns:a16="http://schemas.microsoft.com/office/drawing/2014/main" id="{4D2CA849-570E-19B5-D53A-EF360DC0BC92}"/>
              </a:ext>
            </a:extLst>
          </p:cNvPr>
          <p:cNvSpPr>
            <a:spLocks noGrp="1" noChangeArrowheads="1"/>
          </p:cNvSpPr>
          <p:nvPr>
            <p:ph type="title"/>
          </p:nvPr>
        </p:nvSpPr>
        <p:spPr/>
        <p:txBody>
          <a:bodyPr/>
          <a:lstStyle/>
          <a:p>
            <a:r>
              <a:rPr lang="en-US" altLang="en-US"/>
              <a:t>Contingency Planning (CP) Process</a:t>
            </a:r>
          </a:p>
        </p:txBody>
      </p:sp>
      <p:sp>
        <p:nvSpPr>
          <p:cNvPr id="88067" name="Content Placeholder 2">
            <a:extLst>
              <a:ext uri="{FF2B5EF4-FFF2-40B4-BE49-F238E27FC236}">
                <a16:creationId xmlns="" xmlns:a16="http://schemas.microsoft.com/office/drawing/2014/main" id="{451C3AF1-13DD-AEB4-4C79-7776174207AF}"/>
              </a:ext>
            </a:extLst>
          </p:cNvPr>
          <p:cNvSpPr>
            <a:spLocks noGrp="1" noChangeArrowheads="1"/>
          </p:cNvSpPr>
          <p:nvPr>
            <p:ph idx="1"/>
          </p:nvPr>
        </p:nvSpPr>
        <p:spPr/>
        <p:txBody>
          <a:bodyPr/>
          <a:lstStyle/>
          <a:p>
            <a:r>
              <a:rPr lang="en-US" altLang="en-US"/>
              <a:t>Includes the following steps:</a:t>
            </a:r>
          </a:p>
          <a:p>
            <a:pPr lvl="1"/>
            <a:r>
              <a:rPr lang="en-US" altLang="en-US"/>
              <a:t>Develop CP policy statement</a:t>
            </a:r>
          </a:p>
          <a:p>
            <a:pPr lvl="1"/>
            <a:r>
              <a:rPr lang="en-US" altLang="en-US"/>
              <a:t>Conduct business impact analysis</a:t>
            </a:r>
          </a:p>
          <a:p>
            <a:pPr lvl="1"/>
            <a:r>
              <a:rPr lang="en-US" altLang="en-US"/>
              <a:t>Identify preventive controls </a:t>
            </a:r>
          </a:p>
          <a:p>
            <a:pPr lvl="1"/>
            <a:r>
              <a:rPr lang="en-US" altLang="en-US"/>
              <a:t>Create contingency strategies</a:t>
            </a:r>
          </a:p>
          <a:p>
            <a:pPr lvl="1"/>
            <a:r>
              <a:rPr lang="en-US" altLang="en-US"/>
              <a:t>Develop contingency plan</a:t>
            </a:r>
          </a:p>
          <a:p>
            <a:pPr lvl="1"/>
            <a:r>
              <a:rPr lang="en-US" altLang="en-US"/>
              <a:t>Ensure plan testing, training, and exercises</a:t>
            </a:r>
          </a:p>
          <a:p>
            <a:pPr lvl="1"/>
            <a:r>
              <a:rPr lang="en-US" altLang="en-US"/>
              <a:t>Ensure plan maintenance</a:t>
            </a:r>
          </a:p>
        </p:txBody>
      </p:sp>
      <p:sp>
        <p:nvSpPr>
          <p:cNvPr id="88068" name="Footer Placeholder 3">
            <a:extLst>
              <a:ext uri="{FF2B5EF4-FFF2-40B4-BE49-F238E27FC236}">
                <a16:creationId xmlns="" xmlns:a16="http://schemas.microsoft.com/office/drawing/2014/main" id="{FF218A5C-E16C-2472-EF3F-C2BE9A0D02F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88069" name="Slide Number Placeholder 4">
            <a:extLst>
              <a:ext uri="{FF2B5EF4-FFF2-40B4-BE49-F238E27FC236}">
                <a16:creationId xmlns="" xmlns:a16="http://schemas.microsoft.com/office/drawing/2014/main" id="{69EF15FD-346B-2A72-B8F9-1FB28FA9D8A0}"/>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B906453-E949-4087-91EE-5392DD02119A}" type="slidenum">
              <a:rPr lang="en-US" altLang="en-US" sz="1400"/>
              <a:pPr>
                <a:spcBef>
                  <a:spcPct val="0"/>
                </a:spcBef>
                <a:buFontTx/>
                <a:buNone/>
              </a:pPr>
              <a:t>42</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0114" name="Footer Placeholder 3">
            <a:extLst>
              <a:ext uri="{FF2B5EF4-FFF2-40B4-BE49-F238E27FC236}">
                <a16:creationId xmlns="" xmlns:a16="http://schemas.microsoft.com/office/drawing/2014/main" id="{FF7901B9-75BE-AA6A-004C-98DEBF9A6A85}"/>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0115" name="Slide Number Placeholder 4">
            <a:extLst>
              <a:ext uri="{FF2B5EF4-FFF2-40B4-BE49-F238E27FC236}">
                <a16:creationId xmlns="" xmlns:a16="http://schemas.microsoft.com/office/drawing/2014/main" id="{78E9495B-6B30-6D65-0DAB-38A4EBB3DBF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0A77ED6-FF22-431E-A11E-F73BFC42C833}" type="slidenum">
              <a:rPr lang="en-US" altLang="en-US" sz="1400"/>
              <a:pPr>
                <a:spcBef>
                  <a:spcPct val="0"/>
                </a:spcBef>
                <a:buFontTx/>
                <a:buNone/>
              </a:pPr>
              <a:t>43</a:t>
            </a:fld>
            <a:endParaRPr lang="en-US" altLang="en-US" sz="1400"/>
          </a:p>
        </p:txBody>
      </p:sp>
      <p:pic>
        <p:nvPicPr>
          <p:cNvPr id="90116" name="Picture 8" descr="ch04_slide43">
            <a:extLst>
              <a:ext uri="{FF2B5EF4-FFF2-40B4-BE49-F238E27FC236}">
                <a16:creationId xmlns="" xmlns:a16="http://schemas.microsoft.com/office/drawing/2014/main" id="{3DDAE04D-9CC1-5EA4-9709-4E19FFB4FBD2}"/>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752601" y="228601"/>
            <a:ext cx="8778875" cy="5788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91138" name="Title 1">
            <a:extLst>
              <a:ext uri="{FF2B5EF4-FFF2-40B4-BE49-F238E27FC236}">
                <a16:creationId xmlns="" xmlns:a16="http://schemas.microsoft.com/office/drawing/2014/main" id="{DD2600D1-9A5D-20D9-09AC-E5433C88C430}"/>
              </a:ext>
            </a:extLst>
          </p:cNvPr>
          <p:cNvSpPr>
            <a:spLocks noGrp="1" noChangeArrowheads="1"/>
          </p:cNvSpPr>
          <p:nvPr>
            <p:ph type="title"/>
          </p:nvPr>
        </p:nvSpPr>
        <p:spPr/>
        <p:txBody>
          <a:bodyPr/>
          <a:lstStyle/>
          <a:p>
            <a:r>
              <a:rPr lang="en-US" altLang="en-US"/>
              <a:t>CP Policy</a:t>
            </a:r>
          </a:p>
        </p:txBody>
      </p:sp>
      <p:sp>
        <p:nvSpPr>
          <p:cNvPr id="91139" name="Content Placeholder 2">
            <a:extLst>
              <a:ext uri="{FF2B5EF4-FFF2-40B4-BE49-F238E27FC236}">
                <a16:creationId xmlns="" xmlns:a16="http://schemas.microsoft.com/office/drawing/2014/main" id="{A951E84A-3DE3-D120-1CE3-43A18E9D411D}"/>
              </a:ext>
            </a:extLst>
          </p:cNvPr>
          <p:cNvSpPr>
            <a:spLocks noGrp="1" noChangeArrowheads="1"/>
          </p:cNvSpPr>
          <p:nvPr>
            <p:ph idx="1"/>
          </p:nvPr>
        </p:nvSpPr>
        <p:spPr/>
        <p:txBody>
          <a:bodyPr/>
          <a:lstStyle/>
          <a:p>
            <a:r>
              <a:rPr lang="en-US" altLang="en-US" sz="2400"/>
              <a:t>Should contain the following sections:</a:t>
            </a:r>
          </a:p>
          <a:p>
            <a:pPr lvl="1"/>
            <a:r>
              <a:rPr lang="en-US" altLang="en-US" sz="2000"/>
              <a:t>Introductory statement of philosophical perspective</a:t>
            </a:r>
          </a:p>
          <a:p>
            <a:pPr lvl="1"/>
            <a:r>
              <a:rPr lang="en-US" altLang="en-US" sz="2000"/>
              <a:t>Statement of scope/purpose</a:t>
            </a:r>
          </a:p>
          <a:p>
            <a:pPr lvl="1"/>
            <a:r>
              <a:rPr lang="en-US" altLang="en-US" sz="2000"/>
              <a:t>Call for periodic risk assessment/BIA</a:t>
            </a:r>
          </a:p>
          <a:p>
            <a:pPr lvl="1"/>
            <a:r>
              <a:rPr lang="en-US" altLang="en-US" sz="2000"/>
              <a:t>Specification of CP’s major components</a:t>
            </a:r>
          </a:p>
          <a:p>
            <a:pPr lvl="1"/>
            <a:r>
              <a:rPr lang="en-US" altLang="en-US" sz="2000"/>
              <a:t>Call for/guidance in the selection of recovery options</a:t>
            </a:r>
          </a:p>
          <a:p>
            <a:pPr lvl="1"/>
            <a:r>
              <a:rPr lang="en-US" altLang="en-US" sz="2000"/>
              <a:t>Requirement to test the various plans regularly</a:t>
            </a:r>
          </a:p>
          <a:p>
            <a:pPr lvl="1"/>
            <a:r>
              <a:rPr lang="en-US" altLang="en-US" sz="2000"/>
              <a:t>Identification of key regulations and standards</a:t>
            </a:r>
          </a:p>
          <a:p>
            <a:pPr lvl="1"/>
            <a:r>
              <a:rPr lang="en-US" altLang="en-US" sz="2000"/>
              <a:t>Identification of key people responsible for CP operations</a:t>
            </a:r>
          </a:p>
          <a:p>
            <a:pPr lvl="1"/>
            <a:r>
              <a:rPr lang="en-US" altLang="en-US" sz="2000"/>
              <a:t>Challenge to the organization members for support</a:t>
            </a:r>
          </a:p>
          <a:p>
            <a:pPr lvl="1"/>
            <a:r>
              <a:rPr lang="en-US" altLang="en-US" sz="2000"/>
              <a:t>Administrative information</a:t>
            </a:r>
          </a:p>
        </p:txBody>
      </p:sp>
      <p:sp>
        <p:nvSpPr>
          <p:cNvPr id="91140" name="Footer Placeholder 3">
            <a:extLst>
              <a:ext uri="{FF2B5EF4-FFF2-40B4-BE49-F238E27FC236}">
                <a16:creationId xmlns="" xmlns:a16="http://schemas.microsoft.com/office/drawing/2014/main" id="{20D00745-76E8-56B0-A611-DE41BD0A3651}"/>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1141" name="Slide Number Placeholder 4">
            <a:extLst>
              <a:ext uri="{FF2B5EF4-FFF2-40B4-BE49-F238E27FC236}">
                <a16:creationId xmlns="" xmlns:a16="http://schemas.microsoft.com/office/drawing/2014/main" id="{26937CA2-7AC2-47EB-DE35-5C77137BD6F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FCAFB5C-49CA-4055-8985-B8D7385F7BB6}" type="slidenum">
              <a:rPr lang="en-US" altLang="en-US" sz="1400"/>
              <a:pPr>
                <a:spcBef>
                  <a:spcPct val="0"/>
                </a:spcBef>
                <a:buFontTx/>
                <a:buNone/>
              </a:pPr>
              <a:t>44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93186" name="Rectangle 2">
            <a:extLst>
              <a:ext uri="{FF2B5EF4-FFF2-40B4-BE49-F238E27FC236}">
                <a16:creationId xmlns="" xmlns:a16="http://schemas.microsoft.com/office/drawing/2014/main" id="{EA4AAA39-FFA5-485D-C52F-6E39747E147A}"/>
              </a:ext>
            </a:extLst>
          </p:cNvPr>
          <p:cNvSpPr>
            <a:spLocks noGrp="1" noChangeArrowheads="1"/>
          </p:cNvSpPr>
          <p:nvPr>
            <p:ph type="title"/>
          </p:nvPr>
        </p:nvSpPr>
        <p:spPr/>
        <p:txBody>
          <a:bodyPr/>
          <a:lstStyle/>
          <a:p>
            <a:r>
              <a:rPr lang="en-US" altLang="en-US"/>
              <a:t>Business Impact Analysis (BIA)</a:t>
            </a:r>
          </a:p>
        </p:txBody>
      </p:sp>
      <p:sp>
        <p:nvSpPr>
          <p:cNvPr id="93187" name="Rectangle 3">
            <a:extLst>
              <a:ext uri="{FF2B5EF4-FFF2-40B4-BE49-F238E27FC236}">
                <a16:creationId xmlns="" xmlns:a16="http://schemas.microsoft.com/office/drawing/2014/main" id="{F44666C1-7E41-1088-A1C5-8FE289A116EB}"/>
              </a:ext>
            </a:extLst>
          </p:cNvPr>
          <p:cNvSpPr>
            <a:spLocks noGrp="1" noChangeArrowheads="1"/>
          </p:cNvSpPr>
          <p:nvPr>
            <p:ph idx="1"/>
          </p:nvPr>
        </p:nvSpPr>
        <p:spPr>
          <a:xfrm>
            <a:off x="2057400" y="1600200"/>
            <a:ext cx="8077200" cy="4572000"/>
          </a:xfrm>
        </p:spPr>
        <p:txBody>
          <a:bodyPr/>
          <a:lstStyle/>
          <a:p>
            <a:r>
              <a:rPr lang="en-US" altLang="en-US" sz="2400"/>
              <a:t>Investigation and assessment of various adverse events that can affect organization</a:t>
            </a:r>
          </a:p>
          <a:p>
            <a:r>
              <a:rPr lang="en-US" altLang="en-US" sz="2400"/>
              <a:t>Assumes security controls have been bypassed, have failed, or have proven ineffective, and attack has succeeded</a:t>
            </a:r>
          </a:p>
          <a:p>
            <a:r>
              <a:rPr lang="en-US" altLang="en-US" sz="2400"/>
              <a:t>Organization should consider scope, plan, balance, knowledge of objectives, and follow-ups</a:t>
            </a:r>
          </a:p>
          <a:p>
            <a:r>
              <a:rPr lang="en-US" altLang="en-US" sz="2400"/>
              <a:t>Three stages:</a:t>
            </a:r>
          </a:p>
          <a:p>
            <a:pPr lvl="1"/>
            <a:r>
              <a:rPr lang="en-US" altLang="en-US" sz="2000"/>
              <a:t>Determine mission/business processes and recovery criticality</a:t>
            </a:r>
          </a:p>
          <a:p>
            <a:pPr lvl="1"/>
            <a:r>
              <a:rPr lang="en-US" altLang="en-US" sz="2000"/>
              <a:t>Identify recovery priorities for system resources</a:t>
            </a:r>
          </a:p>
          <a:p>
            <a:pPr lvl="1"/>
            <a:r>
              <a:rPr lang="en-US" altLang="en-US" sz="2000"/>
              <a:t>Identify resource requirements</a:t>
            </a:r>
          </a:p>
        </p:txBody>
      </p:sp>
      <p:sp>
        <p:nvSpPr>
          <p:cNvPr id="93188" name="Footer Placeholder 4">
            <a:extLst>
              <a:ext uri="{FF2B5EF4-FFF2-40B4-BE49-F238E27FC236}">
                <a16:creationId xmlns="" xmlns:a16="http://schemas.microsoft.com/office/drawing/2014/main" id="{4C61A670-E7E4-2010-E472-1EF5BD2F9758}"/>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3189" name="Slide Number Placeholder 5">
            <a:extLst>
              <a:ext uri="{FF2B5EF4-FFF2-40B4-BE49-F238E27FC236}">
                <a16:creationId xmlns="" xmlns:a16="http://schemas.microsoft.com/office/drawing/2014/main" id="{53FA133B-B6F7-B768-28B9-74552BE3745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73DB1DA3-7695-43C2-AACF-6114182C1976}" type="slidenum">
              <a:rPr lang="en-US" altLang="en-US" sz="1400"/>
              <a:pPr>
                <a:spcBef>
                  <a:spcPct val="0"/>
                </a:spcBef>
                <a:buFontTx/>
                <a:buNone/>
              </a:pPr>
              <a:t>45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95234" name="Footer Placeholder 3">
            <a:extLst>
              <a:ext uri="{FF2B5EF4-FFF2-40B4-BE49-F238E27FC236}">
                <a16:creationId xmlns="" xmlns:a16="http://schemas.microsoft.com/office/drawing/2014/main" id="{5CD50BC0-7CF1-01D8-3063-66026994514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5235" name="Slide Number Placeholder 4">
            <a:extLst>
              <a:ext uri="{FF2B5EF4-FFF2-40B4-BE49-F238E27FC236}">
                <a16:creationId xmlns="" xmlns:a16="http://schemas.microsoft.com/office/drawing/2014/main" id="{93C5EE4F-2DA2-E73F-7E82-CB873CAAAB74}"/>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3D1A0D2-E5A0-4D38-B0A3-AA4B569B3B68}" type="slidenum">
              <a:rPr lang="en-US" altLang="en-US" sz="1400"/>
              <a:pPr>
                <a:spcBef>
                  <a:spcPct val="0"/>
                </a:spcBef>
                <a:buFontTx/>
                <a:buNone/>
              </a:pPr>
              <a:t>46</a:t>
            </a:fld>
            <a:endParaRPr lang="en-US" altLang="en-US" sz="1400"/>
          </a:p>
        </p:txBody>
      </p:sp>
      <p:pic>
        <p:nvPicPr>
          <p:cNvPr id="95236" name="Picture 6">
            <a:extLst>
              <a:ext uri="{FF2B5EF4-FFF2-40B4-BE49-F238E27FC236}">
                <a16:creationId xmlns="" xmlns:a16="http://schemas.microsoft.com/office/drawing/2014/main" id="{239F1166-966E-D4C5-A8C4-BD9EAAC31E70}"/>
              </a:ext>
            </a:extLst>
          </p:cNvPr>
          <p:cNvPicPr>
            <a:picLocks noChangeAspect="1"/>
          </p:cNvPicPr>
          <p:nvPr/>
        </p:nvPicPr>
        <p:blipFill>
          <a:blip r:embed="rId4">
            <a:extLst>
              <a:ext uri="{28A0092B-C50C-407E-A947-70E740481C1C}">
                <a14:useLocalDpi xmlns="" xmlns:a14="http://schemas.microsoft.com/office/drawing/2010/main" val="0"/>
              </a:ext>
            </a:extLst>
          </a:blip>
          <a:srcRect/>
          <a:stretch>
            <a:fillRect/>
          </a:stretch>
        </p:blipFill>
        <p:spPr bwMode="auto">
          <a:xfrm>
            <a:off x="1849438" y="609600"/>
            <a:ext cx="8589962" cy="54117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96258" name="Rectangle 4">
            <a:extLst>
              <a:ext uri="{FF2B5EF4-FFF2-40B4-BE49-F238E27FC236}">
                <a16:creationId xmlns="" xmlns:a16="http://schemas.microsoft.com/office/drawing/2014/main" id="{E980B0D1-EDF7-EB44-61B6-8C978CDF13DD}"/>
              </a:ext>
            </a:extLst>
          </p:cNvPr>
          <p:cNvSpPr>
            <a:spLocks noGrp="1" noChangeArrowheads="1"/>
          </p:cNvSpPr>
          <p:nvPr>
            <p:ph type="title"/>
          </p:nvPr>
        </p:nvSpPr>
        <p:spPr/>
        <p:txBody>
          <a:bodyPr/>
          <a:lstStyle/>
          <a:p>
            <a:r>
              <a:rPr lang="en-US" altLang="en-US"/>
              <a:t>Incident Response Planning</a:t>
            </a:r>
          </a:p>
        </p:txBody>
      </p:sp>
      <p:sp>
        <p:nvSpPr>
          <p:cNvPr id="96259" name="Rectangle 5">
            <a:extLst>
              <a:ext uri="{FF2B5EF4-FFF2-40B4-BE49-F238E27FC236}">
                <a16:creationId xmlns="" xmlns:a16="http://schemas.microsoft.com/office/drawing/2014/main" id="{7AC9FD01-C736-98FB-FB57-705FE60B112C}"/>
              </a:ext>
            </a:extLst>
          </p:cNvPr>
          <p:cNvSpPr>
            <a:spLocks noGrp="1" noChangeArrowheads="1"/>
          </p:cNvSpPr>
          <p:nvPr>
            <p:ph idx="1"/>
          </p:nvPr>
        </p:nvSpPr>
        <p:spPr/>
        <p:txBody>
          <a:bodyPr/>
          <a:lstStyle/>
          <a:p>
            <a:r>
              <a:rPr lang="en-US" altLang="en-US"/>
              <a:t>Incident response planning includes identification of, classification of, and response to an incident. </a:t>
            </a:r>
          </a:p>
          <a:p>
            <a:r>
              <a:rPr lang="en-US" altLang="en-US"/>
              <a:t>Attacks classified as incidents if they:</a:t>
            </a:r>
          </a:p>
          <a:p>
            <a:pPr lvl="1"/>
            <a:r>
              <a:rPr lang="en-US" altLang="en-US"/>
              <a:t>Are directed against information assets</a:t>
            </a:r>
          </a:p>
          <a:p>
            <a:pPr lvl="1"/>
            <a:r>
              <a:rPr lang="en-US" altLang="en-US"/>
              <a:t>Have a realistic chance of success</a:t>
            </a:r>
          </a:p>
          <a:p>
            <a:pPr lvl="1"/>
            <a:r>
              <a:rPr lang="en-US" altLang="en-US"/>
              <a:t>Could threaten confidentiality, integrity, or availability of information resources</a:t>
            </a:r>
          </a:p>
          <a:p>
            <a:r>
              <a:rPr lang="en-US" altLang="en-US"/>
              <a:t>Incident response (IR) is more reactive than proactive, with the exception of planning that must occur to prepare IR teams to be ready to react to an incident.</a:t>
            </a:r>
          </a:p>
        </p:txBody>
      </p:sp>
      <p:sp>
        <p:nvSpPr>
          <p:cNvPr id="96260" name="Footer Placeholder 4">
            <a:extLst>
              <a:ext uri="{FF2B5EF4-FFF2-40B4-BE49-F238E27FC236}">
                <a16:creationId xmlns="" xmlns:a16="http://schemas.microsoft.com/office/drawing/2014/main" id="{B0C79E29-092E-810B-85EF-A95C42536C4B}"/>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6261" name="Slide Number Placeholder 5">
            <a:extLst>
              <a:ext uri="{FF2B5EF4-FFF2-40B4-BE49-F238E27FC236}">
                <a16:creationId xmlns="" xmlns:a16="http://schemas.microsoft.com/office/drawing/2014/main" id="{2431C65C-73D4-9581-42DA-E548C27D1BDB}"/>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05FD9EFC-A084-44A0-B334-A27EB291E5CD}" type="slidenum">
              <a:rPr lang="en-US" altLang="en-US" sz="1400"/>
              <a:pPr>
                <a:spcBef>
                  <a:spcPct val="0"/>
                </a:spcBef>
                <a:buFontTx/>
                <a:buNone/>
              </a:pPr>
              <a:t>47</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98306" name="Title 1">
            <a:extLst>
              <a:ext uri="{FF2B5EF4-FFF2-40B4-BE49-F238E27FC236}">
                <a16:creationId xmlns="" xmlns:a16="http://schemas.microsoft.com/office/drawing/2014/main" id="{2D8A1A88-9BAA-54C4-4F3E-AC9567A9759C}"/>
              </a:ext>
            </a:extLst>
          </p:cNvPr>
          <p:cNvSpPr>
            <a:spLocks noGrp="1" noChangeArrowheads="1"/>
          </p:cNvSpPr>
          <p:nvPr>
            <p:ph type="title"/>
          </p:nvPr>
        </p:nvSpPr>
        <p:spPr/>
        <p:txBody>
          <a:bodyPr/>
          <a:lstStyle/>
          <a:p>
            <a:r>
              <a:rPr lang="en-US" altLang="en-US"/>
              <a:t>Incident Response Planning (cont’d)</a:t>
            </a:r>
          </a:p>
        </p:txBody>
      </p:sp>
      <p:sp>
        <p:nvSpPr>
          <p:cNvPr id="98307" name="Content Placeholder 2">
            <a:extLst>
              <a:ext uri="{FF2B5EF4-FFF2-40B4-BE49-F238E27FC236}">
                <a16:creationId xmlns="" xmlns:a16="http://schemas.microsoft.com/office/drawing/2014/main" id="{975493B7-EBD5-CF8A-8C8F-A5E5C25919CF}"/>
              </a:ext>
            </a:extLst>
          </p:cNvPr>
          <p:cNvSpPr>
            <a:spLocks noGrp="1" noChangeArrowheads="1"/>
          </p:cNvSpPr>
          <p:nvPr>
            <p:ph idx="1"/>
          </p:nvPr>
        </p:nvSpPr>
        <p:spPr/>
        <p:txBody>
          <a:bodyPr/>
          <a:lstStyle/>
          <a:p>
            <a:r>
              <a:rPr lang="en-US" altLang="en-US"/>
              <a:t>Incident response policy identifies the following key components:</a:t>
            </a:r>
          </a:p>
          <a:p>
            <a:pPr lvl="1"/>
            <a:r>
              <a:rPr lang="en-US" altLang="en-US"/>
              <a:t>Statement of management commitment </a:t>
            </a:r>
          </a:p>
          <a:p>
            <a:pPr lvl="1"/>
            <a:r>
              <a:rPr lang="en-US" altLang="en-US"/>
              <a:t>Purpose/objectives of policy</a:t>
            </a:r>
          </a:p>
          <a:p>
            <a:pPr lvl="1"/>
            <a:r>
              <a:rPr lang="en-US" altLang="en-US"/>
              <a:t>Scope of policy</a:t>
            </a:r>
          </a:p>
          <a:p>
            <a:pPr lvl="1"/>
            <a:r>
              <a:rPr lang="en-US" altLang="en-US"/>
              <a:t>Definition of InfoSec incidents and related terms</a:t>
            </a:r>
          </a:p>
          <a:p>
            <a:pPr lvl="1"/>
            <a:r>
              <a:rPr lang="en-US" altLang="en-US"/>
              <a:t>Organizational structure</a:t>
            </a:r>
          </a:p>
          <a:p>
            <a:pPr lvl="1"/>
            <a:r>
              <a:rPr lang="en-US" altLang="en-US"/>
              <a:t>Prioritization or severity ratings of incidents</a:t>
            </a:r>
          </a:p>
          <a:p>
            <a:pPr lvl="1"/>
            <a:r>
              <a:rPr lang="en-US" altLang="en-US"/>
              <a:t>Performance measures</a:t>
            </a:r>
          </a:p>
          <a:p>
            <a:pPr lvl="1"/>
            <a:r>
              <a:rPr lang="en-US" altLang="en-US"/>
              <a:t>Reporting and contact forms</a:t>
            </a:r>
          </a:p>
        </p:txBody>
      </p:sp>
      <p:sp>
        <p:nvSpPr>
          <p:cNvPr id="98308" name="Footer Placeholder 3">
            <a:extLst>
              <a:ext uri="{FF2B5EF4-FFF2-40B4-BE49-F238E27FC236}">
                <a16:creationId xmlns="" xmlns:a16="http://schemas.microsoft.com/office/drawing/2014/main" id="{D004720F-E733-95E9-D1CA-F46AA467F84E}"/>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98309" name="Slide Number Placeholder 4">
            <a:extLst>
              <a:ext uri="{FF2B5EF4-FFF2-40B4-BE49-F238E27FC236}">
                <a16:creationId xmlns="" xmlns:a16="http://schemas.microsoft.com/office/drawing/2014/main" id="{EFF4BA91-0D8A-2672-FC7F-654554FC4B2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FCF95BE-CD1E-4DF7-A8DA-961F581E1E9F}" type="slidenum">
              <a:rPr lang="en-US" altLang="en-US" sz="1400"/>
              <a:pPr>
                <a:spcBef>
                  <a:spcPct val="0"/>
                </a:spcBef>
                <a:buFontTx/>
                <a:buNone/>
              </a:pPr>
              <a:t>48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0354" name="Rectangle 4">
            <a:extLst>
              <a:ext uri="{FF2B5EF4-FFF2-40B4-BE49-F238E27FC236}">
                <a16:creationId xmlns="" xmlns:a16="http://schemas.microsoft.com/office/drawing/2014/main" id="{9FB28B5D-C483-5C65-FE96-5B9D841317CA}"/>
              </a:ext>
            </a:extLst>
          </p:cNvPr>
          <p:cNvSpPr>
            <a:spLocks noGrp="1" noChangeArrowheads="1"/>
          </p:cNvSpPr>
          <p:nvPr>
            <p:ph type="title"/>
          </p:nvPr>
        </p:nvSpPr>
        <p:spPr/>
        <p:txBody>
          <a:bodyPr/>
          <a:lstStyle/>
          <a:p>
            <a:r>
              <a:rPr lang="en-US" altLang="en-US"/>
              <a:t>Incident Response Planning (cont’d)</a:t>
            </a:r>
          </a:p>
        </p:txBody>
      </p:sp>
      <p:sp>
        <p:nvSpPr>
          <p:cNvPr id="100355" name="Rectangle 5">
            <a:extLst>
              <a:ext uri="{FF2B5EF4-FFF2-40B4-BE49-F238E27FC236}">
                <a16:creationId xmlns="" xmlns:a16="http://schemas.microsoft.com/office/drawing/2014/main" id="{EE22A0BA-C66A-4D61-5C2F-A985161B575B}"/>
              </a:ext>
            </a:extLst>
          </p:cNvPr>
          <p:cNvSpPr>
            <a:spLocks noGrp="1" noChangeArrowheads="1"/>
          </p:cNvSpPr>
          <p:nvPr>
            <p:ph idx="1"/>
          </p:nvPr>
        </p:nvSpPr>
        <p:spPr>
          <a:xfrm>
            <a:off x="2057400" y="1676400"/>
            <a:ext cx="8305800" cy="4572000"/>
          </a:xfrm>
        </p:spPr>
        <p:txBody>
          <a:bodyPr/>
          <a:lstStyle/>
          <a:p>
            <a:r>
              <a:rPr lang="en-US" altLang="en-US"/>
              <a:t>Incident Planning</a:t>
            </a:r>
          </a:p>
          <a:p>
            <a:pPr lvl="1"/>
            <a:r>
              <a:rPr lang="en-US" altLang="en-US"/>
              <a:t>Predefined responses enable the organization to react quickly and effectively to the detected incident if:</a:t>
            </a:r>
          </a:p>
          <a:p>
            <a:pPr lvl="2"/>
            <a:r>
              <a:rPr lang="en-US" altLang="en-US"/>
              <a:t>The organization has an IR team </a:t>
            </a:r>
          </a:p>
          <a:p>
            <a:pPr lvl="2"/>
            <a:r>
              <a:rPr lang="en-US" altLang="en-US"/>
              <a:t>The organization can detect the incident</a:t>
            </a:r>
          </a:p>
          <a:p>
            <a:pPr lvl="1"/>
            <a:r>
              <a:rPr lang="en-US" altLang="en-US"/>
              <a:t>IR team consists of individuals needed to handle systems as incident takes place.</a:t>
            </a:r>
          </a:p>
          <a:p>
            <a:r>
              <a:rPr lang="en-US" altLang="en-US"/>
              <a:t>Incident response plan</a:t>
            </a:r>
          </a:p>
          <a:p>
            <a:pPr lvl="1"/>
            <a:r>
              <a:rPr lang="en-US" altLang="en-US"/>
              <a:t>Format and content</a:t>
            </a:r>
          </a:p>
          <a:p>
            <a:pPr lvl="1"/>
            <a:r>
              <a:rPr lang="en-US" altLang="en-US"/>
              <a:t>Storage</a:t>
            </a:r>
          </a:p>
          <a:p>
            <a:pPr lvl="1"/>
            <a:r>
              <a:rPr lang="en-US" altLang="en-US"/>
              <a:t>Testing</a:t>
            </a:r>
          </a:p>
          <a:p>
            <a:pPr lvl="1"/>
            <a:endParaRPr lang="en-US" altLang="en-US"/>
          </a:p>
        </p:txBody>
      </p:sp>
      <p:sp>
        <p:nvSpPr>
          <p:cNvPr id="100356" name="Footer Placeholder 4">
            <a:extLst>
              <a:ext uri="{FF2B5EF4-FFF2-40B4-BE49-F238E27FC236}">
                <a16:creationId xmlns="" xmlns:a16="http://schemas.microsoft.com/office/drawing/2014/main" id="{9CD97291-8D12-1FDB-506D-BDA5C85C8582}"/>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00357" name="Slide Number Placeholder 5">
            <a:extLst>
              <a:ext uri="{FF2B5EF4-FFF2-40B4-BE49-F238E27FC236}">
                <a16:creationId xmlns="" xmlns:a16="http://schemas.microsoft.com/office/drawing/2014/main" id="{9E72EFD0-86D1-AB21-12D3-C5E8A08DB3F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7369946C-AD6D-494C-82D9-AF72FBC02D94}" type="slidenum">
              <a:rPr lang="en-US" altLang="en-US" sz="1400"/>
              <a:pPr>
                <a:spcBef>
                  <a:spcPct val="0"/>
                </a:spcBef>
                <a:buFontTx/>
                <a:buNone/>
              </a:pPr>
              <a:t>49</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2402" name="Rectangle 4">
            <a:extLst>
              <a:ext uri="{FF2B5EF4-FFF2-40B4-BE49-F238E27FC236}">
                <a16:creationId xmlns="" xmlns:a16="http://schemas.microsoft.com/office/drawing/2014/main" id="{4DF6EDB3-7340-97A2-D86F-9FE7C6666354}"/>
              </a:ext>
            </a:extLst>
          </p:cNvPr>
          <p:cNvSpPr>
            <a:spLocks noGrp="1" noChangeArrowheads="1"/>
          </p:cNvSpPr>
          <p:nvPr>
            <p:ph type="title"/>
          </p:nvPr>
        </p:nvSpPr>
        <p:spPr/>
        <p:txBody>
          <a:bodyPr/>
          <a:lstStyle/>
          <a:p>
            <a:r>
              <a:rPr lang="en-US" altLang="en-US"/>
              <a:t>Incident Response Planning (cont’d)</a:t>
            </a:r>
          </a:p>
        </p:txBody>
      </p:sp>
      <p:sp>
        <p:nvSpPr>
          <p:cNvPr id="102403" name="Rectangle 5">
            <a:extLst>
              <a:ext uri="{FF2B5EF4-FFF2-40B4-BE49-F238E27FC236}">
                <a16:creationId xmlns="" xmlns:a16="http://schemas.microsoft.com/office/drawing/2014/main" id="{D9F80F1F-F1D3-5A9D-77B6-A30D4A706FC9}"/>
              </a:ext>
            </a:extLst>
          </p:cNvPr>
          <p:cNvSpPr>
            <a:spLocks noGrp="1" noChangeArrowheads="1"/>
          </p:cNvSpPr>
          <p:nvPr>
            <p:ph idx="1"/>
          </p:nvPr>
        </p:nvSpPr>
        <p:spPr/>
        <p:txBody>
          <a:bodyPr/>
          <a:lstStyle/>
          <a:p>
            <a:r>
              <a:rPr lang="en-US" altLang="en-US"/>
              <a:t>Incident detection</a:t>
            </a:r>
          </a:p>
          <a:p>
            <a:pPr lvl="1"/>
            <a:r>
              <a:rPr lang="en-US" altLang="en-US"/>
              <a:t>Most common occurrence is complaint about technology support, often delivered to help desk.</a:t>
            </a:r>
          </a:p>
          <a:p>
            <a:pPr lvl="1"/>
            <a:r>
              <a:rPr lang="en-US" altLang="en-US"/>
              <a:t>Careful training is needed to quickly identify and classify an incident.</a:t>
            </a:r>
          </a:p>
          <a:p>
            <a:pPr lvl="1"/>
            <a:r>
              <a:rPr lang="en-US" altLang="en-US"/>
              <a:t>Once incident is properly identified, the organization can respond.</a:t>
            </a:r>
          </a:p>
          <a:p>
            <a:pPr lvl="1"/>
            <a:r>
              <a:rPr lang="en-US" altLang="en-US"/>
              <a:t>Incident indicators vary.</a:t>
            </a:r>
          </a:p>
        </p:txBody>
      </p:sp>
      <p:sp>
        <p:nvSpPr>
          <p:cNvPr id="102404" name="Footer Placeholder 4">
            <a:extLst>
              <a:ext uri="{FF2B5EF4-FFF2-40B4-BE49-F238E27FC236}">
                <a16:creationId xmlns="" xmlns:a16="http://schemas.microsoft.com/office/drawing/2014/main" id="{A7F25D1C-211B-B5BC-E06D-542C0DDF6667}"/>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02405" name="Slide Number Placeholder 5">
            <a:extLst>
              <a:ext uri="{FF2B5EF4-FFF2-40B4-BE49-F238E27FC236}">
                <a16:creationId xmlns="" xmlns:a16="http://schemas.microsoft.com/office/drawing/2014/main" id="{4BA5BB1F-2690-223B-AD79-97B3FBDBD9E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23D2E74-AABF-4B77-9547-74CE910B3A2F}" type="slidenum">
              <a:rPr lang="en-US" altLang="en-US" sz="1400"/>
              <a:pPr>
                <a:spcBef>
                  <a:spcPct val="0"/>
                </a:spcBef>
                <a:buFontTx/>
                <a:buNone/>
              </a:pPr>
              <a:t>50</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4450" name="Rectangle 4">
            <a:extLst>
              <a:ext uri="{FF2B5EF4-FFF2-40B4-BE49-F238E27FC236}">
                <a16:creationId xmlns="" xmlns:a16="http://schemas.microsoft.com/office/drawing/2014/main" id="{91521CBC-8035-34A4-6AB4-F5579BEB42E1}"/>
              </a:ext>
            </a:extLst>
          </p:cNvPr>
          <p:cNvSpPr>
            <a:spLocks noGrp="1" noChangeArrowheads="1"/>
          </p:cNvSpPr>
          <p:nvPr>
            <p:ph type="title"/>
          </p:nvPr>
        </p:nvSpPr>
        <p:spPr/>
        <p:txBody>
          <a:bodyPr/>
          <a:lstStyle/>
          <a:p>
            <a:r>
              <a:rPr lang="en-US" altLang="en-US"/>
              <a:t>Incident Response Planning (cont’d)</a:t>
            </a:r>
          </a:p>
        </p:txBody>
      </p:sp>
      <p:sp>
        <p:nvSpPr>
          <p:cNvPr id="104451" name="Rectangle 5">
            <a:extLst>
              <a:ext uri="{FF2B5EF4-FFF2-40B4-BE49-F238E27FC236}">
                <a16:creationId xmlns="" xmlns:a16="http://schemas.microsoft.com/office/drawing/2014/main" id="{AC775AA7-F933-780E-5BE5-8EBE8D10C8DC}"/>
              </a:ext>
            </a:extLst>
          </p:cNvPr>
          <p:cNvSpPr>
            <a:spLocks noGrp="1" noChangeArrowheads="1"/>
          </p:cNvSpPr>
          <p:nvPr>
            <p:ph idx="1"/>
          </p:nvPr>
        </p:nvSpPr>
        <p:spPr/>
        <p:txBody>
          <a:bodyPr/>
          <a:lstStyle/>
          <a:p>
            <a:r>
              <a:rPr lang="en-US" altLang="en-US" sz="2400"/>
              <a:t>Incident reaction</a:t>
            </a:r>
          </a:p>
          <a:p>
            <a:pPr lvl="1"/>
            <a:r>
              <a:rPr lang="en-US" altLang="en-US" sz="2000"/>
              <a:t>Consists of actions that guide the organization to stop incident, mitigate its impact, and provide information for recovery </a:t>
            </a:r>
          </a:p>
          <a:p>
            <a:pPr lvl="1"/>
            <a:r>
              <a:rPr lang="en-US" altLang="en-US" sz="2000"/>
              <a:t>Actions that must occur quickly:</a:t>
            </a:r>
          </a:p>
          <a:p>
            <a:pPr lvl="2"/>
            <a:r>
              <a:rPr lang="en-US" altLang="en-US"/>
              <a:t>Notification of key personnel</a:t>
            </a:r>
          </a:p>
          <a:p>
            <a:pPr lvl="2"/>
            <a:r>
              <a:rPr lang="en-US" altLang="en-US"/>
              <a:t>Documentation of the incident</a:t>
            </a:r>
          </a:p>
          <a:p>
            <a:r>
              <a:rPr lang="en-US" altLang="en-US" sz="2400"/>
              <a:t>Incident containment strategies</a:t>
            </a:r>
          </a:p>
          <a:p>
            <a:pPr lvl="1"/>
            <a:r>
              <a:rPr lang="en-US" altLang="en-US" sz="2000"/>
              <a:t>Containment of incident’s scope or impact as first priority; must then determine which information systems are affected</a:t>
            </a:r>
          </a:p>
          <a:p>
            <a:pPr lvl="1"/>
            <a:r>
              <a:rPr lang="en-US" altLang="en-US" sz="2000"/>
              <a:t>Organization can stop incident and attempt to recover control through a number or strategies.</a:t>
            </a:r>
          </a:p>
        </p:txBody>
      </p:sp>
      <p:sp>
        <p:nvSpPr>
          <p:cNvPr id="104452" name="Footer Placeholder 4">
            <a:extLst>
              <a:ext uri="{FF2B5EF4-FFF2-40B4-BE49-F238E27FC236}">
                <a16:creationId xmlns="" xmlns:a16="http://schemas.microsoft.com/office/drawing/2014/main" id="{97DE62DD-F85F-C953-E79D-BC51688CBA81}"/>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04453" name="Slide Number Placeholder 5">
            <a:extLst>
              <a:ext uri="{FF2B5EF4-FFF2-40B4-BE49-F238E27FC236}">
                <a16:creationId xmlns="" xmlns:a16="http://schemas.microsoft.com/office/drawing/2014/main" id="{0BCC3403-B201-DB8E-E038-57C405E22B8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75FBB1FE-C531-4E30-A972-D919434473E5}" type="slidenum">
              <a:rPr lang="en-US" altLang="en-US" sz="1400"/>
              <a:pPr>
                <a:spcBef>
                  <a:spcPct val="0"/>
                </a:spcBef>
                <a:buFontTx/>
                <a:buNone/>
              </a:pPr>
              <a:t>51</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6498" name="Rectangle 4">
            <a:extLst>
              <a:ext uri="{FF2B5EF4-FFF2-40B4-BE49-F238E27FC236}">
                <a16:creationId xmlns="" xmlns:a16="http://schemas.microsoft.com/office/drawing/2014/main" id="{74472A68-9860-A892-00FB-ADA802AA9F57}"/>
              </a:ext>
            </a:extLst>
          </p:cNvPr>
          <p:cNvSpPr>
            <a:spLocks noGrp="1" noChangeArrowheads="1"/>
          </p:cNvSpPr>
          <p:nvPr>
            <p:ph type="title"/>
          </p:nvPr>
        </p:nvSpPr>
        <p:spPr/>
        <p:txBody>
          <a:bodyPr/>
          <a:lstStyle/>
          <a:p>
            <a:r>
              <a:rPr lang="en-US" altLang="en-US"/>
              <a:t>Incident Response Planning (cont’d)</a:t>
            </a:r>
          </a:p>
        </p:txBody>
      </p:sp>
      <p:sp>
        <p:nvSpPr>
          <p:cNvPr id="106499" name="Rectangle 5">
            <a:extLst>
              <a:ext uri="{FF2B5EF4-FFF2-40B4-BE49-F238E27FC236}">
                <a16:creationId xmlns="" xmlns:a16="http://schemas.microsoft.com/office/drawing/2014/main" id="{5ADBBFBC-F63D-2CD0-B093-A06DBC988B39}"/>
              </a:ext>
            </a:extLst>
          </p:cNvPr>
          <p:cNvSpPr>
            <a:spLocks noGrp="1" noChangeArrowheads="1"/>
          </p:cNvSpPr>
          <p:nvPr>
            <p:ph idx="1"/>
          </p:nvPr>
        </p:nvSpPr>
        <p:spPr/>
        <p:txBody>
          <a:bodyPr/>
          <a:lstStyle/>
          <a:p>
            <a:r>
              <a:rPr lang="en-US" altLang="en-US"/>
              <a:t>Incident recovery</a:t>
            </a:r>
          </a:p>
          <a:p>
            <a:pPr lvl="1"/>
            <a:r>
              <a:rPr lang="en-US" altLang="en-US"/>
              <a:t>Once incident has been contained and control of systems regained, the next stage is recovery.</a:t>
            </a:r>
          </a:p>
          <a:p>
            <a:pPr lvl="1"/>
            <a:r>
              <a:rPr lang="en-US" altLang="en-US"/>
              <a:t>The first task is to identify human resources needed and launch them into action.</a:t>
            </a:r>
          </a:p>
          <a:p>
            <a:pPr lvl="1"/>
            <a:r>
              <a:rPr lang="en-US" altLang="en-US"/>
              <a:t>Full extent of the damage must be assessed.</a:t>
            </a:r>
          </a:p>
          <a:p>
            <a:pPr lvl="1"/>
            <a:r>
              <a:rPr lang="en-US" altLang="en-US"/>
              <a:t>Organization repairs vulnerabilities, addresses any shortcomings in safeguards, and restores data and services of the systems.</a:t>
            </a:r>
          </a:p>
        </p:txBody>
      </p:sp>
      <p:sp>
        <p:nvSpPr>
          <p:cNvPr id="106500" name="Footer Placeholder 4">
            <a:extLst>
              <a:ext uri="{FF2B5EF4-FFF2-40B4-BE49-F238E27FC236}">
                <a16:creationId xmlns="" xmlns:a16="http://schemas.microsoft.com/office/drawing/2014/main" id="{7128C98D-68CA-A888-6E2D-D1E95C62EA88}"/>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06501" name="Slide Number Placeholder 5">
            <a:extLst>
              <a:ext uri="{FF2B5EF4-FFF2-40B4-BE49-F238E27FC236}">
                <a16:creationId xmlns="" xmlns:a16="http://schemas.microsoft.com/office/drawing/2014/main" id="{13CD8249-0F8E-6DAD-2643-9246F169FAC3}"/>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EBCD1D2D-0222-4F82-8662-6C161631B653}" type="slidenum">
              <a:rPr lang="en-US" altLang="en-US" sz="1400"/>
              <a:pPr>
                <a:spcBef>
                  <a:spcPct val="0"/>
                </a:spcBef>
                <a:buFontTx/>
                <a:buNone/>
              </a:pPr>
              <a:t>52</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08546" name="Rectangle 4">
            <a:extLst>
              <a:ext uri="{FF2B5EF4-FFF2-40B4-BE49-F238E27FC236}">
                <a16:creationId xmlns="" xmlns:a16="http://schemas.microsoft.com/office/drawing/2014/main" id="{368B65CF-B90A-AEC5-F037-78E6024E847A}"/>
              </a:ext>
            </a:extLst>
          </p:cNvPr>
          <p:cNvSpPr>
            <a:spLocks noGrp="1" noChangeArrowheads="1"/>
          </p:cNvSpPr>
          <p:nvPr>
            <p:ph type="title"/>
          </p:nvPr>
        </p:nvSpPr>
        <p:spPr/>
        <p:txBody>
          <a:bodyPr/>
          <a:lstStyle/>
          <a:p>
            <a:r>
              <a:rPr lang="en-US" altLang="en-US"/>
              <a:t>Incident Response Planning (cont’d)</a:t>
            </a:r>
          </a:p>
        </p:txBody>
      </p:sp>
      <p:sp>
        <p:nvSpPr>
          <p:cNvPr id="108547" name="Rectangle 5">
            <a:extLst>
              <a:ext uri="{FF2B5EF4-FFF2-40B4-BE49-F238E27FC236}">
                <a16:creationId xmlns="" xmlns:a16="http://schemas.microsoft.com/office/drawing/2014/main" id="{73D41A1A-8FCB-1FE9-B479-473D56DC5176}"/>
              </a:ext>
            </a:extLst>
          </p:cNvPr>
          <p:cNvSpPr>
            <a:spLocks noGrp="1" noChangeArrowheads="1"/>
          </p:cNvSpPr>
          <p:nvPr>
            <p:ph idx="1"/>
          </p:nvPr>
        </p:nvSpPr>
        <p:spPr/>
        <p:txBody>
          <a:bodyPr/>
          <a:lstStyle/>
          <a:p>
            <a:r>
              <a:rPr lang="en-US" altLang="en-US"/>
              <a:t>Damage assessment</a:t>
            </a:r>
          </a:p>
          <a:p>
            <a:pPr lvl="1"/>
            <a:r>
              <a:rPr lang="en-US" altLang="en-US"/>
              <a:t>Several sources of information on damage can be used, including system logs, intrusion detection logs, configuration logs and documents, documentation from incident response, and results of detailed assessment of systems and data storage.</a:t>
            </a:r>
          </a:p>
          <a:p>
            <a:pPr lvl="1"/>
            <a:r>
              <a:rPr lang="en-US" altLang="en-US"/>
              <a:t>Computer evidence must be carefully collected, documented, and maintained to be usable in formal or informal proceedings.</a:t>
            </a:r>
          </a:p>
          <a:p>
            <a:pPr lvl="1"/>
            <a:r>
              <a:rPr lang="en-US" altLang="en-US"/>
              <a:t>Individuals who assess damage need special training.</a:t>
            </a:r>
          </a:p>
        </p:txBody>
      </p:sp>
      <p:sp>
        <p:nvSpPr>
          <p:cNvPr id="108548" name="Footer Placeholder 4">
            <a:extLst>
              <a:ext uri="{FF2B5EF4-FFF2-40B4-BE49-F238E27FC236}">
                <a16:creationId xmlns="" xmlns:a16="http://schemas.microsoft.com/office/drawing/2014/main" id="{7FD3515C-2672-0F51-6DBA-8C301FDDFC79}"/>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08549" name="Slide Number Placeholder 5">
            <a:extLst>
              <a:ext uri="{FF2B5EF4-FFF2-40B4-BE49-F238E27FC236}">
                <a16:creationId xmlns="" xmlns:a16="http://schemas.microsoft.com/office/drawing/2014/main" id="{7E668854-1395-B733-AC6F-5E4B47546142}"/>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20D5B5A-969E-49EC-B168-86B9EA8EF5C0}" type="slidenum">
              <a:rPr lang="en-US" altLang="en-US" sz="1400"/>
              <a:pPr>
                <a:spcBef>
                  <a:spcPct val="0"/>
                </a:spcBef>
                <a:buFontTx/>
                <a:buNone/>
              </a:pPr>
              <a:t>53</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10594" name="Rectangle 4">
            <a:extLst>
              <a:ext uri="{FF2B5EF4-FFF2-40B4-BE49-F238E27FC236}">
                <a16:creationId xmlns="" xmlns:a16="http://schemas.microsoft.com/office/drawing/2014/main" id="{7332F08C-7796-8F78-35F8-013171B0C4F9}"/>
              </a:ext>
            </a:extLst>
          </p:cNvPr>
          <p:cNvSpPr>
            <a:spLocks noGrp="1" noChangeArrowheads="1"/>
          </p:cNvSpPr>
          <p:nvPr>
            <p:ph type="title"/>
          </p:nvPr>
        </p:nvSpPr>
        <p:spPr/>
        <p:txBody>
          <a:bodyPr/>
          <a:lstStyle/>
          <a:p>
            <a:r>
              <a:rPr lang="en-US" altLang="en-US"/>
              <a:t>Incident Response Planning (cont’d)</a:t>
            </a:r>
          </a:p>
        </p:txBody>
      </p:sp>
      <p:sp>
        <p:nvSpPr>
          <p:cNvPr id="110595" name="Rectangle 5">
            <a:extLst>
              <a:ext uri="{FF2B5EF4-FFF2-40B4-BE49-F238E27FC236}">
                <a16:creationId xmlns="" xmlns:a16="http://schemas.microsoft.com/office/drawing/2014/main" id="{ED5C10E1-D3FA-E791-F89F-9650D8A12E84}"/>
              </a:ext>
            </a:extLst>
          </p:cNvPr>
          <p:cNvSpPr>
            <a:spLocks noGrp="1" noChangeArrowheads="1"/>
          </p:cNvSpPr>
          <p:nvPr>
            <p:ph idx="1"/>
          </p:nvPr>
        </p:nvSpPr>
        <p:spPr/>
        <p:txBody>
          <a:bodyPr/>
          <a:lstStyle/>
          <a:p>
            <a:r>
              <a:rPr lang="en-US" altLang="en-US"/>
              <a:t>Automated response</a:t>
            </a:r>
          </a:p>
          <a:p>
            <a:pPr lvl="1"/>
            <a:r>
              <a:rPr lang="en-US" altLang="en-US"/>
              <a:t>New systems can respond to incident threat autonomously.</a:t>
            </a:r>
          </a:p>
          <a:p>
            <a:pPr lvl="1"/>
            <a:r>
              <a:rPr lang="en-US" altLang="en-US"/>
              <a:t>Downsides of current automated response systems may outweigh benefits. </a:t>
            </a:r>
          </a:p>
          <a:p>
            <a:pPr lvl="2"/>
            <a:r>
              <a:rPr lang="en-US" altLang="en-US"/>
              <a:t>Legal liabilities of a counterattack</a:t>
            </a:r>
          </a:p>
          <a:p>
            <a:pPr lvl="2"/>
            <a:r>
              <a:rPr lang="en-US" altLang="en-US"/>
              <a:t>Ethical issues</a:t>
            </a:r>
          </a:p>
        </p:txBody>
      </p:sp>
      <p:sp>
        <p:nvSpPr>
          <p:cNvPr id="110596" name="Footer Placeholder 4">
            <a:extLst>
              <a:ext uri="{FF2B5EF4-FFF2-40B4-BE49-F238E27FC236}">
                <a16:creationId xmlns="" xmlns:a16="http://schemas.microsoft.com/office/drawing/2014/main" id="{0D223640-95D7-7956-1C2C-156E60449B3B}"/>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10597" name="Slide Number Placeholder 5">
            <a:extLst>
              <a:ext uri="{FF2B5EF4-FFF2-40B4-BE49-F238E27FC236}">
                <a16:creationId xmlns="" xmlns:a16="http://schemas.microsoft.com/office/drawing/2014/main" id="{0C07B2F8-7718-DFA0-E53F-4C6706D02408}"/>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58CA5BC0-80EB-4822-88E9-684AFAA5DC97}" type="slidenum">
              <a:rPr lang="en-US" altLang="en-US" sz="1400"/>
              <a:pPr>
                <a:spcBef>
                  <a:spcPct val="0"/>
                </a:spcBef>
                <a:buFontTx/>
                <a:buNone/>
              </a:pPr>
              <a:t>54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12642" name="Rectangle 4">
            <a:extLst>
              <a:ext uri="{FF2B5EF4-FFF2-40B4-BE49-F238E27FC236}">
                <a16:creationId xmlns="" xmlns:a16="http://schemas.microsoft.com/office/drawing/2014/main" id="{49576856-3C57-7223-6942-4396419CF4FD}"/>
              </a:ext>
            </a:extLst>
          </p:cNvPr>
          <p:cNvSpPr>
            <a:spLocks noGrp="1" noChangeArrowheads="1"/>
          </p:cNvSpPr>
          <p:nvPr>
            <p:ph type="title"/>
          </p:nvPr>
        </p:nvSpPr>
        <p:spPr/>
        <p:txBody>
          <a:bodyPr/>
          <a:lstStyle/>
          <a:p>
            <a:r>
              <a:rPr lang="en-US" altLang="en-US"/>
              <a:t>Disaster Recovery Planning</a:t>
            </a:r>
          </a:p>
        </p:txBody>
      </p:sp>
      <p:sp>
        <p:nvSpPr>
          <p:cNvPr id="112643" name="Rectangle 5">
            <a:extLst>
              <a:ext uri="{FF2B5EF4-FFF2-40B4-BE49-F238E27FC236}">
                <a16:creationId xmlns="" xmlns:a16="http://schemas.microsoft.com/office/drawing/2014/main" id="{CEC48487-4A2E-E84C-4CCE-6E85A57D6617}"/>
              </a:ext>
            </a:extLst>
          </p:cNvPr>
          <p:cNvSpPr>
            <a:spLocks noGrp="1" noChangeArrowheads="1"/>
          </p:cNvSpPr>
          <p:nvPr>
            <p:ph idx="1"/>
          </p:nvPr>
        </p:nvSpPr>
        <p:spPr/>
        <p:txBody>
          <a:bodyPr/>
          <a:lstStyle/>
          <a:p>
            <a:r>
              <a:rPr lang="en-US" altLang="en-US"/>
              <a:t>Disaster recovery planning (DRP) is preparation for and recovery from a disaster.</a:t>
            </a:r>
          </a:p>
          <a:p>
            <a:r>
              <a:rPr lang="en-US" altLang="en-US"/>
              <a:t>The contingency planning team must decide which actions constitute disasters and which constitute incidents.</a:t>
            </a:r>
          </a:p>
          <a:p>
            <a:r>
              <a:rPr lang="en-US" altLang="en-US"/>
              <a:t>When situations are classified as disasters, plans change as to how to respond; take action to secure most valuable assets to preserve value for the longer term.</a:t>
            </a:r>
          </a:p>
          <a:p>
            <a:r>
              <a:rPr lang="en-US" altLang="en-US"/>
              <a:t>DRP strives to reestablish operations at the primary site.</a:t>
            </a:r>
          </a:p>
        </p:txBody>
      </p:sp>
      <p:sp>
        <p:nvSpPr>
          <p:cNvPr id="112644" name="Footer Placeholder 4">
            <a:extLst>
              <a:ext uri="{FF2B5EF4-FFF2-40B4-BE49-F238E27FC236}">
                <a16:creationId xmlns="" xmlns:a16="http://schemas.microsoft.com/office/drawing/2014/main" id="{EFB2CCF2-BC43-1684-F60C-F83A980471BB}"/>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12645" name="Slide Number Placeholder 5">
            <a:extLst>
              <a:ext uri="{FF2B5EF4-FFF2-40B4-BE49-F238E27FC236}">
                <a16:creationId xmlns="" xmlns:a16="http://schemas.microsoft.com/office/drawing/2014/main" id="{018DBDF6-CAFB-DE62-90B6-3A2876B1542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7CF668D6-18C9-454B-B97B-DC7066A64B59}" type="slidenum">
              <a:rPr lang="en-US" altLang="en-US" sz="1400"/>
              <a:pPr>
                <a:spcBef>
                  <a:spcPct val="0"/>
                </a:spcBef>
                <a:buFontTx/>
                <a:buNone/>
              </a:pPr>
              <a:t>55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14690" name="Rectangle 4">
            <a:extLst>
              <a:ext uri="{FF2B5EF4-FFF2-40B4-BE49-F238E27FC236}">
                <a16:creationId xmlns="" xmlns:a16="http://schemas.microsoft.com/office/drawing/2014/main" id="{65C96CB2-A32C-7B7F-E2F8-96928190AB27}"/>
              </a:ext>
            </a:extLst>
          </p:cNvPr>
          <p:cNvSpPr>
            <a:spLocks noGrp="1" noChangeArrowheads="1"/>
          </p:cNvSpPr>
          <p:nvPr>
            <p:ph type="title"/>
          </p:nvPr>
        </p:nvSpPr>
        <p:spPr/>
        <p:txBody>
          <a:bodyPr/>
          <a:lstStyle/>
          <a:p>
            <a:r>
              <a:rPr lang="en-US" altLang="en-US"/>
              <a:t>Business Continuity Planning</a:t>
            </a:r>
          </a:p>
        </p:txBody>
      </p:sp>
      <p:sp>
        <p:nvSpPr>
          <p:cNvPr id="114691" name="Rectangle 5">
            <a:extLst>
              <a:ext uri="{FF2B5EF4-FFF2-40B4-BE49-F238E27FC236}">
                <a16:creationId xmlns="" xmlns:a16="http://schemas.microsoft.com/office/drawing/2014/main" id="{C27BA43F-8F54-A15A-0A6C-D9679FE4267B}"/>
              </a:ext>
            </a:extLst>
          </p:cNvPr>
          <p:cNvSpPr>
            <a:spLocks noGrp="1" noChangeArrowheads="1"/>
          </p:cNvSpPr>
          <p:nvPr>
            <p:ph idx="1"/>
          </p:nvPr>
        </p:nvSpPr>
        <p:spPr/>
        <p:txBody>
          <a:bodyPr/>
          <a:lstStyle/>
          <a:p>
            <a:r>
              <a:rPr lang="en-US" altLang="en-US"/>
              <a:t>Prepares the organization to reestablish or relocate critical business operations during a disaster that affects operations at the primary site</a:t>
            </a:r>
          </a:p>
          <a:p>
            <a:r>
              <a:rPr lang="en-US" altLang="en-US"/>
              <a:t>If disaster has rendered the current location unusable, there must be a plan to allow business to continue functioning.</a:t>
            </a:r>
          </a:p>
          <a:p>
            <a:r>
              <a:rPr lang="en-US" altLang="en-US"/>
              <a:t>Development of BCP is somewhat simpler than IRP or DRP.</a:t>
            </a:r>
          </a:p>
          <a:p>
            <a:pPr lvl="1"/>
            <a:r>
              <a:rPr lang="en-US" altLang="en-US"/>
              <a:t>Consists primarily of selecting a continuity strategy and integrating off-site data storage and recovery functions into this strategy</a:t>
            </a:r>
          </a:p>
        </p:txBody>
      </p:sp>
      <p:sp>
        <p:nvSpPr>
          <p:cNvPr id="114692" name="Footer Placeholder 4">
            <a:extLst>
              <a:ext uri="{FF2B5EF4-FFF2-40B4-BE49-F238E27FC236}">
                <a16:creationId xmlns="" xmlns:a16="http://schemas.microsoft.com/office/drawing/2014/main" id="{4D2EE204-D225-C0C8-EAEE-4D2ED0E6D3F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14693" name="Slide Number Placeholder 5">
            <a:extLst>
              <a:ext uri="{FF2B5EF4-FFF2-40B4-BE49-F238E27FC236}">
                <a16:creationId xmlns="" xmlns:a16="http://schemas.microsoft.com/office/drawing/2014/main" id="{312CE3B7-797A-CDC8-7A2A-396AB5780AD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4EAC0C76-77EB-4112-AE3C-D030C588FCE7}" type="slidenum">
              <a:rPr lang="en-US" altLang="en-US" sz="1400"/>
              <a:pPr>
                <a:spcBef>
                  <a:spcPct val="0"/>
                </a:spcBef>
                <a:buFontTx/>
                <a:buNone/>
              </a:pPr>
              <a:t>56</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16738" name="Rectangle 4">
            <a:extLst>
              <a:ext uri="{FF2B5EF4-FFF2-40B4-BE49-F238E27FC236}">
                <a16:creationId xmlns="" xmlns:a16="http://schemas.microsoft.com/office/drawing/2014/main" id="{4623A8DA-5FEF-1B34-65C3-08F96587BF9B}"/>
              </a:ext>
            </a:extLst>
          </p:cNvPr>
          <p:cNvSpPr>
            <a:spLocks noGrp="1" noChangeArrowheads="1"/>
          </p:cNvSpPr>
          <p:nvPr>
            <p:ph type="title"/>
          </p:nvPr>
        </p:nvSpPr>
        <p:spPr/>
        <p:txBody>
          <a:bodyPr/>
          <a:lstStyle/>
          <a:p>
            <a:r>
              <a:rPr lang="en-US" altLang="en-US"/>
              <a:t>Business Continuity Planning (cont’d)</a:t>
            </a:r>
          </a:p>
        </p:txBody>
      </p:sp>
      <p:sp>
        <p:nvSpPr>
          <p:cNvPr id="116739" name="Rectangle 5">
            <a:extLst>
              <a:ext uri="{FF2B5EF4-FFF2-40B4-BE49-F238E27FC236}">
                <a16:creationId xmlns="" xmlns:a16="http://schemas.microsoft.com/office/drawing/2014/main" id="{1C5619F1-7A9F-74BF-6E8B-BAA068C258A8}"/>
              </a:ext>
            </a:extLst>
          </p:cNvPr>
          <p:cNvSpPr>
            <a:spLocks noGrp="1" noChangeArrowheads="1"/>
          </p:cNvSpPr>
          <p:nvPr>
            <p:ph idx="1"/>
          </p:nvPr>
        </p:nvSpPr>
        <p:spPr/>
        <p:txBody>
          <a:bodyPr/>
          <a:lstStyle/>
          <a:p>
            <a:r>
              <a:rPr lang="en-US" altLang="en-US"/>
              <a:t>Continuity strategies</a:t>
            </a:r>
          </a:p>
          <a:p>
            <a:pPr lvl="1"/>
            <a:r>
              <a:rPr lang="en-US" altLang="en-US"/>
              <a:t>There are a number of strategies for planning for business continuity.</a:t>
            </a:r>
          </a:p>
          <a:p>
            <a:pPr lvl="1"/>
            <a:r>
              <a:rPr lang="en-US" altLang="en-US"/>
              <a:t>Determining factor in selecting between options is usually cost.</a:t>
            </a:r>
          </a:p>
          <a:p>
            <a:pPr lvl="1"/>
            <a:r>
              <a:rPr lang="en-US" altLang="en-US"/>
              <a:t>In general, there are three exclusive options: hot sites, warm sites, and cold sites.</a:t>
            </a:r>
          </a:p>
          <a:p>
            <a:pPr lvl="1"/>
            <a:r>
              <a:rPr lang="en-US" altLang="en-US"/>
              <a:t>Three shared functions: time-share, service bureaus, and mutual agreements</a:t>
            </a:r>
          </a:p>
        </p:txBody>
      </p:sp>
      <p:sp>
        <p:nvSpPr>
          <p:cNvPr id="116740" name="Footer Placeholder 4">
            <a:extLst>
              <a:ext uri="{FF2B5EF4-FFF2-40B4-BE49-F238E27FC236}">
                <a16:creationId xmlns="" xmlns:a16="http://schemas.microsoft.com/office/drawing/2014/main" id="{859AC080-491A-8416-F03A-A044AC7AC9E0}"/>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16741" name="Slide Number Placeholder 5">
            <a:extLst>
              <a:ext uri="{FF2B5EF4-FFF2-40B4-BE49-F238E27FC236}">
                <a16:creationId xmlns="" xmlns:a16="http://schemas.microsoft.com/office/drawing/2014/main" id="{A435B3FA-F109-21B2-F8AC-53F55832D87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42C4DBE7-BC0C-479D-8C84-DBF787EADEE9}" type="slidenum">
              <a:rPr lang="en-US" altLang="en-US" sz="1400"/>
              <a:pPr>
                <a:spcBef>
                  <a:spcPct val="0"/>
                </a:spcBef>
                <a:buFontTx/>
                <a:buNone/>
              </a:pPr>
              <a:t>57</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18786" name="Rectangle 4">
            <a:extLst>
              <a:ext uri="{FF2B5EF4-FFF2-40B4-BE49-F238E27FC236}">
                <a16:creationId xmlns="" xmlns:a16="http://schemas.microsoft.com/office/drawing/2014/main" id="{E4D40ECE-EB6F-4286-FE97-6FF0842FB137}"/>
              </a:ext>
            </a:extLst>
          </p:cNvPr>
          <p:cNvSpPr>
            <a:spLocks noGrp="1" noChangeArrowheads="1"/>
          </p:cNvSpPr>
          <p:nvPr>
            <p:ph type="title"/>
          </p:nvPr>
        </p:nvSpPr>
        <p:spPr/>
        <p:txBody>
          <a:bodyPr/>
          <a:lstStyle/>
          <a:p>
            <a:r>
              <a:rPr lang="en-US" altLang="en-US"/>
              <a:t>Business Continuity Planning (cont’d)</a:t>
            </a:r>
          </a:p>
        </p:txBody>
      </p:sp>
      <p:sp>
        <p:nvSpPr>
          <p:cNvPr id="118787" name="Rectangle 5">
            <a:extLst>
              <a:ext uri="{FF2B5EF4-FFF2-40B4-BE49-F238E27FC236}">
                <a16:creationId xmlns="" xmlns:a16="http://schemas.microsoft.com/office/drawing/2014/main" id="{C5CF1E30-E80D-BDFD-D5C8-02FEA0D057A7}"/>
              </a:ext>
            </a:extLst>
          </p:cNvPr>
          <p:cNvSpPr>
            <a:spLocks noGrp="1" noChangeArrowheads="1"/>
          </p:cNvSpPr>
          <p:nvPr>
            <p:ph idx="1"/>
          </p:nvPr>
        </p:nvSpPr>
        <p:spPr/>
        <p:txBody>
          <a:bodyPr/>
          <a:lstStyle/>
          <a:p>
            <a:r>
              <a:rPr lang="en-US" altLang="en-US"/>
              <a:t>Off-site disaster data storage</a:t>
            </a:r>
          </a:p>
          <a:p>
            <a:pPr lvl="1"/>
            <a:r>
              <a:rPr lang="en-US" altLang="en-US"/>
              <a:t>To get sites up and running quickly, an organization must have the ability to move data into new site’s systems.</a:t>
            </a:r>
          </a:p>
          <a:p>
            <a:pPr lvl="1"/>
            <a:r>
              <a:rPr lang="en-US" altLang="en-US"/>
              <a:t>Options for getting operations up and running include:  </a:t>
            </a:r>
          </a:p>
          <a:p>
            <a:pPr lvl="2"/>
            <a:r>
              <a:rPr lang="en-US" altLang="en-US"/>
              <a:t>Electronic vaulting </a:t>
            </a:r>
          </a:p>
          <a:p>
            <a:pPr lvl="2"/>
            <a:r>
              <a:rPr lang="en-US" altLang="en-US"/>
              <a:t>Remote journaling</a:t>
            </a:r>
          </a:p>
          <a:p>
            <a:pPr lvl="2"/>
            <a:r>
              <a:rPr lang="en-US" altLang="en-US"/>
              <a:t>Database shadowing</a:t>
            </a:r>
          </a:p>
        </p:txBody>
      </p:sp>
      <p:sp>
        <p:nvSpPr>
          <p:cNvPr id="118788" name="Footer Placeholder 4">
            <a:extLst>
              <a:ext uri="{FF2B5EF4-FFF2-40B4-BE49-F238E27FC236}">
                <a16:creationId xmlns="" xmlns:a16="http://schemas.microsoft.com/office/drawing/2014/main" id="{766C180D-E8B9-7AD0-2B68-9ECA605F8AC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18789" name="Slide Number Placeholder 5">
            <a:extLst>
              <a:ext uri="{FF2B5EF4-FFF2-40B4-BE49-F238E27FC236}">
                <a16:creationId xmlns="" xmlns:a16="http://schemas.microsoft.com/office/drawing/2014/main" id="{BC3B2A49-0176-0821-48EF-5CF178F91E8D}"/>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C4DEB216-065F-44D9-8FE5-C0717288523B}" type="slidenum">
              <a:rPr lang="en-US" altLang="en-US" sz="1400"/>
              <a:pPr>
                <a:spcBef>
                  <a:spcPct val="0"/>
                </a:spcBef>
                <a:buFontTx/>
                <a:buNone/>
              </a:pPr>
              <a:t>58</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20834" name="Rectangle 4">
            <a:extLst>
              <a:ext uri="{FF2B5EF4-FFF2-40B4-BE49-F238E27FC236}">
                <a16:creationId xmlns="" xmlns:a16="http://schemas.microsoft.com/office/drawing/2014/main" id="{3B744BF6-51DD-0D16-8135-645290CEDFF1}"/>
              </a:ext>
            </a:extLst>
          </p:cNvPr>
          <p:cNvSpPr>
            <a:spLocks noGrp="1" noChangeArrowheads="1"/>
          </p:cNvSpPr>
          <p:nvPr>
            <p:ph type="title"/>
          </p:nvPr>
        </p:nvSpPr>
        <p:spPr/>
        <p:txBody>
          <a:bodyPr/>
          <a:lstStyle/>
          <a:p>
            <a:r>
              <a:rPr lang="en-US" altLang="en-US"/>
              <a:t>Crisis Management</a:t>
            </a:r>
          </a:p>
        </p:txBody>
      </p:sp>
      <p:sp>
        <p:nvSpPr>
          <p:cNvPr id="120835" name="Rectangle 5">
            <a:extLst>
              <a:ext uri="{FF2B5EF4-FFF2-40B4-BE49-F238E27FC236}">
                <a16:creationId xmlns="" xmlns:a16="http://schemas.microsoft.com/office/drawing/2014/main" id="{2E058D4E-A604-AA5A-2563-38B398336AF4}"/>
              </a:ext>
            </a:extLst>
          </p:cNvPr>
          <p:cNvSpPr>
            <a:spLocks noGrp="1" noChangeArrowheads="1"/>
          </p:cNvSpPr>
          <p:nvPr>
            <p:ph idx="1"/>
          </p:nvPr>
        </p:nvSpPr>
        <p:spPr/>
        <p:txBody>
          <a:bodyPr/>
          <a:lstStyle/>
          <a:p>
            <a:r>
              <a:rPr lang="en-US" altLang="en-US"/>
              <a:t>Actions taken in response to an emergency to minimize injury/loss of life, preserve organization’s image/market share, and complement disaster recovery/business continuity processes </a:t>
            </a:r>
          </a:p>
          <a:p>
            <a:r>
              <a:rPr lang="en-US" altLang="en-US"/>
              <a:t>What may truly distinguish an incident from a disaster are the actions of the response teams.</a:t>
            </a:r>
          </a:p>
          <a:p>
            <a:r>
              <a:rPr lang="en-US" altLang="en-US"/>
              <a:t>Disaster recovery personnel must know their roles without any supporting documentation.</a:t>
            </a:r>
          </a:p>
          <a:p>
            <a:pPr lvl="1"/>
            <a:r>
              <a:rPr lang="en-US" altLang="en-US"/>
              <a:t>Preparation</a:t>
            </a:r>
          </a:p>
          <a:p>
            <a:pPr lvl="1"/>
            <a:r>
              <a:rPr lang="en-US" altLang="en-US"/>
              <a:t>Training</a:t>
            </a:r>
          </a:p>
          <a:p>
            <a:pPr lvl="1"/>
            <a:r>
              <a:rPr lang="en-US" altLang="en-US"/>
              <a:t>Rehearsal</a:t>
            </a:r>
          </a:p>
        </p:txBody>
      </p:sp>
      <p:sp>
        <p:nvSpPr>
          <p:cNvPr id="120836" name="Footer Placeholder 4">
            <a:extLst>
              <a:ext uri="{FF2B5EF4-FFF2-40B4-BE49-F238E27FC236}">
                <a16:creationId xmlns="" xmlns:a16="http://schemas.microsoft.com/office/drawing/2014/main" id="{686EBB6A-4E5B-8E38-8B77-2C21E4021363}"/>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20837" name="Slide Number Placeholder 5">
            <a:extLst>
              <a:ext uri="{FF2B5EF4-FFF2-40B4-BE49-F238E27FC236}">
                <a16:creationId xmlns="" xmlns:a16="http://schemas.microsoft.com/office/drawing/2014/main" id="{BA74347E-BF8C-381C-A21C-FFD7A176691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E34C8859-B620-469B-82E2-DC0B53B27695}" type="slidenum">
              <a:rPr lang="en-US" altLang="en-US" sz="1400"/>
              <a:pPr>
                <a:spcBef>
                  <a:spcPct val="0"/>
                </a:spcBef>
                <a:buFontTx/>
                <a:buNone/>
              </a:pPr>
              <a:t>59</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22882" name="Title 1">
            <a:extLst>
              <a:ext uri="{FF2B5EF4-FFF2-40B4-BE49-F238E27FC236}">
                <a16:creationId xmlns="" xmlns:a16="http://schemas.microsoft.com/office/drawing/2014/main" id="{41828697-8542-752A-40EF-AB56A3BE321B}"/>
              </a:ext>
            </a:extLst>
          </p:cNvPr>
          <p:cNvSpPr>
            <a:spLocks noGrp="1" noChangeArrowheads="1"/>
          </p:cNvSpPr>
          <p:nvPr>
            <p:ph type="title"/>
          </p:nvPr>
        </p:nvSpPr>
        <p:spPr/>
        <p:txBody>
          <a:bodyPr/>
          <a:lstStyle/>
          <a:p>
            <a:r>
              <a:rPr lang="en-US" altLang="en-US"/>
              <a:t>Crisis Management (cont’d)</a:t>
            </a:r>
          </a:p>
        </p:txBody>
      </p:sp>
      <p:sp>
        <p:nvSpPr>
          <p:cNvPr id="122883" name="Content Placeholder 2">
            <a:extLst>
              <a:ext uri="{FF2B5EF4-FFF2-40B4-BE49-F238E27FC236}">
                <a16:creationId xmlns="" xmlns:a16="http://schemas.microsoft.com/office/drawing/2014/main" id="{203EB533-455C-CE40-E5CD-BEBF51D419B2}"/>
              </a:ext>
            </a:extLst>
          </p:cNvPr>
          <p:cNvSpPr>
            <a:spLocks noGrp="1" noChangeArrowheads="1"/>
          </p:cNvSpPr>
          <p:nvPr>
            <p:ph idx="1"/>
          </p:nvPr>
        </p:nvSpPr>
        <p:spPr/>
        <p:txBody>
          <a:bodyPr/>
          <a:lstStyle/>
          <a:p>
            <a:r>
              <a:rPr lang="en-US" altLang="en-US"/>
              <a:t>Crisis management team is responsible for managing the event from an enterprise perspective and covers: </a:t>
            </a:r>
          </a:p>
          <a:p>
            <a:pPr lvl="1"/>
            <a:r>
              <a:rPr lang="en-US" altLang="en-US"/>
              <a:t>Supporting personnel and families during crisis </a:t>
            </a:r>
          </a:p>
          <a:p>
            <a:pPr lvl="1"/>
            <a:r>
              <a:rPr lang="en-US" altLang="en-US"/>
              <a:t>Determining impact on normal business operations and, if necessary, making disaster declaration</a:t>
            </a:r>
          </a:p>
          <a:p>
            <a:pPr lvl="1"/>
            <a:r>
              <a:rPr lang="en-US" altLang="en-US"/>
              <a:t>Keeping the public informed</a:t>
            </a:r>
          </a:p>
          <a:p>
            <a:pPr lvl="1"/>
            <a:r>
              <a:rPr lang="en-US" altLang="en-US"/>
              <a:t>Communicating with major customers, suppliers, partners, regulatory agencies, industry organizations, the media, and other interested parties</a:t>
            </a:r>
          </a:p>
        </p:txBody>
      </p:sp>
      <p:sp>
        <p:nvSpPr>
          <p:cNvPr id="122884" name="Footer Placeholder 3">
            <a:extLst>
              <a:ext uri="{FF2B5EF4-FFF2-40B4-BE49-F238E27FC236}">
                <a16:creationId xmlns="" xmlns:a16="http://schemas.microsoft.com/office/drawing/2014/main" id="{0BCEBA74-90EA-CEF7-A885-CC4C3B5C4C3E}"/>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22885" name="Slide Number Placeholder 4">
            <a:extLst>
              <a:ext uri="{FF2B5EF4-FFF2-40B4-BE49-F238E27FC236}">
                <a16:creationId xmlns="" xmlns:a16="http://schemas.microsoft.com/office/drawing/2014/main" id="{88D1148D-3284-0F1A-A0AC-527A3BD5E74F}"/>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0692969-2386-4ACB-BBB4-97E4A9A695B0}" type="slidenum">
              <a:rPr lang="en-US" altLang="en-US" sz="1400"/>
              <a:pPr>
                <a:spcBef>
                  <a:spcPct val="0"/>
                </a:spcBef>
                <a:buFontTx/>
                <a:buNone/>
              </a:pPr>
              <a:t>60</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24930" name="Rectangle 4">
            <a:extLst>
              <a:ext uri="{FF2B5EF4-FFF2-40B4-BE49-F238E27FC236}">
                <a16:creationId xmlns="" xmlns:a16="http://schemas.microsoft.com/office/drawing/2014/main" id="{190D9466-25FB-0525-B4C6-1D06F481274D}"/>
              </a:ext>
            </a:extLst>
          </p:cNvPr>
          <p:cNvSpPr>
            <a:spLocks noGrp="1" noChangeArrowheads="1"/>
          </p:cNvSpPr>
          <p:nvPr>
            <p:ph type="title"/>
          </p:nvPr>
        </p:nvSpPr>
        <p:spPr/>
        <p:txBody>
          <a:bodyPr/>
          <a:lstStyle/>
          <a:p>
            <a:r>
              <a:rPr lang="en-US" altLang="en-US"/>
              <a:t>Crisis Management (cont’d)</a:t>
            </a:r>
          </a:p>
        </p:txBody>
      </p:sp>
      <p:sp>
        <p:nvSpPr>
          <p:cNvPr id="124931" name="Rectangle 5">
            <a:extLst>
              <a:ext uri="{FF2B5EF4-FFF2-40B4-BE49-F238E27FC236}">
                <a16:creationId xmlns="" xmlns:a16="http://schemas.microsoft.com/office/drawing/2014/main" id="{D8EEEF78-9A09-74D2-CB0C-AE7FF84AA6A5}"/>
              </a:ext>
            </a:extLst>
          </p:cNvPr>
          <p:cNvSpPr>
            <a:spLocks noGrp="1" noChangeArrowheads="1"/>
          </p:cNvSpPr>
          <p:nvPr>
            <p:ph idx="1"/>
          </p:nvPr>
        </p:nvSpPr>
        <p:spPr/>
        <p:txBody>
          <a:bodyPr/>
          <a:lstStyle/>
          <a:p>
            <a:r>
              <a:rPr lang="en-US" altLang="en-US"/>
              <a:t>Key areas of crisis management also include:</a:t>
            </a:r>
          </a:p>
          <a:p>
            <a:pPr lvl="1"/>
            <a:r>
              <a:rPr lang="en-US" altLang="en-US"/>
              <a:t>Verifying personnel head count</a:t>
            </a:r>
          </a:p>
          <a:p>
            <a:pPr lvl="1"/>
            <a:r>
              <a:rPr lang="en-US" altLang="en-US"/>
              <a:t>Checking alert roster</a:t>
            </a:r>
          </a:p>
          <a:p>
            <a:pPr lvl="1"/>
            <a:r>
              <a:rPr lang="en-US" altLang="en-US"/>
              <a:t>Checking emergency information cards</a:t>
            </a:r>
          </a:p>
        </p:txBody>
      </p:sp>
      <p:sp>
        <p:nvSpPr>
          <p:cNvPr id="124932" name="Footer Placeholder 4">
            <a:extLst>
              <a:ext uri="{FF2B5EF4-FFF2-40B4-BE49-F238E27FC236}">
                <a16:creationId xmlns="" xmlns:a16="http://schemas.microsoft.com/office/drawing/2014/main" id="{4DCA2FCE-2AC5-EF0E-546B-313AA242250A}"/>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24933" name="Slide Number Placeholder 5">
            <a:extLst>
              <a:ext uri="{FF2B5EF4-FFF2-40B4-BE49-F238E27FC236}">
                <a16:creationId xmlns="" xmlns:a16="http://schemas.microsoft.com/office/drawing/2014/main" id="{97FC276D-F1C8-F7AE-215A-227A94EE8350}"/>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672AF085-5CA5-4B2E-A245-16B8155884C4}" type="slidenum">
              <a:rPr lang="en-US" altLang="en-US" sz="1400"/>
              <a:pPr>
                <a:spcBef>
                  <a:spcPct val="0"/>
                </a:spcBef>
                <a:buFontTx/>
                <a:buNone/>
              </a:pPr>
              <a:t>61</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26978" name="Rectangle 4">
            <a:extLst>
              <a:ext uri="{FF2B5EF4-FFF2-40B4-BE49-F238E27FC236}">
                <a16:creationId xmlns="" xmlns:a16="http://schemas.microsoft.com/office/drawing/2014/main" id="{C4B7334F-900A-0253-7EF4-1A16D8394E10}"/>
              </a:ext>
            </a:extLst>
          </p:cNvPr>
          <p:cNvSpPr>
            <a:spLocks noGrp="1" noChangeArrowheads="1"/>
          </p:cNvSpPr>
          <p:nvPr>
            <p:ph type="title"/>
          </p:nvPr>
        </p:nvSpPr>
        <p:spPr/>
        <p:txBody>
          <a:bodyPr/>
          <a:lstStyle/>
          <a:p>
            <a:r>
              <a:rPr lang="en-US" altLang="en-US"/>
              <a:t>The Consolidated Contingency Plan</a:t>
            </a:r>
          </a:p>
        </p:txBody>
      </p:sp>
      <p:sp>
        <p:nvSpPr>
          <p:cNvPr id="126979" name="Rectangle 5">
            <a:extLst>
              <a:ext uri="{FF2B5EF4-FFF2-40B4-BE49-F238E27FC236}">
                <a16:creationId xmlns="" xmlns:a16="http://schemas.microsoft.com/office/drawing/2014/main" id="{5A9DED50-C2B8-4BBB-0489-BC3CBA5E6FFA}"/>
              </a:ext>
            </a:extLst>
          </p:cNvPr>
          <p:cNvSpPr>
            <a:spLocks noGrp="1" noChangeArrowheads="1"/>
          </p:cNvSpPr>
          <p:nvPr>
            <p:ph idx="1"/>
          </p:nvPr>
        </p:nvSpPr>
        <p:spPr/>
        <p:txBody>
          <a:bodyPr/>
          <a:lstStyle/>
          <a:p>
            <a:r>
              <a:rPr lang="en-US" altLang="en-US"/>
              <a:t>Single document set approach combines all aspects of contingency policy and plan, incorporating IR, DR, and BC plans.</a:t>
            </a:r>
          </a:p>
          <a:p>
            <a:r>
              <a:rPr lang="en-US" altLang="en-US"/>
              <a:t>Often created and stored electronically, it should be easily accessible by employees in time of need.</a:t>
            </a:r>
          </a:p>
          <a:p>
            <a:pPr lvl="1"/>
            <a:r>
              <a:rPr lang="en-US" altLang="en-US"/>
              <a:t>Small- and medium-sized organizations may also store hard copies of the document.</a:t>
            </a:r>
          </a:p>
        </p:txBody>
      </p:sp>
      <p:sp>
        <p:nvSpPr>
          <p:cNvPr id="126980" name="Footer Placeholder 4">
            <a:extLst>
              <a:ext uri="{FF2B5EF4-FFF2-40B4-BE49-F238E27FC236}">
                <a16:creationId xmlns="" xmlns:a16="http://schemas.microsoft.com/office/drawing/2014/main" id="{62FC0DC9-FC20-24F4-C469-94417243E7A6}"/>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26981" name="Slide Number Placeholder 5">
            <a:extLst>
              <a:ext uri="{FF2B5EF4-FFF2-40B4-BE49-F238E27FC236}">
                <a16:creationId xmlns="" xmlns:a16="http://schemas.microsoft.com/office/drawing/2014/main" id="{EA957F4E-8CD2-2218-DCC4-393B4CD499AE}"/>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1BBDD42F-4EAF-4B8E-AE8F-2CB1BBE98906}" type="slidenum">
              <a:rPr lang="en-US" altLang="en-US" sz="1400"/>
              <a:pPr>
                <a:spcBef>
                  <a:spcPct val="0"/>
                </a:spcBef>
                <a:buFontTx/>
                <a:buNone/>
              </a:pPr>
              <a:t>62</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29026" name="Rectangle 4">
            <a:extLst>
              <a:ext uri="{FF2B5EF4-FFF2-40B4-BE49-F238E27FC236}">
                <a16:creationId xmlns="" xmlns:a16="http://schemas.microsoft.com/office/drawing/2014/main" id="{41B93BFD-7F84-04B0-F641-5E7FDF83CE62}"/>
              </a:ext>
            </a:extLst>
          </p:cNvPr>
          <p:cNvSpPr>
            <a:spLocks noGrp="1" noChangeArrowheads="1"/>
          </p:cNvSpPr>
          <p:nvPr>
            <p:ph type="title"/>
          </p:nvPr>
        </p:nvSpPr>
        <p:spPr/>
        <p:txBody>
          <a:bodyPr/>
          <a:lstStyle/>
          <a:p>
            <a:r>
              <a:rPr lang="en-US" altLang="en-US"/>
              <a:t>Law Enforcement Involvement</a:t>
            </a:r>
          </a:p>
        </p:txBody>
      </p:sp>
      <p:sp>
        <p:nvSpPr>
          <p:cNvPr id="129027" name="Rectangle 5">
            <a:extLst>
              <a:ext uri="{FF2B5EF4-FFF2-40B4-BE49-F238E27FC236}">
                <a16:creationId xmlns="" xmlns:a16="http://schemas.microsoft.com/office/drawing/2014/main" id="{7287608D-823D-9352-C498-013BDC97A81A}"/>
              </a:ext>
            </a:extLst>
          </p:cNvPr>
          <p:cNvSpPr>
            <a:spLocks noGrp="1" noChangeArrowheads="1"/>
          </p:cNvSpPr>
          <p:nvPr>
            <p:ph idx="1"/>
          </p:nvPr>
        </p:nvSpPr>
        <p:spPr/>
        <p:txBody>
          <a:bodyPr/>
          <a:lstStyle/>
          <a:p>
            <a:r>
              <a:rPr lang="en-US" altLang="en-US"/>
              <a:t>When incident at hand constitutes a violation of law, the organization may determine involving law enforcement is necessary.</a:t>
            </a:r>
          </a:p>
          <a:p>
            <a:r>
              <a:rPr lang="en-US" altLang="en-US"/>
              <a:t>Questions:</a:t>
            </a:r>
          </a:p>
          <a:p>
            <a:pPr lvl="1"/>
            <a:r>
              <a:rPr lang="en-US" altLang="en-US"/>
              <a:t>When should law enforcement get involved? </a:t>
            </a:r>
          </a:p>
          <a:p>
            <a:pPr lvl="1"/>
            <a:r>
              <a:rPr lang="en-US" altLang="en-US"/>
              <a:t>What level of law enforcement agency should be involved (local, state, federal)?  </a:t>
            </a:r>
          </a:p>
          <a:p>
            <a:pPr lvl="1"/>
            <a:r>
              <a:rPr lang="en-US" altLang="en-US"/>
              <a:t>What happens when law enforcement agency is involved? </a:t>
            </a:r>
          </a:p>
          <a:p>
            <a:r>
              <a:rPr lang="en-US" altLang="en-US"/>
              <a:t>Some questions are best answered by the legal department.</a:t>
            </a:r>
          </a:p>
        </p:txBody>
      </p:sp>
      <p:sp>
        <p:nvSpPr>
          <p:cNvPr id="129028" name="Footer Placeholder 4">
            <a:extLst>
              <a:ext uri="{FF2B5EF4-FFF2-40B4-BE49-F238E27FC236}">
                <a16:creationId xmlns="" xmlns:a16="http://schemas.microsoft.com/office/drawing/2014/main" id="{9C86BEF2-D355-91B2-9227-C5554821B08D}"/>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29029" name="Slide Number Placeholder 5">
            <a:extLst>
              <a:ext uri="{FF2B5EF4-FFF2-40B4-BE49-F238E27FC236}">
                <a16:creationId xmlns="" xmlns:a16="http://schemas.microsoft.com/office/drawing/2014/main" id="{7A16DA3E-11CE-4FE4-897C-AB79458A413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C262C3C0-DE95-4789-99D4-07EF45203C43}" type="slidenum">
              <a:rPr lang="en-US" altLang="en-US" sz="1400"/>
              <a:pPr>
                <a:spcBef>
                  <a:spcPct val="0"/>
                </a:spcBef>
                <a:buFontTx/>
                <a:buNone/>
              </a:pPr>
              <a:t>63</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1074" name="Rectangle 4">
            <a:extLst>
              <a:ext uri="{FF2B5EF4-FFF2-40B4-BE49-F238E27FC236}">
                <a16:creationId xmlns="" xmlns:a16="http://schemas.microsoft.com/office/drawing/2014/main" id="{3516DD79-198B-EBAC-70C4-5B5F20B8C829}"/>
              </a:ext>
            </a:extLst>
          </p:cNvPr>
          <p:cNvSpPr>
            <a:spLocks noGrp="1" noChangeArrowheads="1"/>
          </p:cNvSpPr>
          <p:nvPr>
            <p:ph type="title"/>
          </p:nvPr>
        </p:nvSpPr>
        <p:spPr/>
        <p:txBody>
          <a:bodyPr/>
          <a:lstStyle/>
          <a:p>
            <a:r>
              <a:rPr lang="en-US" altLang="en-US"/>
              <a:t>Benefits and Drawbacks of Law Enforcement Involvement</a:t>
            </a:r>
          </a:p>
        </p:txBody>
      </p:sp>
      <p:sp>
        <p:nvSpPr>
          <p:cNvPr id="131075" name="Rectangle 5">
            <a:extLst>
              <a:ext uri="{FF2B5EF4-FFF2-40B4-BE49-F238E27FC236}">
                <a16:creationId xmlns="" xmlns:a16="http://schemas.microsoft.com/office/drawing/2014/main" id="{6BE30F7D-0CD1-225D-3584-E2F2BB37CA72}"/>
              </a:ext>
            </a:extLst>
          </p:cNvPr>
          <p:cNvSpPr>
            <a:spLocks noGrp="1" noChangeArrowheads="1"/>
          </p:cNvSpPr>
          <p:nvPr>
            <p:ph idx="1"/>
          </p:nvPr>
        </p:nvSpPr>
        <p:spPr/>
        <p:txBody>
          <a:bodyPr/>
          <a:lstStyle/>
          <a:p>
            <a:r>
              <a:rPr lang="en-US" altLang="en-US"/>
              <a:t>Involving law enforcement agencies has advantages:</a:t>
            </a:r>
          </a:p>
          <a:p>
            <a:pPr lvl="1"/>
            <a:r>
              <a:rPr lang="en-US" altLang="en-US"/>
              <a:t>Agencies may be better equipped at processing evidence. </a:t>
            </a:r>
          </a:p>
          <a:p>
            <a:pPr lvl="1"/>
            <a:r>
              <a:rPr lang="en-US" altLang="en-US"/>
              <a:t>Organization may be less effective in extracting necessary information to legally convict suspected criminal.  </a:t>
            </a:r>
          </a:p>
          <a:p>
            <a:pPr lvl="1"/>
            <a:r>
              <a:rPr lang="en-US" altLang="en-US"/>
              <a:t>Law enforcement agencies are prepared to handle any necessary warrants and subpoenas.</a:t>
            </a:r>
          </a:p>
          <a:p>
            <a:pPr lvl="1"/>
            <a:r>
              <a:rPr lang="en-US" altLang="en-US"/>
              <a:t>Law enforcement is skilled at obtaining witness statements and other information collection.</a:t>
            </a:r>
          </a:p>
        </p:txBody>
      </p:sp>
      <p:sp>
        <p:nvSpPr>
          <p:cNvPr id="131076" name="Footer Placeholder 4">
            <a:extLst>
              <a:ext uri="{FF2B5EF4-FFF2-40B4-BE49-F238E27FC236}">
                <a16:creationId xmlns="" xmlns:a16="http://schemas.microsoft.com/office/drawing/2014/main" id="{32462B8D-6101-96B9-360B-93EBA87363DC}"/>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31077" name="Slide Number Placeholder 5">
            <a:extLst>
              <a:ext uri="{FF2B5EF4-FFF2-40B4-BE49-F238E27FC236}">
                <a16:creationId xmlns="" xmlns:a16="http://schemas.microsoft.com/office/drawing/2014/main" id="{E10F5B6B-71D9-457C-C1E8-CBC3A06A89E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82B3DD24-94AA-452B-98D6-7C8B128E9732}" type="slidenum">
              <a:rPr lang="en-US" altLang="en-US" sz="1400"/>
              <a:pPr>
                <a:spcBef>
                  <a:spcPct val="0"/>
                </a:spcBef>
                <a:buFontTx/>
                <a:buNone/>
              </a:pPr>
              <a:t>64</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3122" name="Rectangle 4">
            <a:extLst>
              <a:ext uri="{FF2B5EF4-FFF2-40B4-BE49-F238E27FC236}">
                <a16:creationId xmlns="" xmlns:a16="http://schemas.microsoft.com/office/drawing/2014/main" id="{2B72FF6A-5F9D-2B5C-C84B-31B6981C96E0}"/>
              </a:ext>
            </a:extLst>
          </p:cNvPr>
          <p:cNvSpPr>
            <a:spLocks noGrp="1" noChangeArrowheads="1"/>
          </p:cNvSpPr>
          <p:nvPr>
            <p:ph type="title"/>
          </p:nvPr>
        </p:nvSpPr>
        <p:spPr/>
        <p:txBody>
          <a:bodyPr/>
          <a:lstStyle/>
          <a:p>
            <a:r>
              <a:rPr lang="en-US" altLang="en-US"/>
              <a:t>Benefits and Drawbacks of Law Enforcement Involvement (cont’d)</a:t>
            </a:r>
          </a:p>
        </p:txBody>
      </p:sp>
      <p:sp>
        <p:nvSpPr>
          <p:cNvPr id="133123" name="Rectangle 5">
            <a:extLst>
              <a:ext uri="{FF2B5EF4-FFF2-40B4-BE49-F238E27FC236}">
                <a16:creationId xmlns="" xmlns:a16="http://schemas.microsoft.com/office/drawing/2014/main" id="{8A696614-DEE3-A0A1-1C7C-E2BA31EFEFE3}"/>
              </a:ext>
            </a:extLst>
          </p:cNvPr>
          <p:cNvSpPr>
            <a:spLocks noGrp="1" noChangeArrowheads="1"/>
          </p:cNvSpPr>
          <p:nvPr>
            <p:ph idx="1"/>
          </p:nvPr>
        </p:nvSpPr>
        <p:spPr/>
        <p:txBody>
          <a:bodyPr/>
          <a:lstStyle/>
          <a:p>
            <a:pPr>
              <a:lnSpc>
                <a:spcPct val="90000"/>
              </a:lnSpc>
            </a:pPr>
            <a:r>
              <a:rPr lang="en-US" altLang="en-US"/>
              <a:t>Involving law enforcement agencies has disadvantages:</a:t>
            </a:r>
          </a:p>
          <a:p>
            <a:pPr lvl="1">
              <a:lnSpc>
                <a:spcPct val="90000"/>
              </a:lnSpc>
            </a:pPr>
            <a:r>
              <a:rPr lang="en-US" altLang="en-US"/>
              <a:t>Once a law enforcement agency takes over the case, the organization cannot control the chain of events.  </a:t>
            </a:r>
          </a:p>
          <a:p>
            <a:pPr lvl="1">
              <a:lnSpc>
                <a:spcPct val="90000"/>
              </a:lnSpc>
            </a:pPr>
            <a:r>
              <a:rPr lang="en-US" altLang="en-US"/>
              <a:t>The organization may not hear about the case for weeks or months.  </a:t>
            </a:r>
          </a:p>
          <a:p>
            <a:pPr lvl="1">
              <a:lnSpc>
                <a:spcPct val="90000"/>
              </a:lnSpc>
            </a:pPr>
            <a:r>
              <a:rPr lang="en-US" altLang="en-US"/>
              <a:t>Equipment vital to the organization’s business may be tagged as evidence.</a:t>
            </a:r>
          </a:p>
          <a:p>
            <a:pPr lvl="1">
              <a:lnSpc>
                <a:spcPct val="90000"/>
              </a:lnSpc>
            </a:pPr>
            <a:r>
              <a:rPr lang="en-US" altLang="en-US"/>
              <a:t>If the organization detects a criminal act, it is legally obligated to involve appropriate law enforcement officials.</a:t>
            </a:r>
          </a:p>
        </p:txBody>
      </p:sp>
      <p:sp>
        <p:nvSpPr>
          <p:cNvPr id="133124" name="Footer Placeholder 4">
            <a:extLst>
              <a:ext uri="{FF2B5EF4-FFF2-40B4-BE49-F238E27FC236}">
                <a16:creationId xmlns="" xmlns:a16="http://schemas.microsoft.com/office/drawing/2014/main" id="{1C2986BE-2924-1EFD-28A4-06492923004A}"/>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33125" name="Slide Number Placeholder 5">
            <a:extLst>
              <a:ext uri="{FF2B5EF4-FFF2-40B4-BE49-F238E27FC236}">
                <a16:creationId xmlns="" xmlns:a16="http://schemas.microsoft.com/office/drawing/2014/main" id="{13ACFABF-8E38-394D-14F4-0826F3CEA65A}"/>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483B29A4-17B3-4A8F-8B10-C1C5FF0C87BA}" type="slidenum">
              <a:rPr lang="en-US" altLang="en-US" sz="1400"/>
              <a:pPr>
                <a:spcBef>
                  <a:spcPct val="0"/>
                </a:spcBef>
                <a:buFontTx/>
                <a:buNone/>
              </a:pPr>
              <a:t>65</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5170" name="Rectangle 4">
            <a:extLst>
              <a:ext uri="{FF2B5EF4-FFF2-40B4-BE49-F238E27FC236}">
                <a16:creationId xmlns="" xmlns:a16="http://schemas.microsoft.com/office/drawing/2014/main" id="{A875B2A4-9047-FD66-6C74-A660DE5DACE8}"/>
              </a:ext>
            </a:extLst>
          </p:cNvPr>
          <p:cNvSpPr>
            <a:spLocks noGrp="1" noChangeArrowheads="1"/>
          </p:cNvSpPr>
          <p:nvPr>
            <p:ph type="title"/>
          </p:nvPr>
        </p:nvSpPr>
        <p:spPr/>
        <p:txBody>
          <a:bodyPr/>
          <a:lstStyle/>
          <a:p>
            <a:r>
              <a:rPr lang="en-US" altLang="en-US"/>
              <a:t>Summary</a:t>
            </a:r>
          </a:p>
        </p:txBody>
      </p:sp>
      <p:sp>
        <p:nvSpPr>
          <p:cNvPr id="135171" name="Rectangle 5">
            <a:extLst>
              <a:ext uri="{FF2B5EF4-FFF2-40B4-BE49-F238E27FC236}">
                <a16:creationId xmlns="" xmlns:a16="http://schemas.microsoft.com/office/drawing/2014/main" id="{04224AE8-6BE0-61C8-B05C-EAFC32F7369A}"/>
              </a:ext>
            </a:extLst>
          </p:cNvPr>
          <p:cNvSpPr>
            <a:spLocks noGrp="1" noChangeArrowheads="1"/>
          </p:cNvSpPr>
          <p:nvPr>
            <p:ph idx="1"/>
          </p:nvPr>
        </p:nvSpPr>
        <p:spPr/>
        <p:txBody>
          <a:bodyPr/>
          <a:lstStyle/>
          <a:p>
            <a:r>
              <a:rPr lang="en-US" altLang="en-US"/>
              <a:t>Management has an essential role in the development, maintenance, and enforcement of information security policy, standards, practices, procedures, and guidelines.</a:t>
            </a:r>
          </a:p>
          <a:p>
            <a:r>
              <a:rPr lang="en-US" altLang="en-US"/>
              <a:t>Information security blueprint is planning the document that is the basis for design, selection, and implementation of all security policies, education and training programs, and technological controls.</a:t>
            </a:r>
          </a:p>
        </p:txBody>
      </p:sp>
      <p:sp>
        <p:nvSpPr>
          <p:cNvPr id="135172" name="Footer Placeholder 4">
            <a:extLst>
              <a:ext uri="{FF2B5EF4-FFF2-40B4-BE49-F238E27FC236}">
                <a16:creationId xmlns="" xmlns:a16="http://schemas.microsoft.com/office/drawing/2014/main" id="{5615F41F-B28D-8117-7EB6-AFA42984F936}"/>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35173" name="Slide Number Placeholder 5">
            <a:extLst>
              <a:ext uri="{FF2B5EF4-FFF2-40B4-BE49-F238E27FC236}">
                <a16:creationId xmlns="" xmlns:a16="http://schemas.microsoft.com/office/drawing/2014/main" id="{FF22205D-2D43-CDC7-7E80-0530CDB45486}"/>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F31650A0-3BCF-4BAD-99CF-ED301073C4B6}" type="slidenum">
              <a:rPr lang="en-US" altLang="en-US" sz="1400"/>
              <a:pPr>
                <a:spcBef>
                  <a:spcPct val="0"/>
                </a:spcBef>
                <a:buFontTx/>
                <a:buNone/>
              </a:pPr>
              <a:t>66</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137218" name="Rectangle 2">
            <a:extLst>
              <a:ext uri="{FF2B5EF4-FFF2-40B4-BE49-F238E27FC236}">
                <a16:creationId xmlns="" xmlns:a16="http://schemas.microsoft.com/office/drawing/2014/main" id="{0F16AEF4-57D0-859B-39E6-EFAD938DE4F9}"/>
              </a:ext>
            </a:extLst>
          </p:cNvPr>
          <p:cNvSpPr>
            <a:spLocks noGrp="1" noChangeArrowheads="1"/>
          </p:cNvSpPr>
          <p:nvPr>
            <p:ph type="title"/>
          </p:nvPr>
        </p:nvSpPr>
        <p:spPr/>
        <p:txBody>
          <a:bodyPr/>
          <a:lstStyle/>
          <a:p>
            <a:r>
              <a:rPr lang="en-US" altLang="en-US"/>
              <a:t>Summary (cont’d)</a:t>
            </a:r>
          </a:p>
        </p:txBody>
      </p:sp>
      <p:sp>
        <p:nvSpPr>
          <p:cNvPr id="137219" name="Rectangle 3">
            <a:extLst>
              <a:ext uri="{FF2B5EF4-FFF2-40B4-BE49-F238E27FC236}">
                <a16:creationId xmlns="" xmlns:a16="http://schemas.microsoft.com/office/drawing/2014/main" id="{F1F9D152-FD4C-7009-1CEB-A6B8359D46B8}"/>
              </a:ext>
            </a:extLst>
          </p:cNvPr>
          <p:cNvSpPr>
            <a:spLocks noGrp="1" noChangeArrowheads="1"/>
          </p:cNvSpPr>
          <p:nvPr>
            <p:ph idx="1"/>
          </p:nvPr>
        </p:nvSpPr>
        <p:spPr/>
        <p:txBody>
          <a:bodyPr/>
          <a:lstStyle/>
          <a:p>
            <a:r>
              <a:rPr lang="en-US" altLang="en-US"/>
              <a:t>Information security education, training, and awareness (SETA) is a control measure that reduces accidental security breaches and increases organizational resistance to many other forms of attack.</a:t>
            </a:r>
          </a:p>
          <a:p>
            <a:r>
              <a:rPr lang="en-US" altLang="en-US"/>
              <a:t>Contingency planning (CP) is made up of three components: incident response planning (IRP), disaster recovery planning (DRP), and business continuity planning (BCP).</a:t>
            </a:r>
          </a:p>
        </p:txBody>
      </p:sp>
      <p:sp>
        <p:nvSpPr>
          <p:cNvPr id="137220" name="Footer Placeholder 4">
            <a:extLst>
              <a:ext uri="{FF2B5EF4-FFF2-40B4-BE49-F238E27FC236}">
                <a16:creationId xmlns="" xmlns:a16="http://schemas.microsoft.com/office/drawing/2014/main" id="{79755D89-DDA8-A7A4-79C1-A09794A2C327}"/>
              </a:ext>
            </a:extLst>
          </p:cNvPr>
          <p:cNvSpPr>
            <a:spLocks noGrp="1"/>
          </p:cNvSpPr>
          <p:nvPr>
            <p:ph type="ftr" sz="quarter" idx="1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Principles of Information Security, Fifth Edition</a:t>
            </a:r>
          </a:p>
        </p:txBody>
      </p:sp>
      <p:sp>
        <p:nvSpPr>
          <p:cNvPr id="137221" name="Slide Number Placeholder 5">
            <a:extLst>
              <a:ext uri="{FF2B5EF4-FFF2-40B4-BE49-F238E27FC236}">
                <a16:creationId xmlns="" xmlns:a16="http://schemas.microsoft.com/office/drawing/2014/main" id="{812DAB0E-9CA5-110E-485F-A7F13E54AE61}"/>
              </a:ext>
            </a:extLst>
          </p:cNvPr>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defRPr>
            </a:lvl1pPr>
            <a:lvl2pPr marL="742950" indent="-285750">
              <a:spcBef>
                <a:spcPct val="20000"/>
              </a:spcBef>
              <a:buChar char="–"/>
              <a:defRPr sz="2400">
                <a:solidFill>
                  <a:srgbClr val="222222"/>
                </a:solidFill>
                <a:latin typeface="Arial" panose="020B0604020202020204" pitchFamily="34" charset="0"/>
              </a:defRPr>
            </a:lvl2pPr>
            <a:lvl3pPr marL="1143000" indent="-228600">
              <a:spcBef>
                <a:spcPct val="20000"/>
              </a:spcBef>
              <a:buChar char="•"/>
              <a:defRPr sz="2200">
                <a:solidFill>
                  <a:srgbClr val="222222"/>
                </a:solidFill>
                <a:latin typeface="Arial" panose="020B0604020202020204" pitchFamily="34" charset="0"/>
              </a:defRPr>
            </a:lvl3pPr>
            <a:lvl4pPr marL="1600200" indent="-228600">
              <a:spcBef>
                <a:spcPct val="20000"/>
              </a:spcBef>
              <a:buChar char="–"/>
              <a:defRPr sz="2200">
                <a:solidFill>
                  <a:srgbClr val="222222"/>
                </a:solidFill>
                <a:latin typeface="Arial" panose="020B0604020202020204" pitchFamily="34"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400"/>
              <a:t> </a:t>
            </a:r>
            <a:fld id="{307BFD03-7197-4A29-9969-CFE61361D7A0}" type="slidenum">
              <a:rPr lang="en-US" altLang="en-US" sz="1400"/>
              <a:pPr>
                <a:spcBef>
                  <a:spcPct val="0"/>
                </a:spcBef>
                <a:buFontTx/>
                <a:buNone/>
              </a:pPr>
              <a:t>67</a:t>
            </a:fld>
            <a:endParaRPr lang="en-US" altLang="en-US" sz="1400"/>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6216</TotalTime>
  <Words>7310</Words>
  <Application>Microsoft Office PowerPoint</Application>
  <PresentationFormat>Custom</PresentationFormat>
  <Paragraphs>844</Paragraphs>
  <Slides>67</Slides>
  <Notes>57</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Office Theme</vt:lpstr>
      <vt:lpstr>Planning for Security</vt:lpstr>
      <vt:lpstr>Learning Objectives</vt:lpstr>
      <vt:lpstr>Learning Objectives (cont’d)</vt:lpstr>
      <vt:lpstr>Introduction</vt:lpstr>
      <vt:lpstr>Information Security Planning and Governance</vt:lpstr>
      <vt:lpstr>Information Security Planning and Governance (cont’d)</vt:lpstr>
      <vt:lpstr>Slide 7</vt:lpstr>
      <vt:lpstr>Information Security Policy, Standards,  and Practices</vt:lpstr>
      <vt:lpstr>Policy as the Foundation for Planning</vt:lpstr>
      <vt:lpstr>Slide 10</vt:lpstr>
      <vt:lpstr>Enterprise Information Security Policy (EISP)</vt:lpstr>
      <vt:lpstr>Enterprise Information Security Policy (EISP) (cont’d)</vt:lpstr>
      <vt:lpstr>Slide 13</vt:lpstr>
      <vt:lpstr>Issue-Specific Security Policy (ISSP)</vt:lpstr>
      <vt:lpstr>Issue-Specific Security Policy (ISSP) (cont’d)</vt:lpstr>
      <vt:lpstr>Slide 16</vt:lpstr>
      <vt:lpstr>Systems-Specific Policy (SysSP)</vt:lpstr>
      <vt:lpstr>Policy Management</vt:lpstr>
      <vt:lpstr>The Information Security Blueprint</vt:lpstr>
      <vt:lpstr>The ISO 27000 Series</vt:lpstr>
      <vt:lpstr>Slide 21</vt:lpstr>
      <vt:lpstr>Slide 22</vt:lpstr>
      <vt:lpstr>NIST Security Models</vt:lpstr>
      <vt:lpstr>NIST Special Publication 800-14</vt:lpstr>
      <vt:lpstr>NIST Cybersecurity Framework</vt:lpstr>
      <vt:lpstr>NIST Cybersecurity Framework (cont’d)</vt:lpstr>
      <vt:lpstr>Other Sources of Security Frameworks</vt:lpstr>
      <vt:lpstr>Design of Security Architecture</vt:lpstr>
      <vt:lpstr>Slide 29</vt:lpstr>
      <vt:lpstr>Design of Security Architecture (cont’d)</vt:lpstr>
      <vt:lpstr>Slide 31</vt:lpstr>
      <vt:lpstr>Slide 32</vt:lpstr>
      <vt:lpstr>Security Education, Training, and Awareness Program</vt:lpstr>
      <vt:lpstr>Security Education</vt:lpstr>
      <vt:lpstr>Security Training</vt:lpstr>
      <vt:lpstr>Security Awareness</vt:lpstr>
      <vt:lpstr>Slide 37</vt:lpstr>
      <vt:lpstr>Continuity Strategies</vt:lpstr>
      <vt:lpstr>Slide 39</vt:lpstr>
      <vt:lpstr>Continuity Strategies (cont’d)</vt:lpstr>
      <vt:lpstr>Slide 41</vt:lpstr>
      <vt:lpstr>Contingency Planning (CP) Process</vt:lpstr>
      <vt:lpstr>Slide 43</vt:lpstr>
      <vt:lpstr>CP Policy</vt:lpstr>
      <vt:lpstr>Business Impact Analysis (BIA)</vt:lpstr>
      <vt:lpstr>Slide 46</vt:lpstr>
      <vt:lpstr>Incident Response Planning</vt:lpstr>
      <vt:lpstr>Incident Response Planning (cont’d)</vt:lpstr>
      <vt:lpstr>Incident Response Planning (cont’d)</vt:lpstr>
      <vt:lpstr>Incident Response Planning (cont’d)</vt:lpstr>
      <vt:lpstr>Incident Response Planning (cont’d)</vt:lpstr>
      <vt:lpstr>Incident Response Planning (cont’d)</vt:lpstr>
      <vt:lpstr>Incident Response Planning (cont’d)</vt:lpstr>
      <vt:lpstr>Incident Response Planning (cont’d)</vt:lpstr>
      <vt:lpstr>Disaster Recovery Planning</vt:lpstr>
      <vt:lpstr>Business Continuity Planning</vt:lpstr>
      <vt:lpstr>Business Continuity Planning (cont’d)</vt:lpstr>
      <vt:lpstr>Business Continuity Planning (cont’d)</vt:lpstr>
      <vt:lpstr>Crisis Management</vt:lpstr>
      <vt:lpstr>Crisis Management (cont’d)</vt:lpstr>
      <vt:lpstr>Crisis Management (cont’d)</vt:lpstr>
      <vt:lpstr>The Consolidated Contingency Plan</vt:lpstr>
      <vt:lpstr>Law Enforcement Involvement</vt:lpstr>
      <vt:lpstr>Benefits and Drawbacks of Law Enforcement Involvement</vt:lpstr>
      <vt:lpstr>Benefits and Drawbacks of Law Enforcement Involvement (cont’d)</vt:lpstr>
      <vt:lpstr>Summary</vt:lpstr>
      <vt:lpstr>Summary (cont’d)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Lee</dc:creator>
  <cp:lastModifiedBy>hp</cp:lastModifiedBy>
  <cp:revision>40</cp:revision>
  <dcterms:created xsi:type="dcterms:W3CDTF">2020-08-16T17:16:41Z</dcterms:created>
  <dcterms:modified xsi:type="dcterms:W3CDTF">2026-01-22T00:58:15Z</dcterms:modified>
</cp:coreProperties>
</file>